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business problem: knowledge is spread across policy documents, and users need answers with evidence rather than unsupported text. Explain that this is a working prototype and that enterprise production controls remain a separate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value proposition in three parts: multi-format ingestion, evidence-grounded answer generation, and a reviewable result. The prototype already demonstrates the end-to-end path; enterprise identity and document permissions still need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user journey rather than starting with code. Use the expense question because it yields a concrete answer and a source excerpt. Emphasize that the sample policy corpus is fictional and must not be represented as official corporate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establish scope. Most user-facing capabilities are implemented in the prototype. Production identity, permission-aware retrieval, semantic claim validation, and full monitoring are gaps—not claims of completed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Documents are extracted and chunked, vectors are stored in Chroma, and the agent graph retrieves evidence before synthesis. Both user interfaces call the same workflow. Logging, evaluation and human review cut across the flow. Explicitly point out the production controls marked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ingestion flow from raw file to indexed chunks. The live prototype can parse the listed formats and rebuild the index. OCR for image-only PDFs and permission-aware indexing/retrieval are not claimed as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standard RAG: embed the question, retrieve top-k matching passages, pass them to the LLM as context, and include source identifiers. The numeric retrieval score in the UI is not a calibrated probability of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graph sequence: Researcher retrieves, Analyst synthesizes, Validator checks that the citations exist and factual sentences have coverage. Failed checks can broaden the query and retry once. These checks are structural and do not prove semantic entailment. The missing annual leave question demonstrates abstention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Streamlit user journey, including the answer, citations, validation state and review controls. Then show the FastAPI docs at localhost port 8000; /health and /ask have already been tested. The UI feedback log and API feedback route are separate local-demo surfaces.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review is demonstrably working: the UI records approval or needs-review, comment, timestamp and trace ID. Explain that the local JSONL file provides demo audit history only. Before production, reviewer identity and permissions, document ACL filtering, secure hosting/secrets and safety tests are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exact evidence that has actually been collected: 8 automated tests passed; five evaluation cases reached expected-source hit and citation-check pass. Two manual end-to-end examples and human-review persistence were demonstrated. Be transparent that source-hit and syntax checks are not semantic truth guarantees; latency has varied significantly.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distinguishing prototype completion from production readiness. The next steps are a curated golden set, claim-level semantic evaluation, latency monitoring, and enterprise identity and permission enforcement. Ask for agreement on security and quality gates before onboarding real client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502920" y="6510528"/>
            <a:ext cx="11183112" cy="0"/>
          </a:xfrm>
          <a:prstGeom prst="line">
            <a:avLst/>
          </a:prstGeom>
          <a:noFill/>
          <a:ln w="8890">
            <a:solidFill>
              <a:srgbClr val="DDE5EE"/>
            </a:solidFill>
            <a:prstDash val="solid"/>
          </a:ln>
        </p:spPr>
      </p:sp>
      <p:sp>
        <p:nvSpPr>
          <p:cNvPr id="3" name="Text 1"/>
          <p:cNvSpPr/>
          <p:nvPr/>
        </p:nvSpPr>
        <p:spPr>
          <a:xfrm>
            <a:off x="530352" y="6565392"/>
            <a:ext cx="5120640" cy="146304"/>
          </a:xfrm>
          <a:prstGeom prst="rect">
            <a:avLst/>
          </a:prstGeom>
          <a:noFill/>
          <a:ln/>
        </p:spPr>
        <p:txBody>
          <a:bodyPr wrap="square" lIns="0" tIns="0" rIns="0" bIns="0" rtlCol="0" anchor="ctr"/>
          <a:lstStyle/>
          <a:p>
            <a:pPr indent="0" marL="0">
              <a:buNone/>
            </a:pPr>
            <a:r>
              <a:rPr lang="en-US" sz="750" spc="120" kern="0" dirty="0">
                <a:solidFill>
                  <a:srgbClr val="7C8999"/>
                </a:solidFill>
                <a:latin typeface="Aptos" pitchFamily="34" charset="0"/>
                <a:ea typeface="Aptos" pitchFamily="34" charset="-122"/>
                <a:cs typeface="Aptos" pitchFamily="34" charset="-120"/>
              </a:rPr>
              <a:t>ENTERPRISE KNOWLEDGE RESEARCH AGENT</a:t>
            </a:r>
            <a:endParaRPr lang="en-US" sz="750" dirty="0"/>
          </a:p>
        </p:txBody>
      </p:sp>
      <p:sp>
        <p:nvSpPr>
          <p:cNvPr id="4" name="Text 2"/>
          <p:cNvSpPr/>
          <p:nvPr/>
        </p:nvSpPr>
        <p:spPr>
          <a:xfrm>
            <a:off x="7772400" y="6565392"/>
            <a:ext cx="3886200" cy="146304"/>
          </a:xfrm>
          <a:prstGeom prst="rect">
            <a:avLst/>
          </a:prstGeom>
          <a:noFill/>
          <a:ln/>
        </p:spPr>
        <p:txBody>
          <a:bodyPr wrap="square" lIns="0" tIns="0" rIns="0" bIns="0" rtlCol="0" anchor="ctr"/>
          <a:lstStyle/>
          <a:p>
            <a:pPr algn="r" indent="0" marL="0">
              <a:buNone/>
            </a:pPr>
            <a:r>
              <a:rPr lang="en-US" sz="750" spc="100" kern="0" dirty="0">
                <a:solidFill>
                  <a:srgbClr val="7C8999"/>
                </a:solidFill>
                <a:latin typeface="Aptos" pitchFamily="34" charset="0"/>
                <a:ea typeface="Aptos" pitchFamily="34" charset="-122"/>
                <a:cs typeface="Aptos" pitchFamily="34" charset="-120"/>
              </a:rPr>
              <a:t>SOLUTION BLUEPRINT  /  OCT 2026</a:t>
            </a:r>
            <a:endParaRPr lang="en-US" sz="75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38160" y="502920"/>
            <a:ext cx="3200400" cy="3200400"/>
          </a:xfrm>
          <a:prstGeom prst="ellipse">
            <a:avLst/>
          </a:prstGeom>
          <a:solidFill>
            <a:srgbClr val="112541"/>
          </a:solidFill>
          <a:ln w="12700">
            <a:solidFill>
              <a:srgbClr val="1A3E5A"/>
            </a:solidFill>
            <a:prstDash val="solid"/>
          </a:ln>
        </p:spPr>
      </p:sp>
      <p:sp>
        <p:nvSpPr>
          <p:cNvPr id="3" name="Shape 1"/>
          <p:cNvSpPr/>
          <p:nvPr/>
        </p:nvSpPr>
        <p:spPr>
          <a:xfrm>
            <a:off x="8641080" y="1005840"/>
            <a:ext cx="2194560" cy="2194560"/>
          </a:xfrm>
          <a:prstGeom prst="ellipse">
            <a:avLst/>
          </a:prstGeom>
          <a:solidFill>
            <a:srgbClr val="132D49"/>
          </a:solidFill>
          <a:ln w="12700">
            <a:solidFill>
              <a:srgbClr val="2A516B"/>
            </a:solidFill>
            <a:prstDash val="solid"/>
          </a:ln>
        </p:spPr>
      </p:sp>
      <p:sp>
        <p:nvSpPr>
          <p:cNvPr id="4" name="Shape 2"/>
          <p:cNvSpPr/>
          <p:nvPr/>
        </p:nvSpPr>
        <p:spPr>
          <a:xfrm>
            <a:off x="9107424" y="1472184"/>
            <a:ext cx="1261872" cy="1261872"/>
          </a:xfrm>
          <a:prstGeom prst="ellipse">
            <a:avLst/>
          </a:prstGeom>
          <a:solidFill>
            <a:srgbClr val="173953"/>
          </a:solidFill>
          <a:ln w="12700">
            <a:solidFill>
              <a:srgbClr val="2C6B78"/>
            </a:solidFill>
            <a:prstDash val="solid"/>
          </a:ln>
        </p:spPr>
      </p:sp>
      <p:sp>
        <p:nvSpPr>
          <p:cNvPr id="5" name="Shape 3"/>
          <p:cNvSpPr/>
          <p:nvPr/>
        </p:nvSpPr>
        <p:spPr>
          <a:xfrm>
            <a:off x="7498080" y="1143000"/>
            <a:ext cx="1874520" cy="1828800"/>
          </a:xfrm>
          <a:prstGeom prst="line">
            <a:avLst/>
          </a:prstGeom>
          <a:noFill/>
          <a:ln w="15240">
            <a:solidFill>
              <a:srgbClr val="31506D"/>
            </a:solidFill>
            <a:prstDash val="solid"/>
          </a:ln>
        </p:spPr>
      </p:sp>
      <p:sp>
        <p:nvSpPr>
          <p:cNvPr id="6" name="Shape 4"/>
          <p:cNvSpPr/>
          <p:nvPr/>
        </p:nvSpPr>
        <p:spPr>
          <a:xfrm>
            <a:off x="9372600" y="2971800"/>
            <a:ext cx="1463040" cy="-2011680"/>
          </a:xfrm>
          <a:prstGeom prst="line">
            <a:avLst/>
          </a:prstGeom>
          <a:noFill/>
          <a:ln w="15240">
            <a:solidFill>
              <a:srgbClr val="31506D"/>
            </a:solidFill>
            <a:prstDash val="solid"/>
          </a:ln>
        </p:spPr>
      </p:sp>
      <p:sp>
        <p:nvSpPr>
          <p:cNvPr id="7" name="Shape 5"/>
          <p:cNvSpPr/>
          <p:nvPr/>
        </p:nvSpPr>
        <p:spPr>
          <a:xfrm>
            <a:off x="9372600" y="2971800"/>
            <a:ext cx="1783080" cy="-91440"/>
          </a:xfrm>
          <a:prstGeom prst="line">
            <a:avLst/>
          </a:prstGeom>
          <a:noFill/>
          <a:ln w="15240">
            <a:solidFill>
              <a:srgbClr val="31506D"/>
            </a:solidFill>
            <a:prstDash val="solid"/>
          </a:ln>
        </p:spPr>
      </p:sp>
      <p:sp>
        <p:nvSpPr>
          <p:cNvPr id="8" name="Shape 6"/>
          <p:cNvSpPr/>
          <p:nvPr/>
        </p:nvSpPr>
        <p:spPr>
          <a:xfrm>
            <a:off x="9372600" y="2971800"/>
            <a:ext cx="-1143000" cy="1051560"/>
          </a:xfrm>
          <a:prstGeom prst="line">
            <a:avLst/>
          </a:prstGeom>
          <a:noFill/>
          <a:ln w="15240">
            <a:solidFill>
              <a:srgbClr val="31506D"/>
            </a:solidFill>
            <a:prstDash val="solid"/>
          </a:ln>
        </p:spPr>
      </p:sp>
      <p:sp>
        <p:nvSpPr>
          <p:cNvPr id="9" name="Shape 7"/>
          <p:cNvSpPr/>
          <p:nvPr/>
        </p:nvSpPr>
        <p:spPr>
          <a:xfrm>
            <a:off x="9372600" y="2971800"/>
            <a:ext cx="1005840" cy="2011680"/>
          </a:xfrm>
          <a:prstGeom prst="line">
            <a:avLst/>
          </a:prstGeom>
          <a:noFill/>
          <a:ln w="15240">
            <a:solidFill>
              <a:srgbClr val="31506D"/>
            </a:solidFill>
            <a:prstDash val="solid"/>
          </a:ln>
        </p:spPr>
      </p:sp>
      <p:sp>
        <p:nvSpPr>
          <p:cNvPr id="10" name="Shape 8"/>
          <p:cNvSpPr/>
          <p:nvPr/>
        </p:nvSpPr>
        <p:spPr>
          <a:xfrm>
            <a:off x="9372600" y="2971800"/>
            <a:ext cx="-2011680" cy="2240280"/>
          </a:xfrm>
          <a:prstGeom prst="line">
            <a:avLst/>
          </a:prstGeom>
          <a:noFill/>
          <a:ln w="15240">
            <a:solidFill>
              <a:srgbClr val="31506D"/>
            </a:solidFill>
            <a:prstDash val="solid"/>
          </a:ln>
        </p:spPr>
      </p:sp>
      <p:sp>
        <p:nvSpPr>
          <p:cNvPr id="11" name="Shape 9"/>
          <p:cNvSpPr/>
          <p:nvPr/>
        </p:nvSpPr>
        <p:spPr>
          <a:xfrm>
            <a:off x="8229600" y="4023360"/>
            <a:ext cx="-868680" cy="1188720"/>
          </a:xfrm>
          <a:prstGeom prst="line">
            <a:avLst/>
          </a:prstGeom>
          <a:noFill/>
          <a:ln w="15240">
            <a:solidFill>
              <a:srgbClr val="31506D"/>
            </a:solidFill>
            <a:prstDash val="solid"/>
          </a:ln>
        </p:spPr>
      </p:sp>
      <p:sp>
        <p:nvSpPr>
          <p:cNvPr id="12" name="Shape 10"/>
          <p:cNvSpPr/>
          <p:nvPr/>
        </p:nvSpPr>
        <p:spPr>
          <a:xfrm>
            <a:off x="11155680" y="2880360"/>
            <a:ext cx="-777240" cy="2103120"/>
          </a:xfrm>
          <a:prstGeom prst="line">
            <a:avLst/>
          </a:prstGeom>
          <a:noFill/>
          <a:ln w="15240">
            <a:solidFill>
              <a:srgbClr val="31506D"/>
            </a:solidFill>
            <a:prstDash val="solid"/>
          </a:ln>
        </p:spPr>
      </p:sp>
      <p:sp>
        <p:nvSpPr>
          <p:cNvPr id="13" name="Shape 11"/>
          <p:cNvSpPr/>
          <p:nvPr/>
        </p:nvSpPr>
        <p:spPr>
          <a:xfrm>
            <a:off x="7415784" y="1060704"/>
            <a:ext cx="118872" cy="118872"/>
          </a:xfrm>
          <a:prstGeom prst="ellipse">
            <a:avLst/>
          </a:prstGeom>
          <a:solidFill>
            <a:srgbClr val="3ABFF8"/>
          </a:solidFill>
          <a:ln w="10160">
            <a:solidFill>
              <a:srgbClr val="3ABFF8"/>
            </a:solidFill>
            <a:prstDash val="solid"/>
          </a:ln>
        </p:spPr>
      </p:sp>
      <p:sp>
        <p:nvSpPr>
          <p:cNvPr id="14" name="Shape 12"/>
          <p:cNvSpPr/>
          <p:nvPr/>
        </p:nvSpPr>
        <p:spPr>
          <a:xfrm>
            <a:off x="10753344" y="877824"/>
            <a:ext cx="118872" cy="118872"/>
          </a:xfrm>
          <a:prstGeom prst="ellipse">
            <a:avLst/>
          </a:prstGeom>
          <a:solidFill>
            <a:srgbClr val="3ABFF8"/>
          </a:solidFill>
          <a:ln w="10160">
            <a:solidFill>
              <a:srgbClr val="3ABFF8"/>
            </a:solidFill>
            <a:prstDash val="solid"/>
          </a:ln>
        </p:spPr>
      </p:sp>
      <p:sp>
        <p:nvSpPr>
          <p:cNvPr id="15" name="Shape 13"/>
          <p:cNvSpPr/>
          <p:nvPr/>
        </p:nvSpPr>
        <p:spPr>
          <a:xfrm>
            <a:off x="11073384" y="2798064"/>
            <a:ext cx="118872" cy="118872"/>
          </a:xfrm>
          <a:prstGeom prst="ellipse">
            <a:avLst/>
          </a:prstGeom>
          <a:solidFill>
            <a:srgbClr val="3ABFF8"/>
          </a:solidFill>
          <a:ln w="10160">
            <a:solidFill>
              <a:srgbClr val="3ABFF8"/>
            </a:solidFill>
            <a:prstDash val="solid"/>
          </a:ln>
        </p:spPr>
      </p:sp>
      <p:sp>
        <p:nvSpPr>
          <p:cNvPr id="16" name="Shape 14"/>
          <p:cNvSpPr/>
          <p:nvPr/>
        </p:nvSpPr>
        <p:spPr>
          <a:xfrm>
            <a:off x="8147304" y="3941064"/>
            <a:ext cx="118872" cy="118872"/>
          </a:xfrm>
          <a:prstGeom prst="ellipse">
            <a:avLst/>
          </a:prstGeom>
          <a:solidFill>
            <a:srgbClr val="3ABFF8"/>
          </a:solidFill>
          <a:ln w="10160">
            <a:solidFill>
              <a:srgbClr val="3ABFF8"/>
            </a:solidFill>
            <a:prstDash val="solid"/>
          </a:ln>
        </p:spPr>
      </p:sp>
      <p:sp>
        <p:nvSpPr>
          <p:cNvPr id="17" name="Shape 15"/>
          <p:cNvSpPr/>
          <p:nvPr/>
        </p:nvSpPr>
        <p:spPr>
          <a:xfrm>
            <a:off x="10296144" y="4901184"/>
            <a:ext cx="118872" cy="118872"/>
          </a:xfrm>
          <a:prstGeom prst="ellipse">
            <a:avLst/>
          </a:prstGeom>
          <a:solidFill>
            <a:srgbClr val="3ABFF8"/>
          </a:solidFill>
          <a:ln w="10160">
            <a:solidFill>
              <a:srgbClr val="3ABFF8"/>
            </a:solidFill>
            <a:prstDash val="solid"/>
          </a:ln>
        </p:spPr>
      </p:sp>
      <p:sp>
        <p:nvSpPr>
          <p:cNvPr id="18" name="Shape 16"/>
          <p:cNvSpPr/>
          <p:nvPr/>
        </p:nvSpPr>
        <p:spPr>
          <a:xfrm>
            <a:off x="7278624" y="5129784"/>
            <a:ext cx="118872" cy="118872"/>
          </a:xfrm>
          <a:prstGeom prst="ellipse">
            <a:avLst/>
          </a:prstGeom>
          <a:solidFill>
            <a:srgbClr val="3ABFF8"/>
          </a:solidFill>
          <a:ln w="10160">
            <a:solidFill>
              <a:srgbClr val="3ABFF8"/>
            </a:solidFill>
            <a:prstDash val="solid"/>
          </a:ln>
        </p:spPr>
      </p:sp>
      <p:sp>
        <p:nvSpPr>
          <p:cNvPr id="19" name="Shape 17"/>
          <p:cNvSpPr/>
          <p:nvPr/>
        </p:nvSpPr>
        <p:spPr>
          <a:xfrm>
            <a:off x="9290304" y="2889504"/>
            <a:ext cx="182880" cy="182880"/>
          </a:xfrm>
          <a:prstGeom prst="ellipse">
            <a:avLst/>
          </a:prstGeom>
          <a:solidFill>
            <a:srgbClr val="05BFA8"/>
          </a:solidFill>
          <a:ln w="10160">
            <a:solidFill>
              <a:srgbClr val="05BFA8"/>
            </a:solidFill>
            <a:prstDash val="solid"/>
          </a:ln>
        </p:spPr>
      </p:sp>
      <p:sp>
        <p:nvSpPr>
          <p:cNvPr id="20" name="Shape 18"/>
          <p:cNvSpPr/>
          <p:nvPr/>
        </p:nvSpPr>
        <p:spPr>
          <a:xfrm>
            <a:off x="7909560" y="1965960"/>
            <a:ext cx="2788920" cy="1965960"/>
          </a:xfrm>
          <a:prstGeom prst="roundRect">
            <a:avLst>
              <a:gd name="adj" fmla="val 5581"/>
            </a:avLst>
          </a:prstGeom>
          <a:solidFill>
            <a:srgbClr val="152A44"/>
          </a:solidFill>
          <a:ln w="12700">
            <a:solidFill>
              <a:srgbClr val="35536C"/>
            </a:solidFill>
            <a:prstDash val="solid"/>
          </a:ln>
        </p:spPr>
      </p:sp>
      <p:sp>
        <p:nvSpPr>
          <p:cNvPr id="21" name="Text 19"/>
          <p:cNvSpPr/>
          <p:nvPr/>
        </p:nvSpPr>
        <p:spPr>
          <a:xfrm>
            <a:off x="8183880" y="2240280"/>
            <a:ext cx="109728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3ABFF8"/>
                </a:solidFill>
                <a:latin typeface="Aptos" pitchFamily="34" charset="0"/>
                <a:ea typeface="Aptos" pitchFamily="34" charset="-122"/>
                <a:cs typeface="Aptos" pitchFamily="34" charset="-120"/>
              </a:rPr>
              <a:t>RETRIEVE</a:t>
            </a:r>
            <a:endParaRPr lang="en-US" sz="900" dirty="0"/>
          </a:p>
        </p:txBody>
      </p:sp>
      <p:sp>
        <p:nvSpPr>
          <p:cNvPr id="22" name="Text 20"/>
          <p:cNvSpPr/>
          <p:nvPr/>
        </p:nvSpPr>
        <p:spPr>
          <a:xfrm>
            <a:off x="8183880" y="2697480"/>
            <a:ext cx="155448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FFFFFF"/>
                </a:solidFill>
                <a:latin typeface="Aptos" pitchFamily="34" charset="0"/>
                <a:ea typeface="Aptos" pitchFamily="34" charset="-122"/>
                <a:cs typeface="Aptos" pitchFamily="34" charset="-120"/>
              </a:rPr>
              <a:t>SYNTHESIZE</a:t>
            </a:r>
            <a:endParaRPr lang="en-US" sz="900" dirty="0"/>
          </a:p>
        </p:txBody>
      </p:sp>
      <p:sp>
        <p:nvSpPr>
          <p:cNvPr id="23" name="Text 21"/>
          <p:cNvSpPr/>
          <p:nvPr/>
        </p:nvSpPr>
        <p:spPr>
          <a:xfrm>
            <a:off x="8183880" y="3154680"/>
            <a:ext cx="128016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05BFA8"/>
                </a:solidFill>
                <a:latin typeface="Aptos" pitchFamily="34" charset="0"/>
                <a:ea typeface="Aptos" pitchFamily="34" charset="-122"/>
                <a:cs typeface="Aptos" pitchFamily="34" charset="-120"/>
              </a:rPr>
              <a:t>VALIDATE</a:t>
            </a:r>
            <a:endParaRPr lang="en-US" sz="900" dirty="0"/>
          </a:p>
        </p:txBody>
      </p:sp>
      <p:sp>
        <p:nvSpPr>
          <p:cNvPr id="24" name="Shape 22"/>
          <p:cNvSpPr/>
          <p:nvPr/>
        </p:nvSpPr>
        <p:spPr>
          <a:xfrm>
            <a:off x="9738360" y="2286000"/>
            <a:ext cx="502920" cy="0"/>
          </a:xfrm>
          <a:prstGeom prst="line">
            <a:avLst/>
          </a:prstGeom>
          <a:noFill/>
          <a:ln w="15240">
            <a:solidFill>
              <a:srgbClr val="52718C"/>
            </a:solidFill>
            <a:prstDash val="solid"/>
          </a:ln>
        </p:spPr>
      </p:sp>
      <p:sp>
        <p:nvSpPr>
          <p:cNvPr id="25" name="Shape 23"/>
          <p:cNvSpPr/>
          <p:nvPr/>
        </p:nvSpPr>
        <p:spPr>
          <a:xfrm>
            <a:off x="10287000" y="2249424"/>
            <a:ext cx="73152" cy="73152"/>
          </a:xfrm>
          <a:prstGeom prst="ellipse">
            <a:avLst/>
          </a:prstGeom>
          <a:solidFill>
            <a:srgbClr val="3ABFF8"/>
          </a:solidFill>
          <a:ln w="10160">
            <a:solidFill>
              <a:srgbClr val="3ABFF8"/>
            </a:solidFill>
            <a:prstDash val="solid"/>
          </a:ln>
        </p:spPr>
      </p:sp>
      <p:sp>
        <p:nvSpPr>
          <p:cNvPr id="26" name="Shape 24"/>
          <p:cNvSpPr/>
          <p:nvPr/>
        </p:nvSpPr>
        <p:spPr>
          <a:xfrm>
            <a:off x="9738360" y="2743200"/>
            <a:ext cx="502920" cy="0"/>
          </a:xfrm>
          <a:prstGeom prst="line">
            <a:avLst/>
          </a:prstGeom>
          <a:noFill/>
          <a:ln w="15240">
            <a:solidFill>
              <a:srgbClr val="52718C"/>
            </a:solidFill>
            <a:prstDash val="solid"/>
          </a:ln>
        </p:spPr>
      </p:sp>
      <p:sp>
        <p:nvSpPr>
          <p:cNvPr id="27" name="Shape 25"/>
          <p:cNvSpPr/>
          <p:nvPr/>
        </p:nvSpPr>
        <p:spPr>
          <a:xfrm>
            <a:off x="10287000" y="2706624"/>
            <a:ext cx="73152" cy="73152"/>
          </a:xfrm>
          <a:prstGeom prst="ellipse">
            <a:avLst/>
          </a:prstGeom>
          <a:solidFill>
            <a:srgbClr val="FFFFFF"/>
          </a:solidFill>
          <a:ln w="10160">
            <a:solidFill>
              <a:srgbClr val="FFFFFF"/>
            </a:solidFill>
            <a:prstDash val="solid"/>
          </a:ln>
        </p:spPr>
      </p:sp>
      <p:sp>
        <p:nvSpPr>
          <p:cNvPr id="28" name="Shape 26"/>
          <p:cNvSpPr/>
          <p:nvPr/>
        </p:nvSpPr>
        <p:spPr>
          <a:xfrm>
            <a:off x="9738360" y="3200400"/>
            <a:ext cx="502920" cy="0"/>
          </a:xfrm>
          <a:prstGeom prst="line">
            <a:avLst/>
          </a:prstGeom>
          <a:noFill/>
          <a:ln w="15240">
            <a:solidFill>
              <a:srgbClr val="52718C"/>
            </a:solidFill>
            <a:prstDash val="solid"/>
          </a:ln>
        </p:spPr>
      </p:sp>
      <p:sp>
        <p:nvSpPr>
          <p:cNvPr id="29" name="Shape 27"/>
          <p:cNvSpPr/>
          <p:nvPr/>
        </p:nvSpPr>
        <p:spPr>
          <a:xfrm>
            <a:off x="10287000" y="3163824"/>
            <a:ext cx="73152" cy="73152"/>
          </a:xfrm>
          <a:prstGeom prst="ellipse">
            <a:avLst/>
          </a:prstGeom>
          <a:solidFill>
            <a:srgbClr val="05BFA8"/>
          </a:solidFill>
          <a:ln w="10160">
            <a:solidFill>
              <a:srgbClr val="05BFA8"/>
            </a:solidFill>
            <a:prstDash val="solid"/>
          </a:ln>
        </p:spPr>
      </p:sp>
      <p:sp>
        <p:nvSpPr>
          <p:cNvPr id="30" name="Shape 28"/>
          <p:cNvSpPr/>
          <p:nvPr/>
        </p:nvSpPr>
        <p:spPr>
          <a:xfrm>
            <a:off x="640080" y="658368"/>
            <a:ext cx="1664208" cy="256032"/>
          </a:xfrm>
          <a:prstGeom prst="roundRect">
            <a:avLst>
              <a:gd name="adj" fmla="val 42857"/>
            </a:avLst>
          </a:prstGeom>
          <a:solidFill>
            <a:srgbClr val="123D45"/>
          </a:solidFill>
          <a:ln w="3810">
            <a:solidFill>
              <a:srgbClr val="123D45"/>
            </a:solidFill>
            <a:prstDash val="solid"/>
          </a:ln>
        </p:spPr>
      </p:sp>
      <p:sp>
        <p:nvSpPr>
          <p:cNvPr id="31" name="Text 29"/>
          <p:cNvSpPr/>
          <p:nvPr/>
        </p:nvSpPr>
        <p:spPr>
          <a:xfrm>
            <a:off x="694944" y="672084"/>
            <a:ext cx="155448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8BEADC"/>
                </a:solidFill>
                <a:latin typeface="Aptos" pitchFamily="34" charset="0"/>
                <a:ea typeface="Aptos" pitchFamily="34" charset="-122"/>
                <a:cs typeface="Aptos" pitchFamily="34" charset="-120"/>
              </a:rPr>
              <a:t>WORKING PROTOTYPE</a:t>
            </a:r>
            <a:endParaRPr lang="en-US" sz="850" dirty="0"/>
          </a:p>
        </p:txBody>
      </p:sp>
      <p:sp>
        <p:nvSpPr>
          <p:cNvPr id="32" name="Text 30"/>
          <p:cNvSpPr/>
          <p:nvPr/>
        </p:nvSpPr>
        <p:spPr>
          <a:xfrm>
            <a:off x="640080" y="1216152"/>
            <a:ext cx="6720840" cy="2057400"/>
          </a:xfrm>
          <a:prstGeom prst="rect">
            <a:avLst/>
          </a:prstGeom>
          <a:noFill/>
          <a:ln/>
        </p:spPr>
        <p:txBody>
          <a:bodyPr wrap="square" lIns="0" tIns="0" rIns="0" bIns="0" rtlCol="0" anchor="ctr">
            <a:normAutofit/>
          </a:bodyPr>
          <a:lstStyle/>
          <a:p>
            <a:pPr algn="l" indent="0" marL="0">
              <a:lnSpc>
                <a:spcPct val="105000"/>
              </a:lnSpc>
              <a:buNone/>
            </a:pPr>
            <a:r>
              <a:rPr lang="en-US" sz="3200" b="1" dirty="0">
                <a:solidFill>
                  <a:srgbClr val="FFFFFF"/>
                </a:solidFill>
                <a:latin typeface="Aptos Display" pitchFamily="34" charset="0"/>
                <a:ea typeface="Aptos Display" pitchFamily="34" charset="-122"/>
                <a:cs typeface="Aptos Display" pitchFamily="34" charset="-120"/>
              </a:rPr>
              <a:t>Enterprise</a:t>
            </a:r>
            <a:endParaRPr lang="en-US" sz="3200" dirty="0"/>
          </a:p>
          <a:p>
            <a:pPr algn="l" indent="0" marL="0">
              <a:lnSpc>
                <a:spcPct val="105000"/>
              </a:lnSpc>
              <a:buNone/>
            </a:pPr>
            <a:r>
              <a:rPr lang="en-US" sz="3200" b="1" dirty="0">
                <a:solidFill>
                  <a:srgbClr val="FFFFFF"/>
                </a:solidFill>
                <a:latin typeface="Aptos Display" pitchFamily="34" charset="0"/>
                <a:ea typeface="Aptos Display" pitchFamily="34" charset="-122"/>
                <a:cs typeface="Aptos Display" pitchFamily="34" charset="-120"/>
              </a:rPr>
              <a:t>Knowledge Research</a:t>
            </a:r>
            <a:endParaRPr lang="en-US" sz="3200" dirty="0"/>
          </a:p>
          <a:p>
            <a:pPr algn="l" indent="0" marL="0">
              <a:lnSpc>
                <a:spcPct val="105000"/>
              </a:lnSpc>
              <a:buNone/>
            </a:pPr>
            <a:r>
              <a:rPr lang="en-US" sz="3200" b="1" dirty="0">
                <a:solidFill>
                  <a:srgbClr val="FFFFFF"/>
                </a:solidFill>
                <a:latin typeface="Aptos Display" pitchFamily="34" charset="0"/>
                <a:ea typeface="Aptos Display" pitchFamily="34" charset="-122"/>
                <a:cs typeface="Aptos Display" pitchFamily="34" charset="-120"/>
              </a:rPr>
              <a:t>Agent</a:t>
            </a:r>
            <a:endParaRPr lang="en-US" sz="3200" dirty="0"/>
          </a:p>
        </p:txBody>
      </p:sp>
      <p:sp>
        <p:nvSpPr>
          <p:cNvPr id="33" name="Text 31"/>
          <p:cNvSpPr/>
          <p:nvPr/>
        </p:nvSpPr>
        <p:spPr>
          <a:xfrm>
            <a:off x="667512" y="3520440"/>
            <a:ext cx="6035040" cy="658368"/>
          </a:xfrm>
          <a:prstGeom prst="rect">
            <a:avLst/>
          </a:prstGeom>
          <a:noFill/>
          <a:ln/>
        </p:spPr>
        <p:txBody>
          <a:bodyPr wrap="square" lIns="0" tIns="0" rIns="0" bIns="0" rtlCol="0" anchor="t">
            <a:normAutofit/>
          </a:bodyPr>
          <a:lstStyle/>
          <a:p>
            <a:pPr algn="l" indent="0" marL="0">
              <a:buNone/>
            </a:pPr>
            <a:r>
              <a:rPr lang="en-US" sz="1700" dirty="0">
                <a:solidFill>
                  <a:srgbClr val="CDD9E8"/>
                </a:solidFill>
                <a:latin typeface="Aptos" pitchFamily="34" charset="0"/>
                <a:ea typeface="Aptos" pitchFamily="34" charset="-122"/>
                <a:cs typeface="Aptos" pitchFamily="34" charset="-120"/>
              </a:rPr>
              <a:t>From fragmented enterprise documents to traceable,</a:t>
            </a:r>
            <a:endParaRPr lang="en-US" sz="1700" dirty="0"/>
          </a:p>
          <a:p>
            <a:pPr algn="l" indent="0" marL="0">
              <a:buNone/>
            </a:pPr>
            <a:r>
              <a:rPr lang="en-US" sz="1700" dirty="0">
                <a:solidFill>
                  <a:srgbClr val="CDD9E8"/>
                </a:solidFill>
                <a:latin typeface="Aptos" pitchFamily="34" charset="0"/>
                <a:ea typeface="Aptos" pitchFamily="34" charset="-122"/>
                <a:cs typeface="Aptos" pitchFamily="34" charset="-120"/>
              </a:rPr>
              <a:t>reviewable answers.</a:t>
            </a:r>
            <a:endParaRPr lang="en-US" sz="1700" dirty="0"/>
          </a:p>
        </p:txBody>
      </p:sp>
      <p:sp>
        <p:nvSpPr>
          <p:cNvPr id="34" name="Shape 32"/>
          <p:cNvSpPr/>
          <p:nvPr/>
        </p:nvSpPr>
        <p:spPr>
          <a:xfrm>
            <a:off x="667512" y="4572000"/>
            <a:ext cx="3630168" cy="0"/>
          </a:xfrm>
          <a:prstGeom prst="line">
            <a:avLst/>
          </a:prstGeom>
          <a:noFill/>
          <a:ln w="30480">
            <a:solidFill>
              <a:srgbClr val="05BFA8"/>
            </a:solidFill>
            <a:prstDash val="solid"/>
          </a:ln>
        </p:spPr>
      </p:sp>
      <p:sp>
        <p:nvSpPr>
          <p:cNvPr id="35" name="Text 33"/>
          <p:cNvSpPr/>
          <p:nvPr/>
        </p:nvSpPr>
        <p:spPr>
          <a:xfrm>
            <a:off x="667512" y="4828032"/>
            <a:ext cx="6035040" cy="228600"/>
          </a:xfrm>
          <a:prstGeom prst="rect">
            <a:avLst/>
          </a:prstGeom>
          <a:noFill/>
          <a:ln/>
        </p:spPr>
        <p:txBody>
          <a:bodyPr wrap="square" lIns="0" tIns="0" rIns="0" bIns="0" rtlCol="0" anchor="ctr">
            <a:normAutofit/>
          </a:bodyPr>
          <a:lstStyle/>
          <a:p>
            <a:pPr algn="l" indent="0" marL="0">
              <a:buNone/>
            </a:pPr>
            <a:r>
              <a:rPr lang="en-US" sz="1000" b="1" spc="120" kern="0" dirty="0">
                <a:solidFill>
                  <a:srgbClr val="9BAEC5"/>
                </a:solidFill>
                <a:latin typeface="Aptos" pitchFamily="34" charset="0"/>
                <a:ea typeface="Aptos" pitchFamily="34" charset="-122"/>
                <a:cs typeface="Aptos" pitchFamily="34" charset="-120"/>
              </a:rPr>
              <a:t>USE CASE  /  SOLUTION ARCHITECTURE  /  VALIDATION</a:t>
            </a:r>
            <a:endParaRPr lang="en-US" sz="1000" dirty="0"/>
          </a:p>
        </p:txBody>
      </p:sp>
      <p:sp>
        <p:nvSpPr>
          <p:cNvPr id="36" name="Text 34"/>
          <p:cNvSpPr/>
          <p:nvPr/>
        </p:nvSpPr>
        <p:spPr>
          <a:xfrm>
            <a:off x="667512" y="5998464"/>
            <a:ext cx="5029200" cy="228600"/>
          </a:xfrm>
          <a:prstGeom prst="rect">
            <a:avLst/>
          </a:prstGeom>
          <a:noFill/>
          <a:ln/>
        </p:spPr>
        <p:txBody>
          <a:bodyPr wrap="square" lIns="0" tIns="0" rIns="0" bIns="0" rtlCol="0" anchor="ctr">
            <a:normAutofit/>
          </a:bodyPr>
          <a:lstStyle/>
          <a:p>
            <a:pPr algn="l" indent="0" marL="0">
              <a:buNone/>
            </a:pPr>
            <a:r>
              <a:rPr lang="en-US" sz="1000" dirty="0">
                <a:solidFill>
                  <a:srgbClr val="7F91A9"/>
                </a:solidFill>
                <a:latin typeface="Aptos" pitchFamily="34" charset="0"/>
                <a:ea typeface="Aptos" pitchFamily="34" charset="-122"/>
                <a:cs typeface="Aptos" pitchFamily="34" charset="-120"/>
              </a:rPr>
              <a:t>Solution Overview  •  October 2026</a:t>
            </a:r>
            <a:endParaRPr lang="en-US" sz="1000" dirty="0"/>
          </a:p>
        </p:txBody>
      </p:sp>
      <p:sp>
        <p:nvSpPr>
          <p:cNvPr id="37" name="Shape 35"/>
          <p:cNvSpPr/>
          <p:nvPr/>
        </p:nvSpPr>
        <p:spPr>
          <a:xfrm>
            <a:off x="502920" y="6492240"/>
            <a:ext cx="11183112" cy="0"/>
          </a:xfrm>
          <a:prstGeom prst="line">
            <a:avLst/>
          </a:prstGeom>
          <a:noFill/>
          <a:ln w="8890">
            <a:solidFill>
              <a:srgbClr val="26354C"/>
            </a:solidFill>
            <a:prstDash val="solid"/>
          </a:ln>
        </p:spPr>
      </p:sp>
      <p:sp>
        <p:nvSpPr>
          <p:cNvPr id="38" name="Text 36"/>
          <p:cNvSpPr/>
          <p:nvPr/>
        </p:nvSpPr>
        <p:spPr>
          <a:xfrm>
            <a:off x="548640" y="6556248"/>
            <a:ext cx="4754880" cy="137160"/>
          </a:xfrm>
          <a:prstGeom prst="rect">
            <a:avLst/>
          </a:prstGeom>
          <a:noFill/>
          <a:ln/>
        </p:spPr>
        <p:txBody>
          <a:bodyPr wrap="square" lIns="0" tIns="0" rIns="0" bIns="0" rtlCol="0" anchor="ctr">
            <a:normAutofit/>
          </a:bodyPr>
          <a:lstStyle/>
          <a:p>
            <a:pPr algn="l" indent="0" marL="0">
              <a:buNone/>
            </a:pPr>
            <a:r>
              <a:rPr lang="en-US" sz="750" spc="100" kern="0" dirty="0">
                <a:solidFill>
                  <a:srgbClr val="9AAAC0"/>
                </a:solidFill>
                <a:latin typeface="Aptos" pitchFamily="34" charset="0"/>
                <a:ea typeface="Aptos" pitchFamily="34" charset="-122"/>
                <a:cs typeface="Aptos" pitchFamily="34" charset="-120"/>
              </a:rPr>
              <a:t>ENTERPRISE KNOWLEDGE RESEARCH AGENT</a:t>
            </a:r>
            <a:endParaRPr lang="en-US" sz="750" dirty="0"/>
          </a:p>
        </p:txBody>
      </p:sp>
      <p:sp>
        <p:nvSpPr>
          <p:cNvPr id="39" name="Text 37"/>
          <p:cNvSpPr/>
          <p:nvPr/>
        </p:nvSpPr>
        <p:spPr>
          <a:xfrm>
            <a:off x="11064240" y="6547104"/>
            <a:ext cx="548640" cy="146304"/>
          </a:xfrm>
          <a:prstGeom prst="rect">
            <a:avLst/>
          </a:prstGeom>
          <a:noFill/>
          <a:ln/>
        </p:spPr>
        <p:txBody>
          <a:bodyPr wrap="square" lIns="0" tIns="0" rIns="0" bIns="0" rtlCol="0" anchor="ctr">
            <a:normAutofit/>
          </a:bodyPr>
          <a:lstStyle/>
          <a:p>
            <a:pPr algn="r" indent="0" marL="0">
              <a:buNone/>
            </a:pPr>
            <a:r>
              <a:rPr lang="en-US" sz="800" dirty="0">
                <a:solidFill>
                  <a:srgbClr val="9AAAC0"/>
                </a:solidFill>
                <a:latin typeface="Aptos" pitchFamily="34" charset="0"/>
                <a:ea typeface="Aptos" pitchFamily="34" charset="-122"/>
                <a:cs typeface="Aptos" pitchFamily="34" charset="-120"/>
              </a:rPr>
              <a:t>01 / 12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01 / EXECUTIVE SUMMARY</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Turn document search into an evidence-led answer</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A single workflow connects enterprise content, retrieval, LLM synthesis, validation and human review.</a:t>
            </a:r>
            <a:endParaRPr lang="en-US" sz="1100" dirty="0"/>
          </a:p>
        </p:txBody>
      </p:sp>
      <p:sp>
        <p:nvSpPr>
          <p:cNvPr id="5" name="Shape 3"/>
          <p:cNvSpPr/>
          <p:nvPr/>
        </p:nvSpPr>
        <p:spPr>
          <a:xfrm>
            <a:off x="566928" y="1645920"/>
            <a:ext cx="5212080" cy="3611880"/>
          </a:xfrm>
          <a:prstGeom prst="roundRect">
            <a:avLst>
              <a:gd name="adj" fmla="val 3038"/>
            </a:avLst>
          </a:prstGeom>
          <a:solidFill>
            <a:srgbClr val="0B1220"/>
          </a:solidFill>
          <a:ln w="6350">
            <a:solidFill>
              <a:srgbClr val="0B1220"/>
            </a:solidFill>
            <a:prstDash val="solid"/>
          </a:ln>
        </p:spPr>
      </p:sp>
      <p:sp>
        <p:nvSpPr>
          <p:cNvPr id="6" name="Text 4"/>
          <p:cNvSpPr/>
          <p:nvPr/>
        </p:nvSpPr>
        <p:spPr>
          <a:xfrm>
            <a:off x="868680" y="1920240"/>
            <a:ext cx="1828800" cy="228600"/>
          </a:xfrm>
          <a:prstGeom prst="rect">
            <a:avLst/>
          </a:prstGeom>
          <a:noFill/>
          <a:ln/>
        </p:spPr>
        <p:txBody>
          <a:bodyPr wrap="square" lIns="0" tIns="0" rIns="0" bIns="0" rtlCol="0" anchor="ctr">
            <a:normAutofit/>
          </a:bodyPr>
          <a:lstStyle/>
          <a:p>
            <a:pPr algn="l" indent="0" marL="0">
              <a:buNone/>
            </a:pPr>
            <a:r>
              <a:rPr lang="en-US" sz="1000" b="1" spc="130" kern="0" dirty="0">
                <a:solidFill>
                  <a:srgbClr val="3ABFF8"/>
                </a:solidFill>
                <a:latin typeface="Aptos" pitchFamily="34" charset="0"/>
                <a:ea typeface="Aptos" pitchFamily="34" charset="-122"/>
                <a:cs typeface="Aptos" pitchFamily="34" charset="-120"/>
              </a:rPr>
              <a:t>THE PROBLEM</a:t>
            </a:r>
            <a:endParaRPr lang="en-US" sz="1000" dirty="0"/>
          </a:p>
        </p:txBody>
      </p:sp>
      <p:sp>
        <p:nvSpPr>
          <p:cNvPr id="7" name="Text 5"/>
          <p:cNvSpPr/>
          <p:nvPr/>
        </p:nvSpPr>
        <p:spPr>
          <a:xfrm>
            <a:off x="868680" y="2304288"/>
            <a:ext cx="4434840" cy="841248"/>
          </a:xfrm>
          <a:prstGeom prst="rect">
            <a:avLst/>
          </a:prstGeom>
          <a:noFill/>
          <a:ln/>
        </p:spPr>
        <p:txBody>
          <a:bodyPr wrap="square" lIns="0" tIns="0" rIns="0" bIns="0" rtlCol="0" anchor="t">
            <a:normAutofit/>
          </a:bodyPr>
          <a:lstStyle/>
          <a:p>
            <a:pPr algn="l" indent="0" marL="0">
              <a:buNone/>
            </a:pPr>
            <a:r>
              <a:rPr lang="en-US" sz="2300" b="1" dirty="0">
                <a:solidFill>
                  <a:srgbClr val="FFFFFF"/>
                </a:solidFill>
                <a:latin typeface="Aptos Display" pitchFamily="34" charset="0"/>
                <a:ea typeface="Aptos Display" pitchFamily="34" charset="-122"/>
                <a:cs typeface="Aptos Display" pitchFamily="34" charset="-120"/>
              </a:rPr>
              <a:t>Knowledge is available—</a:t>
            </a:r>
            <a:endParaRPr lang="en-US" sz="2300" dirty="0"/>
          </a:p>
          <a:p>
            <a:pPr algn="l" indent="0" marL="0">
              <a:buNone/>
            </a:pPr>
            <a:r>
              <a:rPr lang="en-US" sz="2300" b="1" dirty="0">
                <a:solidFill>
                  <a:srgbClr val="FFFFFF"/>
                </a:solidFill>
                <a:latin typeface="Aptos Display" pitchFamily="34" charset="0"/>
                <a:ea typeface="Aptos Display" pitchFamily="34" charset="-122"/>
                <a:cs typeface="Aptos Display" pitchFamily="34" charset="-120"/>
              </a:rPr>
              <a:t>but hard to operationalize.</a:t>
            </a:r>
            <a:endParaRPr lang="en-US" sz="2300" dirty="0"/>
          </a:p>
        </p:txBody>
      </p:sp>
      <p:sp>
        <p:nvSpPr>
          <p:cNvPr id="8" name="Shape 6"/>
          <p:cNvSpPr/>
          <p:nvPr/>
        </p:nvSpPr>
        <p:spPr>
          <a:xfrm>
            <a:off x="896112" y="3502152"/>
            <a:ext cx="73152" cy="73152"/>
          </a:xfrm>
          <a:prstGeom prst="ellipse">
            <a:avLst/>
          </a:prstGeom>
          <a:solidFill>
            <a:srgbClr val="3ABFF8"/>
          </a:solidFill>
          <a:ln w="10160">
            <a:solidFill>
              <a:srgbClr val="3ABFF8"/>
            </a:solidFill>
            <a:prstDash val="solid"/>
          </a:ln>
        </p:spPr>
      </p:sp>
      <p:sp>
        <p:nvSpPr>
          <p:cNvPr id="9" name="Text 7"/>
          <p:cNvSpPr/>
          <p:nvPr/>
        </p:nvSpPr>
        <p:spPr>
          <a:xfrm>
            <a:off x="1069848" y="3429000"/>
            <a:ext cx="4215384" cy="329184"/>
          </a:xfrm>
          <a:prstGeom prst="rect">
            <a:avLst/>
          </a:prstGeom>
          <a:noFill/>
          <a:ln/>
        </p:spPr>
        <p:txBody>
          <a:bodyPr wrap="square" lIns="0" tIns="0" rIns="0" bIns="0" rtlCol="0" anchor="t">
            <a:normAutofit/>
          </a:bodyPr>
          <a:lstStyle/>
          <a:p>
            <a:pPr algn="l" indent="0" marL="0">
              <a:buNone/>
            </a:pPr>
            <a:r>
              <a:rPr lang="en-US" sz="1100" dirty="0">
                <a:solidFill>
                  <a:srgbClr val="D5DEEA"/>
                </a:solidFill>
                <a:latin typeface="Aptos" pitchFamily="34" charset="0"/>
                <a:ea typeface="Aptos" pitchFamily="34" charset="-122"/>
                <a:cs typeface="Aptos" pitchFamily="34" charset="-120"/>
              </a:rPr>
              <a:t>Rules are scattered across files and formats.</a:t>
            </a:r>
            <a:endParaRPr lang="en-US" sz="1100" dirty="0"/>
          </a:p>
        </p:txBody>
      </p:sp>
      <p:sp>
        <p:nvSpPr>
          <p:cNvPr id="10" name="Shape 8"/>
          <p:cNvSpPr/>
          <p:nvPr/>
        </p:nvSpPr>
        <p:spPr>
          <a:xfrm>
            <a:off x="896112" y="3959352"/>
            <a:ext cx="73152" cy="73152"/>
          </a:xfrm>
          <a:prstGeom prst="ellipse">
            <a:avLst/>
          </a:prstGeom>
          <a:solidFill>
            <a:srgbClr val="3ABFF8"/>
          </a:solidFill>
          <a:ln w="10160">
            <a:solidFill>
              <a:srgbClr val="3ABFF8"/>
            </a:solidFill>
            <a:prstDash val="solid"/>
          </a:ln>
        </p:spPr>
      </p:sp>
      <p:sp>
        <p:nvSpPr>
          <p:cNvPr id="11" name="Text 9"/>
          <p:cNvSpPr/>
          <p:nvPr/>
        </p:nvSpPr>
        <p:spPr>
          <a:xfrm>
            <a:off x="1069848" y="3886200"/>
            <a:ext cx="4215384" cy="329184"/>
          </a:xfrm>
          <a:prstGeom prst="rect">
            <a:avLst/>
          </a:prstGeom>
          <a:noFill/>
          <a:ln/>
        </p:spPr>
        <p:txBody>
          <a:bodyPr wrap="square" lIns="0" tIns="0" rIns="0" bIns="0" rtlCol="0" anchor="t">
            <a:normAutofit/>
          </a:bodyPr>
          <a:lstStyle/>
          <a:p>
            <a:pPr algn="l" indent="0" marL="0">
              <a:buNone/>
            </a:pPr>
            <a:r>
              <a:rPr lang="en-US" sz="1100" dirty="0">
                <a:solidFill>
                  <a:srgbClr val="D5DEEA"/>
                </a:solidFill>
                <a:latin typeface="Aptos" pitchFamily="34" charset="0"/>
                <a:ea typeface="Aptos" pitchFamily="34" charset="-122"/>
                <a:cs typeface="Aptos" pitchFamily="34" charset="-120"/>
              </a:rPr>
              <a:t>Manual search slows decisions and creates inconsistency.</a:t>
            </a:r>
            <a:endParaRPr lang="en-US" sz="1100" dirty="0"/>
          </a:p>
        </p:txBody>
      </p:sp>
      <p:sp>
        <p:nvSpPr>
          <p:cNvPr id="12" name="Shape 10"/>
          <p:cNvSpPr/>
          <p:nvPr/>
        </p:nvSpPr>
        <p:spPr>
          <a:xfrm>
            <a:off x="896112" y="4416552"/>
            <a:ext cx="73152" cy="73152"/>
          </a:xfrm>
          <a:prstGeom prst="ellipse">
            <a:avLst/>
          </a:prstGeom>
          <a:solidFill>
            <a:srgbClr val="3ABFF8"/>
          </a:solidFill>
          <a:ln w="10160">
            <a:solidFill>
              <a:srgbClr val="3ABFF8"/>
            </a:solidFill>
            <a:prstDash val="solid"/>
          </a:ln>
        </p:spPr>
      </p:sp>
      <p:sp>
        <p:nvSpPr>
          <p:cNvPr id="13" name="Text 11"/>
          <p:cNvSpPr/>
          <p:nvPr/>
        </p:nvSpPr>
        <p:spPr>
          <a:xfrm>
            <a:off x="1069848" y="4343400"/>
            <a:ext cx="4215384" cy="329184"/>
          </a:xfrm>
          <a:prstGeom prst="rect">
            <a:avLst/>
          </a:prstGeom>
          <a:noFill/>
          <a:ln/>
        </p:spPr>
        <p:txBody>
          <a:bodyPr wrap="square" lIns="0" tIns="0" rIns="0" bIns="0" rtlCol="0" anchor="t">
            <a:normAutofit/>
          </a:bodyPr>
          <a:lstStyle/>
          <a:p>
            <a:pPr algn="l" indent="0" marL="0">
              <a:buNone/>
            </a:pPr>
            <a:r>
              <a:rPr lang="en-US" sz="1100" dirty="0">
                <a:solidFill>
                  <a:srgbClr val="D5DEEA"/>
                </a:solidFill>
                <a:latin typeface="Aptos" pitchFamily="34" charset="0"/>
                <a:ea typeface="Aptos" pitchFamily="34" charset="-122"/>
                <a:cs typeface="Aptos" pitchFamily="34" charset="-120"/>
              </a:rPr>
              <a:t>Uncited AI answers are difficult to trust or audit.</a:t>
            </a:r>
            <a:endParaRPr lang="en-US" sz="1100" dirty="0"/>
          </a:p>
        </p:txBody>
      </p:sp>
      <p:sp>
        <p:nvSpPr>
          <p:cNvPr id="14" name="Shape 12"/>
          <p:cNvSpPr/>
          <p:nvPr/>
        </p:nvSpPr>
        <p:spPr>
          <a:xfrm>
            <a:off x="6035040" y="1645920"/>
            <a:ext cx="5577840" cy="3611880"/>
          </a:xfrm>
          <a:prstGeom prst="roundRect">
            <a:avLst>
              <a:gd name="adj" fmla="val 3038"/>
            </a:avLst>
          </a:prstGeom>
          <a:solidFill>
            <a:srgbClr val="FFFFFF"/>
          </a:solidFill>
          <a:ln w="10160">
            <a:solidFill>
              <a:srgbClr val="DEE6EF"/>
            </a:solidFill>
            <a:prstDash val="solid"/>
          </a:ln>
        </p:spPr>
      </p:sp>
      <p:sp>
        <p:nvSpPr>
          <p:cNvPr id="15" name="Text 13"/>
          <p:cNvSpPr/>
          <p:nvPr/>
        </p:nvSpPr>
        <p:spPr>
          <a:xfrm>
            <a:off x="6355080" y="1920240"/>
            <a:ext cx="1828800" cy="228600"/>
          </a:xfrm>
          <a:prstGeom prst="rect">
            <a:avLst/>
          </a:prstGeom>
          <a:noFill/>
          <a:ln/>
        </p:spPr>
        <p:txBody>
          <a:bodyPr wrap="square" lIns="0" tIns="0" rIns="0" bIns="0" rtlCol="0" anchor="ctr">
            <a:normAutofit/>
          </a:bodyPr>
          <a:lstStyle/>
          <a:p>
            <a:pPr algn="l" indent="0" marL="0">
              <a:buNone/>
            </a:pPr>
            <a:r>
              <a:rPr lang="en-US" sz="1000" b="1" spc="130" kern="0" dirty="0">
                <a:solidFill>
                  <a:srgbClr val="05BFA8"/>
                </a:solidFill>
                <a:latin typeface="Aptos" pitchFamily="34" charset="0"/>
                <a:ea typeface="Aptos" pitchFamily="34" charset="-122"/>
                <a:cs typeface="Aptos" pitchFamily="34" charset="-120"/>
              </a:rPr>
              <a:t>THE SOLUTION</a:t>
            </a:r>
            <a:endParaRPr lang="en-US" sz="1000" dirty="0"/>
          </a:p>
        </p:txBody>
      </p:sp>
      <p:sp>
        <p:nvSpPr>
          <p:cNvPr id="16" name="Text 14"/>
          <p:cNvSpPr/>
          <p:nvPr/>
        </p:nvSpPr>
        <p:spPr>
          <a:xfrm>
            <a:off x="6355080" y="2304288"/>
            <a:ext cx="4480560" cy="841248"/>
          </a:xfrm>
          <a:prstGeom prst="rect">
            <a:avLst/>
          </a:prstGeom>
          <a:noFill/>
          <a:ln/>
        </p:spPr>
        <p:txBody>
          <a:bodyPr wrap="square" lIns="0" tIns="0" rIns="0" bIns="0" rtlCol="0" anchor="t">
            <a:normAutofit/>
          </a:bodyPr>
          <a:lstStyle/>
          <a:p>
            <a:pPr algn="l" indent="0" marL="0">
              <a:buNone/>
            </a:pPr>
            <a:r>
              <a:rPr lang="en-US" sz="2300" b="1" dirty="0">
                <a:solidFill>
                  <a:srgbClr val="152238"/>
                </a:solidFill>
                <a:latin typeface="Aptos Display" pitchFamily="34" charset="0"/>
                <a:ea typeface="Aptos Display" pitchFamily="34" charset="-122"/>
                <a:cs typeface="Aptos Display" pitchFamily="34" charset="-120"/>
              </a:rPr>
              <a:t>Retrieve first.</a:t>
            </a:r>
            <a:endParaRPr lang="en-US" sz="2300" dirty="0"/>
          </a:p>
          <a:p>
            <a:pPr algn="l" indent="0" marL="0">
              <a:buNone/>
            </a:pPr>
            <a:r>
              <a:rPr lang="en-US" sz="2300" b="1" dirty="0">
                <a:solidFill>
                  <a:srgbClr val="152238"/>
                </a:solidFill>
                <a:latin typeface="Aptos Display" pitchFamily="34" charset="0"/>
                <a:ea typeface="Aptos Display" pitchFamily="34" charset="-122"/>
                <a:cs typeface="Aptos Display" pitchFamily="34" charset="-120"/>
              </a:rPr>
              <a:t>Answer with evidence.</a:t>
            </a:r>
            <a:endParaRPr lang="en-US" sz="2300" dirty="0"/>
          </a:p>
        </p:txBody>
      </p:sp>
      <p:sp>
        <p:nvSpPr>
          <p:cNvPr id="17" name="Shape 15"/>
          <p:cNvSpPr/>
          <p:nvPr/>
        </p:nvSpPr>
        <p:spPr>
          <a:xfrm>
            <a:off x="6382512" y="3502152"/>
            <a:ext cx="73152" cy="73152"/>
          </a:xfrm>
          <a:prstGeom prst="ellipse">
            <a:avLst/>
          </a:prstGeom>
          <a:solidFill>
            <a:srgbClr val="05BFA8"/>
          </a:solidFill>
          <a:ln w="10160">
            <a:solidFill>
              <a:srgbClr val="05BFA8"/>
            </a:solidFill>
            <a:prstDash val="solid"/>
          </a:ln>
        </p:spPr>
      </p:sp>
      <p:sp>
        <p:nvSpPr>
          <p:cNvPr id="18" name="Text 16"/>
          <p:cNvSpPr/>
          <p:nvPr/>
        </p:nvSpPr>
        <p:spPr>
          <a:xfrm>
            <a:off x="6556248" y="3429000"/>
            <a:ext cx="4581144" cy="329184"/>
          </a:xfrm>
          <a:prstGeom prst="rect">
            <a:avLst/>
          </a:prstGeom>
          <a:noFill/>
          <a:ln/>
        </p:spPr>
        <p:txBody>
          <a:bodyPr wrap="square" lIns="0" tIns="0" rIns="0" bIns="0" rtlCol="0" anchor="t">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Index documents and retrieve relevant passages.</a:t>
            </a:r>
            <a:endParaRPr lang="en-US" sz="1100" dirty="0"/>
          </a:p>
        </p:txBody>
      </p:sp>
      <p:sp>
        <p:nvSpPr>
          <p:cNvPr id="19" name="Shape 17"/>
          <p:cNvSpPr/>
          <p:nvPr/>
        </p:nvSpPr>
        <p:spPr>
          <a:xfrm>
            <a:off x="6382512" y="3959352"/>
            <a:ext cx="73152" cy="73152"/>
          </a:xfrm>
          <a:prstGeom prst="ellipse">
            <a:avLst/>
          </a:prstGeom>
          <a:solidFill>
            <a:srgbClr val="05BFA8"/>
          </a:solidFill>
          <a:ln w="10160">
            <a:solidFill>
              <a:srgbClr val="05BFA8"/>
            </a:solidFill>
            <a:prstDash val="solid"/>
          </a:ln>
        </p:spPr>
      </p:sp>
      <p:sp>
        <p:nvSpPr>
          <p:cNvPr id="20" name="Text 18"/>
          <p:cNvSpPr/>
          <p:nvPr/>
        </p:nvSpPr>
        <p:spPr>
          <a:xfrm>
            <a:off x="6556248" y="3886200"/>
            <a:ext cx="4581144" cy="329184"/>
          </a:xfrm>
          <a:prstGeom prst="rect">
            <a:avLst/>
          </a:prstGeom>
          <a:noFill/>
          <a:ln/>
        </p:spPr>
        <p:txBody>
          <a:bodyPr wrap="square" lIns="0" tIns="0" rIns="0" bIns="0" rtlCol="0" anchor="t">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Generate a concise response using retrieved context.</a:t>
            </a:r>
            <a:endParaRPr lang="en-US" sz="1100" dirty="0"/>
          </a:p>
        </p:txBody>
      </p:sp>
      <p:sp>
        <p:nvSpPr>
          <p:cNvPr id="21" name="Shape 19"/>
          <p:cNvSpPr/>
          <p:nvPr/>
        </p:nvSpPr>
        <p:spPr>
          <a:xfrm>
            <a:off x="6382512" y="4416552"/>
            <a:ext cx="73152" cy="73152"/>
          </a:xfrm>
          <a:prstGeom prst="ellipse">
            <a:avLst/>
          </a:prstGeom>
          <a:solidFill>
            <a:srgbClr val="05BFA8"/>
          </a:solidFill>
          <a:ln w="10160">
            <a:solidFill>
              <a:srgbClr val="05BFA8"/>
            </a:solidFill>
            <a:prstDash val="solid"/>
          </a:ln>
        </p:spPr>
      </p:sp>
      <p:sp>
        <p:nvSpPr>
          <p:cNvPr id="22" name="Text 20"/>
          <p:cNvSpPr/>
          <p:nvPr/>
        </p:nvSpPr>
        <p:spPr>
          <a:xfrm>
            <a:off x="6556248" y="4343400"/>
            <a:ext cx="4581144" cy="329184"/>
          </a:xfrm>
          <a:prstGeom prst="rect">
            <a:avLst/>
          </a:prstGeom>
          <a:noFill/>
          <a:ln/>
        </p:spPr>
        <p:txBody>
          <a:bodyPr wrap="square" lIns="0" tIns="0" rIns="0" bIns="0" rtlCol="0" anchor="t">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Validate citations; expose evidence and review status.</a:t>
            </a:r>
            <a:endParaRPr lang="en-US" sz="1100" dirty="0"/>
          </a:p>
        </p:txBody>
      </p:sp>
      <p:sp>
        <p:nvSpPr>
          <p:cNvPr id="23" name="Shape 21"/>
          <p:cNvSpPr/>
          <p:nvPr/>
        </p:nvSpPr>
        <p:spPr>
          <a:xfrm>
            <a:off x="594360" y="5468112"/>
            <a:ext cx="3566160" cy="658368"/>
          </a:xfrm>
          <a:prstGeom prst="roundRect">
            <a:avLst>
              <a:gd name="adj" fmla="val 16667"/>
            </a:avLst>
          </a:prstGeom>
          <a:solidFill>
            <a:srgbClr val="FFFFFF"/>
          </a:solidFill>
          <a:ln w="7620">
            <a:solidFill>
              <a:srgbClr val="DEE6EF"/>
            </a:solidFill>
            <a:prstDash val="solid"/>
          </a:ln>
        </p:spPr>
      </p:sp>
      <p:sp>
        <p:nvSpPr>
          <p:cNvPr id="24" name="Text 22"/>
          <p:cNvSpPr/>
          <p:nvPr/>
        </p:nvSpPr>
        <p:spPr>
          <a:xfrm>
            <a:off x="758952" y="5577840"/>
            <a:ext cx="1143000" cy="164592"/>
          </a:xfrm>
          <a:prstGeom prst="rect">
            <a:avLst/>
          </a:prstGeom>
          <a:noFill/>
          <a:ln/>
        </p:spPr>
        <p:txBody>
          <a:bodyPr wrap="square" lIns="0" tIns="0" rIns="0" bIns="0" rtlCol="0" anchor="ctr">
            <a:normAutofit/>
          </a:bodyPr>
          <a:lstStyle/>
          <a:p>
            <a:pPr algn="l" indent="0" marL="0">
              <a:buNone/>
            </a:pPr>
            <a:r>
              <a:rPr lang="en-US" sz="800" b="1" spc="70" kern="0" dirty="0">
                <a:solidFill>
                  <a:srgbClr val="05BFA8"/>
                </a:solidFill>
                <a:latin typeface="Aptos" pitchFamily="34" charset="0"/>
                <a:ea typeface="Aptos" pitchFamily="34" charset="-122"/>
                <a:cs typeface="Aptos" pitchFamily="34" charset="-120"/>
              </a:rPr>
              <a:t>MULTI-FORMAT</a:t>
            </a:r>
            <a:endParaRPr lang="en-US" sz="800" dirty="0"/>
          </a:p>
        </p:txBody>
      </p:sp>
      <p:sp>
        <p:nvSpPr>
          <p:cNvPr id="25" name="Text 23"/>
          <p:cNvSpPr/>
          <p:nvPr/>
        </p:nvSpPr>
        <p:spPr>
          <a:xfrm>
            <a:off x="1892808" y="5532120"/>
            <a:ext cx="2084832" cy="320040"/>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PDF · DOCX · PPTX · TXT · MD · CSV</a:t>
            </a:r>
            <a:endParaRPr lang="en-US" sz="900" dirty="0"/>
          </a:p>
        </p:txBody>
      </p:sp>
      <p:sp>
        <p:nvSpPr>
          <p:cNvPr id="26" name="Shape 24"/>
          <p:cNvSpPr/>
          <p:nvPr/>
        </p:nvSpPr>
        <p:spPr>
          <a:xfrm>
            <a:off x="4389120" y="5468112"/>
            <a:ext cx="3566160" cy="658368"/>
          </a:xfrm>
          <a:prstGeom prst="roundRect">
            <a:avLst>
              <a:gd name="adj" fmla="val 16667"/>
            </a:avLst>
          </a:prstGeom>
          <a:solidFill>
            <a:srgbClr val="FFFFFF"/>
          </a:solidFill>
          <a:ln w="7620">
            <a:solidFill>
              <a:srgbClr val="DEE6EF"/>
            </a:solidFill>
            <a:prstDash val="solid"/>
          </a:ln>
        </p:spPr>
      </p:sp>
      <p:sp>
        <p:nvSpPr>
          <p:cNvPr id="27" name="Text 25"/>
          <p:cNvSpPr/>
          <p:nvPr/>
        </p:nvSpPr>
        <p:spPr>
          <a:xfrm>
            <a:off x="4553712" y="5577840"/>
            <a:ext cx="1143000" cy="164592"/>
          </a:xfrm>
          <a:prstGeom prst="rect">
            <a:avLst/>
          </a:prstGeom>
          <a:noFill/>
          <a:ln/>
        </p:spPr>
        <p:txBody>
          <a:bodyPr wrap="square" lIns="0" tIns="0" rIns="0" bIns="0" rtlCol="0" anchor="ctr">
            <a:normAutofit/>
          </a:bodyPr>
          <a:lstStyle/>
          <a:p>
            <a:pPr algn="l" indent="0" marL="0">
              <a:buNone/>
            </a:pPr>
            <a:r>
              <a:rPr lang="en-US" sz="800" b="1" spc="70" kern="0" dirty="0">
                <a:solidFill>
                  <a:srgbClr val="05BFA8"/>
                </a:solidFill>
                <a:latin typeface="Aptos" pitchFamily="34" charset="0"/>
                <a:ea typeface="Aptos" pitchFamily="34" charset="-122"/>
                <a:cs typeface="Aptos" pitchFamily="34" charset="-120"/>
              </a:rPr>
              <a:t>TRACEABLE</a:t>
            </a:r>
            <a:endParaRPr lang="en-US" sz="800" dirty="0"/>
          </a:p>
        </p:txBody>
      </p:sp>
      <p:sp>
        <p:nvSpPr>
          <p:cNvPr id="28" name="Text 26"/>
          <p:cNvSpPr/>
          <p:nvPr/>
        </p:nvSpPr>
        <p:spPr>
          <a:xfrm>
            <a:off x="5687568" y="5532120"/>
            <a:ext cx="2084832" cy="320040"/>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Source IDs · excerpts · trace ID</a:t>
            </a:r>
            <a:endParaRPr lang="en-US" sz="900" dirty="0"/>
          </a:p>
        </p:txBody>
      </p:sp>
      <p:sp>
        <p:nvSpPr>
          <p:cNvPr id="29" name="Shape 27"/>
          <p:cNvSpPr/>
          <p:nvPr/>
        </p:nvSpPr>
        <p:spPr>
          <a:xfrm>
            <a:off x="8183880" y="5468112"/>
            <a:ext cx="3566160" cy="658368"/>
          </a:xfrm>
          <a:prstGeom prst="roundRect">
            <a:avLst>
              <a:gd name="adj" fmla="val 16667"/>
            </a:avLst>
          </a:prstGeom>
          <a:solidFill>
            <a:srgbClr val="FFFFFF"/>
          </a:solidFill>
          <a:ln w="7620">
            <a:solidFill>
              <a:srgbClr val="DEE6EF"/>
            </a:solidFill>
            <a:prstDash val="solid"/>
          </a:ln>
        </p:spPr>
      </p:sp>
      <p:sp>
        <p:nvSpPr>
          <p:cNvPr id="30" name="Text 28"/>
          <p:cNvSpPr/>
          <p:nvPr/>
        </p:nvSpPr>
        <p:spPr>
          <a:xfrm>
            <a:off x="8348472" y="5577840"/>
            <a:ext cx="1143000" cy="164592"/>
          </a:xfrm>
          <a:prstGeom prst="rect">
            <a:avLst/>
          </a:prstGeom>
          <a:noFill/>
          <a:ln/>
        </p:spPr>
        <p:txBody>
          <a:bodyPr wrap="square" lIns="0" tIns="0" rIns="0" bIns="0" rtlCol="0" anchor="ctr">
            <a:normAutofit/>
          </a:bodyPr>
          <a:lstStyle/>
          <a:p>
            <a:pPr algn="l" indent="0" marL="0">
              <a:buNone/>
            </a:pPr>
            <a:r>
              <a:rPr lang="en-US" sz="800" b="1" spc="70" kern="0" dirty="0">
                <a:solidFill>
                  <a:srgbClr val="05BFA8"/>
                </a:solidFill>
                <a:latin typeface="Aptos" pitchFamily="34" charset="0"/>
                <a:ea typeface="Aptos" pitchFamily="34" charset="-122"/>
                <a:cs typeface="Aptos" pitchFamily="34" charset="-120"/>
              </a:rPr>
              <a:t>HUMAN OVERSIGHT</a:t>
            </a:r>
            <a:endParaRPr lang="en-US" sz="800" dirty="0"/>
          </a:p>
        </p:txBody>
      </p:sp>
      <p:sp>
        <p:nvSpPr>
          <p:cNvPr id="31" name="Text 29"/>
          <p:cNvSpPr/>
          <p:nvPr/>
        </p:nvSpPr>
        <p:spPr>
          <a:xfrm>
            <a:off x="9482328" y="5532120"/>
            <a:ext cx="2084832" cy="320040"/>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Approve or request review</a:t>
            </a:r>
            <a:endParaRPr lang="en-US" sz="90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02 / USE CASE</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A knowledge assistant for policy and process questions</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Designed for employees and support teams who need fast, source-backed answers from internal documents.</a:t>
            </a:r>
            <a:endParaRPr lang="en-US" sz="1100" dirty="0"/>
          </a:p>
        </p:txBody>
      </p:sp>
      <p:sp>
        <p:nvSpPr>
          <p:cNvPr id="5" name="Text 3"/>
          <p:cNvSpPr/>
          <p:nvPr/>
        </p:nvSpPr>
        <p:spPr>
          <a:xfrm>
            <a:off x="603504" y="1664208"/>
            <a:ext cx="1828800" cy="201168"/>
          </a:xfrm>
          <a:prstGeom prst="rect">
            <a:avLst/>
          </a:prstGeom>
          <a:noFill/>
          <a:ln/>
        </p:spPr>
        <p:txBody>
          <a:bodyPr wrap="square" lIns="0" tIns="0" rIns="0" bIns="0" rtlCol="0" anchor="ctr">
            <a:normAutofit/>
          </a:bodyPr>
          <a:lstStyle/>
          <a:p>
            <a:pPr algn="l" indent="0" marL="0">
              <a:buNone/>
            </a:pPr>
            <a:r>
              <a:rPr lang="en-US" sz="900" b="1" spc="110" kern="0" dirty="0">
                <a:solidFill>
                  <a:srgbClr val="05BFA8"/>
                </a:solidFill>
                <a:latin typeface="Aptos" pitchFamily="34" charset="0"/>
                <a:ea typeface="Aptos" pitchFamily="34" charset="-122"/>
                <a:cs typeface="Aptos" pitchFamily="34" charset="-120"/>
              </a:rPr>
              <a:t>WHO USES IT</a:t>
            </a:r>
            <a:endParaRPr lang="en-US" sz="900" dirty="0"/>
          </a:p>
        </p:txBody>
      </p:sp>
      <p:sp>
        <p:nvSpPr>
          <p:cNvPr id="6" name="Shape 4"/>
          <p:cNvSpPr/>
          <p:nvPr/>
        </p:nvSpPr>
        <p:spPr>
          <a:xfrm>
            <a:off x="594360" y="1993392"/>
            <a:ext cx="3246120" cy="804672"/>
          </a:xfrm>
          <a:prstGeom prst="roundRect">
            <a:avLst>
              <a:gd name="adj" fmla="val 13636"/>
            </a:avLst>
          </a:prstGeom>
          <a:solidFill>
            <a:srgbClr val="FFFFFF"/>
          </a:solidFill>
          <a:ln w="8890">
            <a:solidFill>
              <a:srgbClr val="DEE6EF"/>
            </a:solidFill>
            <a:prstDash val="solid"/>
          </a:ln>
        </p:spPr>
      </p:sp>
      <p:sp>
        <p:nvSpPr>
          <p:cNvPr id="7" name="Shape 5"/>
          <p:cNvSpPr/>
          <p:nvPr/>
        </p:nvSpPr>
        <p:spPr>
          <a:xfrm>
            <a:off x="795528" y="2212848"/>
            <a:ext cx="329184" cy="329184"/>
          </a:xfrm>
          <a:prstGeom prst="ellipse">
            <a:avLst/>
          </a:prstGeom>
          <a:solidFill>
            <a:srgbClr val="3ABFF8"/>
          </a:solidFill>
          <a:ln w="10160">
            <a:solidFill>
              <a:srgbClr val="3ABFF8"/>
            </a:solidFill>
            <a:prstDash val="solid"/>
          </a:ln>
        </p:spPr>
      </p:sp>
      <p:sp>
        <p:nvSpPr>
          <p:cNvPr id="8" name="Text 6"/>
          <p:cNvSpPr/>
          <p:nvPr/>
        </p:nvSpPr>
        <p:spPr>
          <a:xfrm>
            <a:off x="795528" y="2212848"/>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1</a:t>
            </a:r>
            <a:endParaRPr lang="en-US" sz="1000" dirty="0"/>
          </a:p>
        </p:txBody>
      </p:sp>
      <p:sp>
        <p:nvSpPr>
          <p:cNvPr id="9" name="Text 7"/>
          <p:cNvSpPr/>
          <p:nvPr/>
        </p:nvSpPr>
        <p:spPr>
          <a:xfrm>
            <a:off x="1280160" y="2112264"/>
            <a:ext cx="219456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59697D"/>
                </a:solidFill>
                <a:latin typeface="Aptos" pitchFamily="34" charset="0"/>
                <a:ea typeface="Aptos" pitchFamily="34" charset="-122"/>
                <a:cs typeface="Aptos" pitchFamily="34" charset="-120"/>
              </a:rPr>
              <a:t>EMPLOYEE</a:t>
            </a:r>
            <a:endParaRPr lang="en-US" sz="900" dirty="0"/>
          </a:p>
        </p:txBody>
      </p:sp>
      <p:sp>
        <p:nvSpPr>
          <p:cNvPr id="10" name="Text 8"/>
          <p:cNvSpPr/>
          <p:nvPr/>
        </p:nvSpPr>
        <p:spPr>
          <a:xfrm>
            <a:off x="1280160" y="2359152"/>
            <a:ext cx="2331720" cy="228600"/>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“What expense limit applies?”</a:t>
            </a:r>
            <a:endParaRPr lang="en-US" sz="1000" dirty="0"/>
          </a:p>
        </p:txBody>
      </p:sp>
      <p:sp>
        <p:nvSpPr>
          <p:cNvPr id="11" name="Shape 9"/>
          <p:cNvSpPr/>
          <p:nvPr/>
        </p:nvSpPr>
        <p:spPr>
          <a:xfrm>
            <a:off x="594360" y="3017520"/>
            <a:ext cx="3246120" cy="804672"/>
          </a:xfrm>
          <a:prstGeom prst="roundRect">
            <a:avLst>
              <a:gd name="adj" fmla="val 13636"/>
            </a:avLst>
          </a:prstGeom>
          <a:solidFill>
            <a:srgbClr val="FFFFFF"/>
          </a:solidFill>
          <a:ln w="8890">
            <a:solidFill>
              <a:srgbClr val="DEE6EF"/>
            </a:solidFill>
            <a:prstDash val="solid"/>
          </a:ln>
        </p:spPr>
      </p:sp>
      <p:sp>
        <p:nvSpPr>
          <p:cNvPr id="12" name="Shape 10"/>
          <p:cNvSpPr/>
          <p:nvPr/>
        </p:nvSpPr>
        <p:spPr>
          <a:xfrm>
            <a:off x="795528" y="3236976"/>
            <a:ext cx="329184" cy="329184"/>
          </a:xfrm>
          <a:prstGeom prst="ellipse">
            <a:avLst/>
          </a:prstGeom>
          <a:solidFill>
            <a:srgbClr val="05BFA8"/>
          </a:solidFill>
          <a:ln w="10160">
            <a:solidFill>
              <a:srgbClr val="05BFA8"/>
            </a:solidFill>
            <a:prstDash val="solid"/>
          </a:ln>
        </p:spPr>
      </p:sp>
      <p:sp>
        <p:nvSpPr>
          <p:cNvPr id="13" name="Text 11"/>
          <p:cNvSpPr/>
          <p:nvPr/>
        </p:nvSpPr>
        <p:spPr>
          <a:xfrm>
            <a:off x="795528" y="3236976"/>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2</a:t>
            </a:r>
            <a:endParaRPr lang="en-US" sz="1000" dirty="0"/>
          </a:p>
        </p:txBody>
      </p:sp>
      <p:sp>
        <p:nvSpPr>
          <p:cNvPr id="14" name="Text 12"/>
          <p:cNvSpPr/>
          <p:nvPr/>
        </p:nvSpPr>
        <p:spPr>
          <a:xfrm>
            <a:off x="1280160" y="3136392"/>
            <a:ext cx="219456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59697D"/>
                </a:solidFill>
                <a:latin typeface="Aptos" pitchFamily="34" charset="0"/>
                <a:ea typeface="Aptos" pitchFamily="34" charset="-122"/>
                <a:cs typeface="Aptos" pitchFamily="34" charset="-120"/>
              </a:rPr>
              <a:t>MANAGER</a:t>
            </a:r>
            <a:endParaRPr lang="en-US" sz="900" dirty="0"/>
          </a:p>
        </p:txBody>
      </p:sp>
      <p:sp>
        <p:nvSpPr>
          <p:cNvPr id="15" name="Text 13"/>
          <p:cNvSpPr/>
          <p:nvPr/>
        </p:nvSpPr>
        <p:spPr>
          <a:xfrm>
            <a:off x="1280160" y="3383280"/>
            <a:ext cx="2331720" cy="228600"/>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“What approval is required?”</a:t>
            </a:r>
            <a:endParaRPr lang="en-US" sz="1000" dirty="0"/>
          </a:p>
        </p:txBody>
      </p:sp>
      <p:sp>
        <p:nvSpPr>
          <p:cNvPr id="16" name="Shape 14"/>
          <p:cNvSpPr/>
          <p:nvPr/>
        </p:nvSpPr>
        <p:spPr>
          <a:xfrm>
            <a:off x="594360" y="4041648"/>
            <a:ext cx="3246120" cy="804672"/>
          </a:xfrm>
          <a:prstGeom prst="roundRect">
            <a:avLst>
              <a:gd name="adj" fmla="val 13636"/>
            </a:avLst>
          </a:prstGeom>
          <a:solidFill>
            <a:srgbClr val="FFFFFF"/>
          </a:solidFill>
          <a:ln w="8890">
            <a:solidFill>
              <a:srgbClr val="DEE6EF"/>
            </a:solidFill>
            <a:prstDash val="solid"/>
          </a:ln>
        </p:spPr>
      </p:sp>
      <p:sp>
        <p:nvSpPr>
          <p:cNvPr id="17" name="Shape 15"/>
          <p:cNvSpPr/>
          <p:nvPr/>
        </p:nvSpPr>
        <p:spPr>
          <a:xfrm>
            <a:off x="795528" y="4261104"/>
            <a:ext cx="329184" cy="329184"/>
          </a:xfrm>
          <a:prstGeom prst="ellipse">
            <a:avLst/>
          </a:prstGeom>
          <a:solidFill>
            <a:srgbClr val="F4B942"/>
          </a:solidFill>
          <a:ln w="10160">
            <a:solidFill>
              <a:srgbClr val="F4B942"/>
            </a:solidFill>
            <a:prstDash val="solid"/>
          </a:ln>
        </p:spPr>
      </p:sp>
      <p:sp>
        <p:nvSpPr>
          <p:cNvPr id="18" name="Text 16"/>
          <p:cNvSpPr/>
          <p:nvPr/>
        </p:nvSpPr>
        <p:spPr>
          <a:xfrm>
            <a:off x="795528" y="4261104"/>
            <a:ext cx="329184" cy="31089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3</a:t>
            </a:r>
            <a:endParaRPr lang="en-US" sz="1000" dirty="0"/>
          </a:p>
        </p:txBody>
      </p:sp>
      <p:sp>
        <p:nvSpPr>
          <p:cNvPr id="19" name="Text 17"/>
          <p:cNvSpPr/>
          <p:nvPr/>
        </p:nvSpPr>
        <p:spPr>
          <a:xfrm>
            <a:off x="1280160" y="4160520"/>
            <a:ext cx="2194560" cy="182880"/>
          </a:xfrm>
          <a:prstGeom prst="rect">
            <a:avLst/>
          </a:prstGeom>
          <a:noFill/>
          <a:ln/>
        </p:spPr>
        <p:txBody>
          <a:bodyPr wrap="square" lIns="0" tIns="0" rIns="0" bIns="0" rtlCol="0" anchor="ctr">
            <a:normAutofit/>
          </a:bodyPr>
          <a:lstStyle/>
          <a:p>
            <a:pPr algn="l" indent="0" marL="0">
              <a:buNone/>
            </a:pPr>
            <a:r>
              <a:rPr lang="en-US" sz="900" b="1" spc="60" kern="0" dirty="0">
                <a:solidFill>
                  <a:srgbClr val="59697D"/>
                </a:solidFill>
                <a:latin typeface="Aptos" pitchFamily="34" charset="0"/>
                <a:ea typeface="Aptos" pitchFamily="34" charset="-122"/>
                <a:cs typeface="Aptos" pitchFamily="34" charset="-120"/>
              </a:rPr>
              <a:t>OPERATIONS / HR</a:t>
            </a:r>
            <a:endParaRPr lang="en-US" sz="900" dirty="0"/>
          </a:p>
        </p:txBody>
      </p:sp>
      <p:sp>
        <p:nvSpPr>
          <p:cNvPr id="20" name="Text 18"/>
          <p:cNvSpPr/>
          <p:nvPr/>
        </p:nvSpPr>
        <p:spPr>
          <a:xfrm>
            <a:off x="1280160" y="4407408"/>
            <a:ext cx="2331720" cy="228600"/>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“What is the procedure?”</a:t>
            </a:r>
            <a:endParaRPr lang="en-US" sz="1000" dirty="0"/>
          </a:p>
        </p:txBody>
      </p:sp>
      <p:sp>
        <p:nvSpPr>
          <p:cNvPr id="21" name="Text 19"/>
          <p:cNvSpPr/>
          <p:nvPr/>
        </p:nvSpPr>
        <p:spPr>
          <a:xfrm>
            <a:off x="4297680" y="1664208"/>
            <a:ext cx="2743200" cy="201168"/>
          </a:xfrm>
          <a:prstGeom prst="rect">
            <a:avLst/>
          </a:prstGeom>
          <a:noFill/>
          <a:ln/>
        </p:spPr>
        <p:txBody>
          <a:bodyPr wrap="square" lIns="0" tIns="0" rIns="0" bIns="0" rtlCol="0" anchor="ctr">
            <a:normAutofit/>
          </a:bodyPr>
          <a:lstStyle/>
          <a:p>
            <a:pPr algn="l" indent="0" marL="0">
              <a:buNone/>
            </a:pPr>
            <a:r>
              <a:rPr lang="en-US" sz="900" b="1" spc="110" kern="0" dirty="0">
                <a:solidFill>
                  <a:srgbClr val="05BFA8"/>
                </a:solidFill>
                <a:latin typeface="Aptos" pitchFamily="34" charset="0"/>
                <a:ea typeface="Aptos" pitchFamily="34" charset="-122"/>
                <a:cs typeface="Aptos" pitchFamily="34" charset="-120"/>
              </a:rPr>
              <a:t>END-TO-END USER JOURNEY</a:t>
            </a:r>
            <a:endParaRPr lang="en-US" sz="900" dirty="0"/>
          </a:p>
        </p:txBody>
      </p:sp>
      <p:sp>
        <p:nvSpPr>
          <p:cNvPr id="22" name="Shape 20"/>
          <p:cNvSpPr/>
          <p:nvPr/>
        </p:nvSpPr>
        <p:spPr>
          <a:xfrm>
            <a:off x="4297680" y="2084832"/>
            <a:ext cx="1572768" cy="2103120"/>
          </a:xfrm>
          <a:prstGeom prst="roundRect">
            <a:avLst>
              <a:gd name="adj" fmla="val 6977"/>
            </a:avLst>
          </a:prstGeom>
          <a:solidFill>
            <a:srgbClr val="FFFFFF"/>
          </a:solidFill>
          <a:ln w="10160">
            <a:solidFill>
              <a:srgbClr val="DEE6EF"/>
            </a:solidFill>
            <a:prstDash val="solid"/>
          </a:ln>
        </p:spPr>
      </p:sp>
      <p:sp>
        <p:nvSpPr>
          <p:cNvPr id="23" name="Shape 21"/>
          <p:cNvSpPr/>
          <p:nvPr/>
        </p:nvSpPr>
        <p:spPr>
          <a:xfrm>
            <a:off x="4480560" y="2304288"/>
            <a:ext cx="384048" cy="384048"/>
          </a:xfrm>
          <a:prstGeom prst="ellipse">
            <a:avLst/>
          </a:prstGeom>
          <a:solidFill>
            <a:srgbClr val="3ABFF8"/>
          </a:solidFill>
          <a:ln w="10160">
            <a:solidFill>
              <a:srgbClr val="3ABFF8"/>
            </a:solidFill>
            <a:prstDash val="solid"/>
          </a:ln>
        </p:spPr>
      </p:sp>
      <p:sp>
        <p:nvSpPr>
          <p:cNvPr id="24" name="Text 22"/>
          <p:cNvSpPr/>
          <p:nvPr/>
        </p:nvSpPr>
        <p:spPr>
          <a:xfrm>
            <a:off x="4480560" y="2313432"/>
            <a:ext cx="384048" cy="347472"/>
          </a:xfrm>
          <a:prstGeom prst="rect">
            <a:avLst/>
          </a:prstGeom>
          <a:noFill/>
          <a:ln/>
        </p:spPr>
        <p:txBody>
          <a:bodyPr wrap="square" lIns="0" tIns="0" rIns="0" bIns="0" rtlCol="0" anchor="ctr">
            <a:normAutofit/>
          </a:bodyPr>
          <a:lstStyle/>
          <a:p>
            <a:pPr algn="ctr" indent="0" marL="0">
              <a:buNone/>
            </a:pPr>
            <a:r>
              <a:rPr lang="en-US" sz="900" b="1" dirty="0">
                <a:solidFill>
                  <a:srgbClr val="0B1220"/>
                </a:solidFill>
                <a:latin typeface="Aptos" pitchFamily="34" charset="0"/>
                <a:ea typeface="Aptos" pitchFamily="34" charset="-122"/>
                <a:cs typeface="Aptos" pitchFamily="34" charset="-120"/>
              </a:rPr>
              <a:t>01</a:t>
            </a:r>
            <a:endParaRPr lang="en-US" sz="900" dirty="0"/>
          </a:p>
        </p:txBody>
      </p:sp>
      <p:sp>
        <p:nvSpPr>
          <p:cNvPr id="25" name="Text 23"/>
          <p:cNvSpPr/>
          <p:nvPr/>
        </p:nvSpPr>
        <p:spPr>
          <a:xfrm>
            <a:off x="4462272" y="2907792"/>
            <a:ext cx="1280160" cy="274320"/>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Ask</a:t>
            </a:r>
            <a:endParaRPr lang="en-US" sz="1400" dirty="0"/>
          </a:p>
        </p:txBody>
      </p:sp>
      <p:sp>
        <p:nvSpPr>
          <p:cNvPr id="26" name="Text 24"/>
          <p:cNvSpPr/>
          <p:nvPr/>
        </p:nvSpPr>
        <p:spPr>
          <a:xfrm>
            <a:off x="4462272" y="3310128"/>
            <a:ext cx="1261872" cy="603504"/>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Natural-language question</a:t>
            </a:r>
            <a:endParaRPr lang="en-US" sz="900" dirty="0"/>
          </a:p>
        </p:txBody>
      </p:sp>
      <p:sp>
        <p:nvSpPr>
          <p:cNvPr id="27" name="Shape 25"/>
          <p:cNvSpPr/>
          <p:nvPr/>
        </p:nvSpPr>
        <p:spPr>
          <a:xfrm>
            <a:off x="5879592" y="3108960"/>
            <a:ext cx="228600" cy="0"/>
          </a:xfrm>
          <a:prstGeom prst="line">
            <a:avLst/>
          </a:prstGeom>
          <a:noFill/>
          <a:ln w="19050">
            <a:solidFill>
              <a:srgbClr val="8DA1B7"/>
            </a:solidFill>
            <a:prstDash val="solid"/>
            <a:tailEnd type="triangle"/>
          </a:ln>
        </p:spPr>
      </p:sp>
      <p:sp>
        <p:nvSpPr>
          <p:cNvPr id="28" name="Shape 26"/>
          <p:cNvSpPr/>
          <p:nvPr/>
        </p:nvSpPr>
        <p:spPr>
          <a:xfrm>
            <a:off x="6144768" y="2084832"/>
            <a:ext cx="1572768" cy="2103120"/>
          </a:xfrm>
          <a:prstGeom prst="roundRect">
            <a:avLst>
              <a:gd name="adj" fmla="val 6977"/>
            </a:avLst>
          </a:prstGeom>
          <a:solidFill>
            <a:srgbClr val="FFFFFF"/>
          </a:solidFill>
          <a:ln w="10160">
            <a:solidFill>
              <a:srgbClr val="DEE6EF"/>
            </a:solidFill>
            <a:prstDash val="solid"/>
          </a:ln>
        </p:spPr>
      </p:sp>
      <p:sp>
        <p:nvSpPr>
          <p:cNvPr id="29" name="Shape 27"/>
          <p:cNvSpPr/>
          <p:nvPr/>
        </p:nvSpPr>
        <p:spPr>
          <a:xfrm>
            <a:off x="6327648" y="2304288"/>
            <a:ext cx="384048" cy="384048"/>
          </a:xfrm>
          <a:prstGeom prst="ellipse">
            <a:avLst/>
          </a:prstGeom>
          <a:solidFill>
            <a:srgbClr val="05BFA8"/>
          </a:solidFill>
          <a:ln w="10160">
            <a:solidFill>
              <a:srgbClr val="05BFA8"/>
            </a:solidFill>
            <a:prstDash val="solid"/>
          </a:ln>
        </p:spPr>
      </p:sp>
      <p:sp>
        <p:nvSpPr>
          <p:cNvPr id="30" name="Text 28"/>
          <p:cNvSpPr/>
          <p:nvPr/>
        </p:nvSpPr>
        <p:spPr>
          <a:xfrm>
            <a:off x="6327648" y="2313432"/>
            <a:ext cx="384048" cy="347472"/>
          </a:xfrm>
          <a:prstGeom prst="rect">
            <a:avLst/>
          </a:prstGeom>
          <a:noFill/>
          <a:ln/>
        </p:spPr>
        <p:txBody>
          <a:bodyPr wrap="square" lIns="0" tIns="0" rIns="0" bIns="0" rtlCol="0" anchor="ctr">
            <a:normAutofit/>
          </a:bodyPr>
          <a:lstStyle/>
          <a:p>
            <a:pPr algn="ctr" indent="0" marL="0">
              <a:buNone/>
            </a:pPr>
            <a:r>
              <a:rPr lang="en-US" sz="900" b="1" dirty="0">
                <a:solidFill>
                  <a:srgbClr val="0B1220"/>
                </a:solidFill>
                <a:latin typeface="Aptos" pitchFamily="34" charset="0"/>
                <a:ea typeface="Aptos" pitchFamily="34" charset="-122"/>
                <a:cs typeface="Aptos" pitchFamily="34" charset="-120"/>
              </a:rPr>
              <a:t>02</a:t>
            </a:r>
            <a:endParaRPr lang="en-US" sz="900" dirty="0"/>
          </a:p>
        </p:txBody>
      </p:sp>
      <p:sp>
        <p:nvSpPr>
          <p:cNvPr id="31" name="Text 29"/>
          <p:cNvSpPr/>
          <p:nvPr/>
        </p:nvSpPr>
        <p:spPr>
          <a:xfrm>
            <a:off x="6309360" y="2907792"/>
            <a:ext cx="1280160" cy="274320"/>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Retrieve</a:t>
            </a:r>
            <a:endParaRPr lang="en-US" sz="1400" dirty="0"/>
          </a:p>
        </p:txBody>
      </p:sp>
      <p:sp>
        <p:nvSpPr>
          <p:cNvPr id="32" name="Text 30"/>
          <p:cNvSpPr/>
          <p:nvPr/>
        </p:nvSpPr>
        <p:spPr>
          <a:xfrm>
            <a:off x="6309360" y="3310128"/>
            <a:ext cx="1261872" cy="603504"/>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Relevant passages + source IDs</a:t>
            </a:r>
            <a:endParaRPr lang="en-US" sz="900" dirty="0"/>
          </a:p>
        </p:txBody>
      </p:sp>
      <p:sp>
        <p:nvSpPr>
          <p:cNvPr id="33" name="Shape 31"/>
          <p:cNvSpPr/>
          <p:nvPr/>
        </p:nvSpPr>
        <p:spPr>
          <a:xfrm>
            <a:off x="7726680" y="3108960"/>
            <a:ext cx="228600" cy="0"/>
          </a:xfrm>
          <a:prstGeom prst="line">
            <a:avLst/>
          </a:prstGeom>
          <a:noFill/>
          <a:ln w="19050">
            <a:solidFill>
              <a:srgbClr val="8DA1B7"/>
            </a:solidFill>
            <a:prstDash val="solid"/>
            <a:tailEnd type="triangle"/>
          </a:ln>
        </p:spPr>
      </p:sp>
      <p:sp>
        <p:nvSpPr>
          <p:cNvPr id="34" name="Shape 32"/>
          <p:cNvSpPr/>
          <p:nvPr/>
        </p:nvSpPr>
        <p:spPr>
          <a:xfrm>
            <a:off x="7991856" y="2084832"/>
            <a:ext cx="1572768" cy="2103120"/>
          </a:xfrm>
          <a:prstGeom prst="roundRect">
            <a:avLst>
              <a:gd name="adj" fmla="val 6977"/>
            </a:avLst>
          </a:prstGeom>
          <a:solidFill>
            <a:srgbClr val="FFFFFF"/>
          </a:solidFill>
          <a:ln w="10160">
            <a:solidFill>
              <a:srgbClr val="DEE6EF"/>
            </a:solidFill>
            <a:prstDash val="solid"/>
          </a:ln>
        </p:spPr>
      </p:sp>
      <p:sp>
        <p:nvSpPr>
          <p:cNvPr id="35" name="Shape 33"/>
          <p:cNvSpPr/>
          <p:nvPr/>
        </p:nvSpPr>
        <p:spPr>
          <a:xfrm>
            <a:off x="8174736" y="2304288"/>
            <a:ext cx="384048" cy="384048"/>
          </a:xfrm>
          <a:prstGeom prst="ellipse">
            <a:avLst/>
          </a:prstGeom>
          <a:solidFill>
            <a:srgbClr val="F4B942"/>
          </a:solidFill>
          <a:ln w="10160">
            <a:solidFill>
              <a:srgbClr val="F4B942"/>
            </a:solidFill>
            <a:prstDash val="solid"/>
          </a:ln>
        </p:spPr>
      </p:sp>
      <p:sp>
        <p:nvSpPr>
          <p:cNvPr id="36" name="Text 34"/>
          <p:cNvSpPr/>
          <p:nvPr/>
        </p:nvSpPr>
        <p:spPr>
          <a:xfrm>
            <a:off x="8174736" y="2313432"/>
            <a:ext cx="384048" cy="347472"/>
          </a:xfrm>
          <a:prstGeom prst="rect">
            <a:avLst/>
          </a:prstGeom>
          <a:noFill/>
          <a:ln/>
        </p:spPr>
        <p:txBody>
          <a:bodyPr wrap="square" lIns="0" tIns="0" rIns="0" bIns="0" rtlCol="0" anchor="ctr">
            <a:normAutofit/>
          </a:bodyPr>
          <a:lstStyle/>
          <a:p>
            <a:pPr algn="ctr" indent="0" marL="0">
              <a:buNone/>
            </a:pPr>
            <a:r>
              <a:rPr lang="en-US" sz="900" b="1" dirty="0">
                <a:solidFill>
                  <a:srgbClr val="0B1220"/>
                </a:solidFill>
                <a:latin typeface="Aptos" pitchFamily="34" charset="0"/>
                <a:ea typeface="Aptos" pitchFamily="34" charset="-122"/>
                <a:cs typeface="Aptos" pitchFamily="34" charset="-120"/>
              </a:rPr>
              <a:t>03</a:t>
            </a:r>
            <a:endParaRPr lang="en-US" sz="900" dirty="0"/>
          </a:p>
        </p:txBody>
      </p:sp>
      <p:sp>
        <p:nvSpPr>
          <p:cNvPr id="37" name="Text 35"/>
          <p:cNvSpPr/>
          <p:nvPr/>
        </p:nvSpPr>
        <p:spPr>
          <a:xfrm>
            <a:off x="8156448" y="2907792"/>
            <a:ext cx="1280160" cy="274320"/>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Synthesize</a:t>
            </a:r>
            <a:endParaRPr lang="en-US" sz="1400" dirty="0"/>
          </a:p>
        </p:txBody>
      </p:sp>
      <p:sp>
        <p:nvSpPr>
          <p:cNvPr id="38" name="Text 36"/>
          <p:cNvSpPr/>
          <p:nvPr/>
        </p:nvSpPr>
        <p:spPr>
          <a:xfrm>
            <a:off x="8156448" y="3310128"/>
            <a:ext cx="1261872" cy="603504"/>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Answer from available evidence</a:t>
            </a:r>
            <a:endParaRPr lang="en-US" sz="900" dirty="0"/>
          </a:p>
        </p:txBody>
      </p:sp>
      <p:sp>
        <p:nvSpPr>
          <p:cNvPr id="39" name="Shape 37"/>
          <p:cNvSpPr/>
          <p:nvPr/>
        </p:nvSpPr>
        <p:spPr>
          <a:xfrm>
            <a:off x="9573768" y="3108960"/>
            <a:ext cx="228600" cy="0"/>
          </a:xfrm>
          <a:prstGeom prst="line">
            <a:avLst/>
          </a:prstGeom>
          <a:noFill/>
          <a:ln w="19050">
            <a:solidFill>
              <a:srgbClr val="8DA1B7"/>
            </a:solidFill>
            <a:prstDash val="solid"/>
            <a:tailEnd type="triangle"/>
          </a:ln>
        </p:spPr>
      </p:sp>
      <p:sp>
        <p:nvSpPr>
          <p:cNvPr id="40" name="Shape 38"/>
          <p:cNvSpPr/>
          <p:nvPr/>
        </p:nvSpPr>
        <p:spPr>
          <a:xfrm>
            <a:off x="9838944" y="2084832"/>
            <a:ext cx="1572768" cy="2103120"/>
          </a:xfrm>
          <a:prstGeom prst="roundRect">
            <a:avLst>
              <a:gd name="adj" fmla="val 6977"/>
            </a:avLst>
          </a:prstGeom>
          <a:solidFill>
            <a:srgbClr val="FFFFFF"/>
          </a:solidFill>
          <a:ln w="10160">
            <a:solidFill>
              <a:srgbClr val="DEE6EF"/>
            </a:solidFill>
            <a:prstDash val="solid"/>
          </a:ln>
        </p:spPr>
      </p:sp>
      <p:sp>
        <p:nvSpPr>
          <p:cNvPr id="41" name="Shape 39"/>
          <p:cNvSpPr/>
          <p:nvPr/>
        </p:nvSpPr>
        <p:spPr>
          <a:xfrm>
            <a:off x="10021824" y="2304288"/>
            <a:ext cx="384048" cy="384048"/>
          </a:xfrm>
          <a:prstGeom prst="ellipse">
            <a:avLst/>
          </a:prstGeom>
          <a:solidFill>
            <a:srgbClr val="198C72"/>
          </a:solidFill>
          <a:ln w="10160">
            <a:solidFill>
              <a:srgbClr val="198C72"/>
            </a:solidFill>
            <a:prstDash val="solid"/>
          </a:ln>
        </p:spPr>
      </p:sp>
      <p:sp>
        <p:nvSpPr>
          <p:cNvPr id="42" name="Text 40"/>
          <p:cNvSpPr/>
          <p:nvPr/>
        </p:nvSpPr>
        <p:spPr>
          <a:xfrm>
            <a:off x="10021824" y="2313432"/>
            <a:ext cx="384048" cy="347472"/>
          </a:xfrm>
          <a:prstGeom prst="rect">
            <a:avLst/>
          </a:prstGeom>
          <a:noFill/>
          <a:ln/>
        </p:spPr>
        <p:txBody>
          <a:bodyPr wrap="square" lIns="0" tIns="0" rIns="0" bIns="0" rtlCol="0" anchor="ctr">
            <a:normAutofit/>
          </a:bodyPr>
          <a:lstStyle/>
          <a:p>
            <a:pPr algn="ctr" indent="0" marL="0">
              <a:buNone/>
            </a:pPr>
            <a:r>
              <a:rPr lang="en-US" sz="900" b="1" dirty="0">
                <a:solidFill>
                  <a:srgbClr val="0B1220"/>
                </a:solidFill>
                <a:latin typeface="Aptos" pitchFamily="34" charset="0"/>
                <a:ea typeface="Aptos" pitchFamily="34" charset="-122"/>
                <a:cs typeface="Aptos" pitchFamily="34" charset="-120"/>
              </a:rPr>
              <a:t>04</a:t>
            </a:r>
            <a:endParaRPr lang="en-US" sz="900" dirty="0"/>
          </a:p>
        </p:txBody>
      </p:sp>
      <p:sp>
        <p:nvSpPr>
          <p:cNvPr id="43" name="Text 41"/>
          <p:cNvSpPr/>
          <p:nvPr/>
        </p:nvSpPr>
        <p:spPr>
          <a:xfrm>
            <a:off x="10003536" y="2907792"/>
            <a:ext cx="1280160" cy="274320"/>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Verify</a:t>
            </a:r>
            <a:endParaRPr lang="en-US" sz="1400" dirty="0"/>
          </a:p>
        </p:txBody>
      </p:sp>
      <p:sp>
        <p:nvSpPr>
          <p:cNvPr id="44" name="Text 42"/>
          <p:cNvSpPr/>
          <p:nvPr/>
        </p:nvSpPr>
        <p:spPr>
          <a:xfrm>
            <a:off x="10003536" y="3310128"/>
            <a:ext cx="1261872" cy="603504"/>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Citation checks + optional review</a:t>
            </a:r>
            <a:endParaRPr lang="en-US" sz="900" dirty="0"/>
          </a:p>
        </p:txBody>
      </p:sp>
      <p:sp>
        <p:nvSpPr>
          <p:cNvPr id="45" name="Shape 43"/>
          <p:cNvSpPr/>
          <p:nvPr/>
        </p:nvSpPr>
        <p:spPr>
          <a:xfrm>
            <a:off x="4297680" y="4526280"/>
            <a:ext cx="7132320" cy="960120"/>
          </a:xfrm>
          <a:prstGeom prst="roundRect">
            <a:avLst>
              <a:gd name="adj" fmla="val 11429"/>
            </a:avLst>
          </a:prstGeom>
          <a:solidFill>
            <a:srgbClr val="0B1220"/>
          </a:solidFill>
          <a:ln w="5080">
            <a:solidFill>
              <a:srgbClr val="0B1220"/>
            </a:solidFill>
            <a:prstDash val="solid"/>
          </a:ln>
        </p:spPr>
      </p:sp>
      <p:sp>
        <p:nvSpPr>
          <p:cNvPr id="46" name="Text 44"/>
          <p:cNvSpPr/>
          <p:nvPr/>
        </p:nvSpPr>
        <p:spPr>
          <a:xfrm>
            <a:off x="4553712" y="4736592"/>
            <a:ext cx="82296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3ABFF8"/>
                </a:solidFill>
                <a:latin typeface="Aptos" pitchFamily="34" charset="0"/>
                <a:ea typeface="Aptos" pitchFamily="34" charset="-122"/>
                <a:cs typeface="Aptos" pitchFamily="34" charset="-120"/>
              </a:rPr>
              <a:t>EXAMPLE</a:t>
            </a:r>
            <a:endParaRPr lang="en-US" sz="800" dirty="0"/>
          </a:p>
        </p:txBody>
      </p:sp>
      <p:sp>
        <p:nvSpPr>
          <p:cNvPr id="47" name="Text 45"/>
          <p:cNvSpPr/>
          <p:nvPr/>
        </p:nvSpPr>
        <p:spPr>
          <a:xfrm>
            <a:off x="5440680" y="4681728"/>
            <a:ext cx="5440680"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“What is the daily meal expense limit?”</a:t>
            </a:r>
            <a:endParaRPr lang="en-US" sz="1300" dirty="0"/>
          </a:p>
        </p:txBody>
      </p:sp>
      <p:sp>
        <p:nvSpPr>
          <p:cNvPr id="48" name="Text 46"/>
          <p:cNvSpPr/>
          <p:nvPr/>
        </p:nvSpPr>
        <p:spPr>
          <a:xfrm>
            <a:off x="5440680" y="5010912"/>
            <a:ext cx="5623560" cy="228600"/>
          </a:xfrm>
          <a:prstGeom prst="rect">
            <a:avLst/>
          </a:prstGeom>
          <a:noFill/>
          <a:ln/>
        </p:spPr>
        <p:txBody>
          <a:bodyPr wrap="square" lIns="0" tIns="0" rIns="0" bIns="0" rtlCol="0" anchor="ctr">
            <a:normAutofit/>
          </a:bodyPr>
          <a:lstStyle/>
          <a:p>
            <a:pPr algn="l" indent="0" marL="0">
              <a:buNone/>
            </a:pPr>
            <a:r>
              <a:rPr lang="en-US" sz="900" dirty="0">
                <a:solidFill>
                  <a:srgbClr val="C5D3E4"/>
                </a:solidFill>
                <a:latin typeface="Aptos" pitchFamily="34" charset="0"/>
                <a:ea typeface="Aptos" pitchFamily="34" charset="-122"/>
                <a:cs typeface="Aptos" pitchFamily="34" charset="-120"/>
              </a:rPr>
              <a:t>Response includes the policy value, source excerpt, citation status and trace ID.</a:t>
            </a:r>
            <a:endParaRPr lang="en-US" sz="900" dirty="0"/>
          </a:p>
        </p:txBody>
      </p:sp>
      <p:sp>
        <p:nvSpPr>
          <p:cNvPr id="49" name="Shape 47"/>
          <p:cNvSpPr/>
          <p:nvPr/>
        </p:nvSpPr>
        <p:spPr>
          <a:xfrm>
            <a:off x="9098280" y="5760720"/>
            <a:ext cx="2331720" cy="256032"/>
          </a:xfrm>
          <a:prstGeom prst="roundRect">
            <a:avLst>
              <a:gd name="adj" fmla="val 42857"/>
            </a:avLst>
          </a:prstGeom>
          <a:solidFill>
            <a:srgbClr val="FFF3D6"/>
          </a:solidFill>
          <a:ln w="3810">
            <a:solidFill>
              <a:srgbClr val="FFF3D6"/>
            </a:solidFill>
            <a:prstDash val="solid"/>
          </a:ln>
        </p:spPr>
      </p:sp>
      <p:sp>
        <p:nvSpPr>
          <p:cNvPr id="50" name="Text 48"/>
          <p:cNvSpPr/>
          <p:nvPr/>
        </p:nvSpPr>
        <p:spPr>
          <a:xfrm>
            <a:off x="9153144" y="5774436"/>
            <a:ext cx="2221992"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90630A"/>
                </a:solidFill>
                <a:latin typeface="Aptos" pitchFamily="34" charset="0"/>
                <a:ea typeface="Aptos" pitchFamily="34" charset="-122"/>
                <a:cs typeface="Aptos" pitchFamily="34" charset="-120"/>
              </a:rPr>
              <a:t>SYNTHETIC DEMO POLICIES</a:t>
            </a:r>
            <a:endParaRPr lang="en-US" sz="85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03 / REQUIREMENTS</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Design for traceability—not just fluent answers</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Requirements are grouped into user-facing capabilities and quality / governance controls.</a:t>
            </a:r>
            <a:endParaRPr lang="en-US" sz="1100" dirty="0"/>
          </a:p>
        </p:txBody>
      </p:sp>
      <p:sp>
        <p:nvSpPr>
          <p:cNvPr id="5" name="Shape 3"/>
          <p:cNvSpPr/>
          <p:nvPr/>
        </p:nvSpPr>
        <p:spPr>
          <a:xfrm>
            <a:off x="594360" y="1664208"/>
            <a:ext cx="2267712" cy="1673352"/>
          </a:xfrm>
          <a:prstGeom prst="roundRect">
            <a:avLst>
              <a:gd name="adj" fmla="val 6557"/>
            </a:avLst>
          </a:prstGeom>
          <a:solidFill>
            <a:srgbClr val="FFFFFF"/>
          </a:solidFill>
          <a:ln w="8890">
            <a:solidFill>
              <a:srgbClr val="DEE6EF"/>
            </a:solidFill>
            <a:prstDash val="solid"/>
          </a:ln>
        </p:spPr>
      </p:sp>
      <p:sp>
        <p:nvSpPr>
          <p:cNvPr id="6" name="Shape 4"/>
          <p:cNvSpPr/>
          <p:nvPr/>
        </p:nvSpPr>
        <p:spPr>
          <a:xfrm>
            <a:off x="758952" y="1819656"/>
            <a:ext cx="310896" cy="310896"/>
          </a:xfrm>
          <a:prstGeom prst="ellipse">
            <a:avLst/>
          </a:prstGeom>
          <a:solidFill>
            <a:srgbClr val="3ABFF8"/>
          </a:solidFill>
          <a:ln w="10160">
            <a:solidFill>
              <a:srgbClr val="3ABFF8"/>
            </a:solidFill>
            <a:prstDash val="solid"/>
          </a:ln>
        </p:spPr>
      </p:sp>
      <p:sp>
        <p:nvSpPr>
          <p:cNvPr id="7" name="Text 5"/>
          <p:cNvSpPr/>
          <p:nvPr/>
        </p:nvSpPr>
        <p:spPr>
          <a:xfrm>
            <a:off x="758952" y="1819656"/>
            <a:ext cx="310896"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01</a:t>
            </a:r>
            <a:endParaRPr lang="en-US" sz="800" dirty="0"/>
          </a:p>
        </p:txBody>
      </p:sp>
      <p:sp>
        <p:nvSpPr>
          <p:cNvPr id="8" name="Text 6"/>
          <p:cNvSpPr/>
          <p:nvPr/>
        </p:nvSpPr>
        <p:spPr>
          <a:xfrm>
            <a:off x="758952" y="2231136"/>
            <a:ext cx="1938528" cy="310896"/>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MULTI-FORMAT INGESTION</a:t>
            </a:r>
            <a:endParaRPr lang="en-US" sz="1000" dirty="0"/>
          </a:p>
        </p:txBody>
      </p:sp>
      <p:sp>
        <p:nvSpPr>
          <p:cNvPr id="9" name="Text 7"/>
          <p:cNvSpPr/>
          <p:nvPr/>
        </p:nvSpPr>
        <p:spPr>
          <a:xfrm>
            <a:off x="758952" y="2596896"/>
            <a:ext cx="1938528" cy="566928"/>
          </a:xfrm>
          <a:prstGeom prst="rect">
            <a:avLst/>
          </a:prstGeom>
          <a:noFill/>
          <a:ln/>
        </p:spPr>
        <p:txBody>
          <a:bodyPr wrap="square" lIns="0" tIns="0" rIns="0" bIns="0" rtlCol="0" anchor="t">
            <a:normAutofit/>
          </a:bodyPr>
          <a:lstStyle/>
          <a:p>
            <a:pPr algn="l" indent="0" marL="0">
              <a:buNone/>
            </a:pPr>
            <a:r>
              <a:rPr lang="en-US" sz="880" dirty="0">
                <a:solidFill>
                  <a:srgbClr val="59697D"/>
                </a:solidFill>
                <a:latin typeface="Aptos" pitchFamily="34" charset="0"/>
                <a:ea typeface="Aptos" pitchFamily="34" charset="-122"/>
                <a:cs typeface="Aptos" pitchFamily="34" charset="-120"/>
              </a:rPr>
              <a:t>Accept PDF, DOCX, PPTX, TXT, MD and CSV. Preserve source metadata and rebuild the index.</a:t>
            </a:r>
            <a:endParaRPr lang="en-US" sz="880" dirty="0"/>
          </a:p>
        </p:txBody>
      </p:sp>
      <p:sp>
        <p:nvSpPr>
          <p:cNvPr id="10" name="Shape 8"/>
          <p:cNvSpPr/>
          <p:nvPr/>
        </p:nvSpPr>
        <p:spPr>
          <a:xfrm>
            <a:off x="3520440" y="1664208"/>
            <a:ext cx="2267712" cy="1673352"/>
          </a:xfrm>
          <a:prstGeom prst="roundRect">
            <a:avLst>
              <a:gd name="adj" fmla="val 6557"/>
            </a:avLst>
          </a:prstGeom>
          <a:solidFill>
            <a:srgbClr val="FFFFFF"/>
          </a:solidFill>
          <a:ln w="8890">
            <a:solidFill>
              <a:srgbClr val="DEE6EF"/>
            </a:solidFill>
            <a:prstDash val="solid"/>
          </a:ln>
        </p:spPr>
      </p:sp>
      <p:sp>
        <p:nvSpPr>
          <p:cNvPr id="11" name="Shape 9"/>
          <p:cNvSpPr/>
          <p:nvPr/>
        </p:nvSpPr>
        <p:spPr>
          <a:xfrm>
            <a:off x="3685032" y="1819656"/>
            <a:ext cx="310896" cy="310896"/>
          </a:xfrm>
          <a:prstGeom prst="ellipse">
            <a:avLst/>
          </a:prstGeom>
          <a:solidFill>
            <a:srgbClr val="05BFA8"/>
          </a:solidFill>
          <a:ln w="10160">
            <a:solidFill>
              <a:srgbClr val="05BFA8"/>
            </a:solidFill>
            <a:prstDash val="solid"/>
          </a:ln>
        </p:spPr>
      </p:sp>
      <p:sp>
        <p:nvSpPr>
          <p:cNvPr id="12" name="Text 10"/>
          <p:cNvSpPr/>
          <p:nvPr/>
        </p:nvSpPr>
        <p:spPr>
          <a:xfrm>
            <a:off x="3685032" y="1819656"/>
            <a:ext cx="310896"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02</a:t>
            </a:r>
            <a:endParaRPr lang="en-US" sz="800" dirty="0"/>
          </a:p>
        </p:txBody>
      </p:sp>
      <p:sp>
        <p:nvSpPr>
          <p:cNvPr id="13" name="Text 11"/>
          <p:cNvSpPr/>
          <p:nvPr/>
        </p:nvSpPr>
        <p:spPr>
          <a:xfrm>
            <a:off x="3685032" y="2231136"/>
            <a:ext cx="1938528" cy="310896"/>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SEMANTIC RETRIEVAL</a:t>
            </a:r>
            <a:endParaRPr lang="en-US" sz="1000" dirty="0"/>
          </a:p>
        </p:txBody>
      </p:sp>
      <p:sp>
        <p:nvSpPr>
          <p:cNvPr id="14" name="Text 12"/>
          <p:cNvSpPr/>
          <p:nvPr/>
        </p:nvSpPr>
        <p:spPr>
          <a:xfrm>
            <a:off x="3685032" y="2596896"/>
            <a:ext cx="1938528" cy="566928"/>
          </a:xfrm>
          <a:prstGeom prst="rect">
            <a:avLst/>
          </a:prstGeom>
          <a:noFill/>
          <a:ln/>
        </p:spPr>
        <p:txBody>
          <a:bodyPr wrap="square" lIns="0" tIns="0" rIns="0" bIns="0" rtlCol="0" anchor="t">
            <a:normAutofit/>
          </a:bodyPr>
          <a:lstStyle/>
          <a:p>
            <a:pPr algn="l" indent="0" marL="0">
              <a:buNone/>
            </a:pPr>
            <a:r>
              <a:rPr lang="en-US" sz="880" dirty="0">
                <a:solidFill>
                  <a:srgbClr val="59697D"/>
                </a:solidFill>
                <a:latin typeface="Aptos" pitchFamily="34" charset="0"/>
                <a:ea typeface="Aptos" pitchFamily="34" charset="-122"/>
                <a:cs typeface="Aptos" pitchFamily="34" charset="-120"/>
              </a:rPr>
              <a:t>Embed chunks and questions; retrieve top-k passages from a persisted Chroma index.</a:t>
            </a:r>
            <a:endParaRPr lang="en-US" sz="880" dirty="0"/>
          </a:p>
        </p:txBody>
      </p:sp>
      <p:sp>
        <p:nvSpPr>
          <p:cNvPr id="15" name="Shape 13"/>
          <p:cNvSpPr/>
          <p:nvPr/>
        </p:nvSpPr>
        <p:spPr>
          <a:xfrm>
            <a:off x="6446520" y="1664208"/>
            <a:ext cx="2267712" cy="1673352"/>
          </a:xfrm>
          <a:prstGeom prst="roundRect">
            <a:avLst>
              <a:gd name="adj" fmla="val 6557"/>
            </a:avLst>
          </a:prstGeom>
          <a:solidFill>
            <a:srgbClr val="FFFFFF"/>
          </a:solidFill>
          <a:ln w="8890">
            <a:solidFill>
              <a:srgbClr val="DEE6EF"/>
            </a:solidFill>
            <a:prstDash val="solid"/>
          </a:ln>
        </p:spPr>
      </p:sp>
      <p:sp>
        <p:nvSpPr>
          <p:cNvPr id="16" name="Shape 14"/>
          <p:cNvSpPr/>
          <p:nvPr/>
        </p:nvSpPr>
        <p:spPr>
          <a:xfrm>
            <a:off x="6611112" y="1819656"/>
            <a:ext cx="310896" cy="310896"/>
          </a:xfrm>
          <a:prstGeom prst="ellipse">
            <a:avLst/>
          </a:prstGeom>
          <a:solidFill>
            <a:srgbClr val="F4B942"/>
          </a:solidFill>
          <a:ln w="10160">
            <a:solidFill>
              <a:srgbClr val="F4B942"/>
            </a:solidFill>
            <a:prstDash val="solid"/>
          </a:ln>
        </p:spPr>
      </p:sp>
      <p:sp>
        <p:nvSpPr>
          <p:cNvPr id="17" name="Text 15"/>
          <p:cNvSpPr/>
          <p:nvPr/>
        </p:nvSpPr>
        <p:spPr>
          <a:xfrm>
            <a:off x="6611112" y="1819656"/>
            <a:ext cx="310896"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sp>
        <p:nvSpPr>
          <p:cNvPr id="18" name="Text 16"/>
          <p:cNvSpPr/>
          <p:nvPr/>
        </p:nvSpPr>
        <p:spPr>
          <a:xfrm>
            <a:off x="6611112" y="2231136"/>
            <a:ext cx="1938528" cy="310896"/>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GROUNDED SYNTHESIS</a:t>
            </a:r>
            <a:endParaRPr lang="en-US" sz="1000" dirty="0"/>
          </a:p>
        </p:txBody>
      </p:sp>
      <p:sp>
        <p:nvSpPr>
          <p:cNvPr id="19" name="Text 17"/>
          <p:cNvSpPr/>
          <p:nvPr/>
        </p:nvSpPr>
        <p:spPr>
          <a:xfrm>
            <a:off x="6611112" y="2596896"/>
            <a:ext cx="1938528" cy="566928"/>
          </a:xfrm>
          <a:prstGeom prst="rect">
            <a:avLst/>
          </a:prstGeom>
          <a:noFill/>
          <a:ln/>
        </p:spPr>
        <p:txBody>
          <a:bodyPr wrap="square" lIns="0" tIns="0" rIns="0" bIns="0" rtlCol="0" anchor="t">
            <a:normAutofit/>
          </a:bodyPr>
          <a:lstStyle/>
          <a:p>
            <a:pPr algn="l" indent="0" marL="0">
              <a:buNone/>
            </a:pPr>
            <a:r>
              <a:rPr lang="en-US" sz="880" dirty="0">
                <a:solidFill>
                  <a:srgbClr val="59697D"/>
                </a:solidFill>
                <a:latin typeface="Aptos" pitchFamily="34" charset="0"/>
                <a:ea typeface="Aptos" pitchFamily="34" charset="-122"/>
                <a:cs typeface="Aptos" pitchFamily="34" charset="-120"/>
              </a:rPr>
              <a:t>Generate concise answers only from the supplied evidence. Cite each factual claim.</a:t>
            </a:r>
            <a:endParaRPr lang="en-US" sz="880" dirty="0"/>
          </a:p>
        </p:txBody>
      </p:sp>
      <p:sp>
        <p:nvSpPr>
          <p:cNvPr id="20" name="Shape 18"/>
          <p:cNvSpPr/>
          <p:nvPr/>
        </p:nvSpPr>
        <p:spPr>
          <a:xfrm>
            <a:off x="9372600" y="1664208"/>
            <a:ext cx="2267712" cy="1673352"/>
          </a:xfrm>
          <a:prstGeom prst="roundRect">
            <a:avLst>
              <a:gd name="adj" fmla="val 6557"/>
            </a:avLst>
          </a:prstGeom>
          <a:solidFill>
            <a:srgbClr val="FFFFFF"/>
          </a:solidFill>
          <a:ln w="8890">
            <a:solidFill>
              <a:srgbClr val="DEE6EF"/>
            </a:solidFill>
            <a:prstDash val="solid"/>
          </a:ln>
        </p:spPr>
      </p:sp>
      <p:sp>
        <p:nvSpPr>
          <p:cNvPr id="21" name="Shape 19"/>
          <p:cNvSpPr/>
          <p:nvPr/>
        </p:nvSpPr>
        <p:spPr>
          <a:xfrm>
            <a:off x="9537192" y="1819656"/>
            <a:ext cx="310896" cy="310896"/>
          </a:xfrm>
          <a:prstGeom prst="ellipse">
            <a:avLst/>
          </a:prstGeom>
          <a:solidFill>
            <a:srgbClr val="198C72"/>
          </a:solidFill>
          <a:ln w="10160">
            <a:solidFill>
              <a:srgbClr val="198C72"/>
            </a:solidFill>
            <a:prstDash val="solid"/>
          </a:ln>
        </p:spPr>
      </p:sp>
      <p:sp>
        <p:nvSpPr>
          <p:cNvPr id="22" name="Text 20"/>
          <p:cNvSpPr/>
          <p:nvPr/>
        </p:nvSpPr>
        <p:spPr>
          <a:xfrm>
            <a:off x="9537192" y="1819656"/>
            <a:ext cx="310896"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04</a:t>
            </a:r>
            <a:endParaRPr lang="en-US" sz="800" dirty="0"/>
          </a:p>
        </p:txBody>
      </p:sp>
      <p:sp>
        <p:nvSpPr>
          <p:cNvPr id="23" name="Text 21"/>
          <p:cNvSpPr/>
          <p:nvPr/>
        </p:nvSpPr>
        <p:spPr>
          <a:xfrm>
            <a:off x="9537192" y="2231136"/>
            <a:ext cx="1938528" cy="310896"/>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VALIDATION + RECOVERY</a:t>
            </a:r>
            <a:endParaRPr lang="en-US" sz="1000" dirty="0"/>
          </a:p>
        </p:txBody>
      </p:sp>
      <p:sp>
        <p:nvSpPr>
          <p:cNvPr id="24" name="Text 22"/>
          <p:cNvSpPr/>
          <p:nvPr/>
        </p:nvSpPr>
        <p:spPr>
          <a:xfrm>
            <a:off x="9537192" y="2596896"/>
            <a:ext cx="1938528" cy="566928"/>
          </a:xfrm>
          <a:prstGeom prst="rect">
            <a:avLst/>
          </a:prstGeom>
          <a:noFill/>
          <a:ln/>
        </p:spPr>
        <p:txBody>
          <a:bodyPr wrap="square" lIns="0" tIns="0" rIns="0" bIns="0" rtlCol="0" anchor="t">
            <a:normAutofit/>
          </a:bodyPr>
          <a:lstStyle/>
          <a:p>
            <a:pPr algn="l" indent="0" marL="0">
              <a:buNone/>
            </a:pPr>
            <a:r>
              <a:rPr lang="en-US" sz="880" dirty="0">
                <a:solidFill>
                  <a:srgbClr val="59697D"/>
                </a:solidFill>
                <a:latin typeface="Aptos" pitchFamily="34" charset="0"/>
                <a:ea typeface="Aptos" pitchFamily="34" charset="-122"/>
                <a:cs typeface="Aptos" pitchFamily="34" charset="-120"/>
              </a:rPr>
              <a:t>Check citation IDs and coverage; retry once when checks fail; abstain when evidence is missing.</a:t>
            </a:r>
            <a:endParaRPr lang="en-US" sz="880" dirty="0"/>
          </a:p>
        </p:txBody>
      </p:sp>
      <p:sp>
        <p:nvSpPr>
          <p:cNvPr id="25" name="Shape 23"/>
          <p:cNvSpPr/>
          <p:nvPr/>
        </p:nvSpPr>
        <p:spPr>
          <a:xfrm>
            <a:off x="594360" y="3703320"/>
            <a:ext cx="2267712" cy="1673352"/>
          </a:xfrm>
          <a:prstGeom prst="roundRect">
            <a:avLst>
              <a:gd name="adj" fmla="val 6557"/>
            </a:avLst>
          </a:prstGeom>
          <a:solidFill>
            <a:srgbClr val="FFFFFF"/>
          </a:solidFill>
          <a:ln w="8890">
            <a:solidFill>
              <a:srgbClr val="DEE6EF"/>
            </a:solidFill>
            <a:prstDash val="solid"/>
          </a:ln>
        </p:spPr>
      </p:sp>
      <p:sp>
        <p:nvSpPr>
          <p:cNvPr id="26" name="Shape 24"/>
          <p:cNvSpPr/>
          <p:nvPr/>
        </p:nvSpPr>
        <p:spPr>
          <a:xfrm>
            <a:off x="758952" y="3858768"/>
            <a:ext cx="310896" cy="310896"/>
          </a:xfrm>
          <a:prstGeom prst="ellipse">
            <a:avLst/>
          </a:prstGeom>
          <a:solidFill>
            <a:srgbClr val="05BFA8"/>
          </a:solidFill>
          <a:ln w="10160">
            <a:solidFill>
              <a:srgbClr val="05BFA8"/>
            </a:solidFill>
            <a:prstDash val="solid"/>
          </a:ln>
        </p:spPr>
      </p:sp>
      <p:sp>
        <p:nvSpPr>
          <p:cNvPr id="27" name="Text 25"/>
          <p:cNvSpPr/>
          <p:nvPr/>
        </p:nvSpPr>
        <p:spPr>
          <a:xfrm>
            <a:off x="758952" y="3858768"/>
            <a:ext cx="310896"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05</a:t>
            </a:r>
            <a:endParaRPr lang="en-US" sz="800" dirty="0"/>
          </a:p>
        </p:txBody>
      </p:sp>
      <p:sp>
        <p:nvSpPr>
          <p:cNvPr id="28" name="Text 26"/>
          <p:cNvSpPr/>
          <p:nvPr/>
        </p:nvSpPr>
        <p:spPr>
          <a:xfrm>
            <a:off x="758952" y="4270248"/>
            <a:ext cx="1938528" cy="310896"/>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EVIDENCE INSPECTION</a:t>
            </a:r>
            <a:endParaRPr lang="en-US" sz="1000" dirty="0"/>
          </a:p>
        </p:txBody>
      </p:sp>
      <p:sp>
        <p:nvSpPr>
          <p:cNvPr id="29" name="Text 27"/>
          <p:cNvSpPr/>
          <p:nvPr/>
        </p:nvSpPr>
        <p:spPr>
          <a:xfrm>
            <a:off x="758952" y="4636008"/>
            <a:ext cx="1938528" cy="566928"/>
          </a:xfrm>
          <a:prstGeom prst="rect">
            <a:avLst/>
          </a:prstGeom>
          <a:noFill/>
          <a:ln/>
        </p:spPr>
        <p:txBody>
          <a:bodyPr wrap="square" lIns="0" tIns="0" rIns="0" bIns="0" rtlCol="0" anchor="t">
            <a:normAutofit/>
          </a:bodyPr>
          <a:lstStyle/>
          <a:p>
            <a:pPr algn="l" indent="0" marL="0">
              <a:buNone/>
            </a:pPr>
            <a:r>
              <a:rPr lang="en-US" sz="880" dirty="0">
                <a:solidFill>
                  <a:srgbClr val="59697D"/>
                </a:solidFill>
                <a:latin typeface="Aptos" pitchFamily="34" charset="0"/>
                <a:ea typeface="Aptos" pitchFamily="34" charset="-122"/>
                <a:cs typeface="Aptos" pitchFamily="34" charset="-120"/>
              </a:rPr>
              <a:t>Show source files, excerpts, available page/slide metadata and trace ID beside the answer.</a:t>
            </a:r>
            <a:endParaRPr lang="en-US" sz="880" dirty="0"/>
          </a:p>
        </p:txBody>
      </p:sp>
      <p:sp>
        <p:nvSpPr>
          <p:cNvPr id="30" name="Shape 28"/>
          <p:cNvSpPr/>
          <p:nvPr/>
        </p:nvSpPr>
        <p:spPr>
          <a:xfrm>
            <a:off x="3520440" y="3703320"/>
            <a:ext cx="2267712" cy="1673352"/>
          </a:xfrm>
          <a:prstGeom prst="roundRect">
            <a:avLst>
              <a:gd name="adj" fmla="val 6557"/>
            </a:avLst>
          </a:prstGeom>
          <a:solidFill>
            <a:srgbClr val="FFFFFF"/>
          </a:solidFill>
          <a:ln w="8890">
            <a:solidFill>
              <a:srgbClr val="DEE6EF"/>
            </a:solidFill>
            <a:prstDash val="solid"/>
          </a:ln>
        </p:spPr>
      </p:sp>
      <p:sp>
        <p:nvSpPr>
          <p:cNvPr id="31" name="Shape 29"/>
          <p:cNvSpPr/>
          <p:nvPr/>
        </p:nvSpPr>
        <p:spPr>
          <a:xfrm>
            <a:off x="3685032" y="3858768"/>
            <a:ext cx="310896" cy="310896"/>
          </a:xfrm>
          <a:prstGeom prst="ellipse">
            <a:avLst/>
          </a:prstGeom>
          <a:solidFill>
            <a:srgbClr val="3ABFF8"/>
          </a:solidFill>
          <a:ln w="10160">
            <a:solidFill>
              <a:srgbClr val="3ABFF8"/>
            </a:solidFill>
            <a:prstDash val="solid"/>
          </a:ln>
        </p:spPr>
      </p:sp>
      <p:sp>
        <p:nvSpPr>
          <p:cNvPr id="32" name="Text 30"/>
          <p:cNvSpPr/>
          <p:nvPr/>
        </p:nvSpPr>
        <p:spPr>
          <a:xfrm>
            <a:off x="3685032" y="3858768"/>
            <a:ext cx="310896"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06</a:t>
            </a:r>
            <a:endParaRPr lang="en-US" sz="800" dirty="0"/>
          </a:p>
        </p:txBody>
      </p:sp>
      <p:sp>
        <p:nvSpPr>
          <p:cNvPr id="33" name="Text 31"/>
          <p:cNvSpPr/>
          <p:nvPr/>
        </p:nvSpPr>
        <p:spPr>
          <a:xfrm>
            <a:off x="3685032" y="4270248"/>
            <a:ext cx="1938528" cy="310896"/>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REUSABLE INTERFACES</a:t>
            </a:r>
            <a:endParaRPr lang="en-US" sz="1000" dirty="0"/>
          </a:p>
        </p:txBody>
      </p:sp>
      <p:sp>
        <p:nvSpPr>
          <p:cNvPr id="34" name="Text 32"/>
          <p:cNvSpPr/>
          <p:nvPr/>
        </p:nvSpPr>
        <p:spPr>
          <a:xfrm>
            <a:off x="3685032" y="4636008"/>
            <a:ext cx="1938528" cy="566928"/>
          </a:xfrm>
          <a:prstGeom prst="rect">
            <a:avLst/>
          </a:prstGeom>
          <a:noFill/>
          <a:ln/>
        </p:spPr>
        <p:txBody>
          <a:bodyPr wrap="square" lIns="0" tIns="0" rIns="0" bIns="0" rtlCol="0" anchor="t">
            <a:normAutofit/>
          </a:bodyPr>
          <a:lstStyle/>
          <a:p>
            <a:pPr algn="l" indent="0" marL="0">
              <a:buNone/>
            </a:pPr>
            <a:r>
              <a:rPr lang="en-US" sz="880" dirty="0">
                <a:solidFill>
                  <a:srgbClr val="59697D"/>
                </a:solidFill>
                <a:latin typeface="Aptos" pitchFamily="34" charset="0"/>
                <a:ea typeface="Aptos" pitchFamily="34" charset="-122"/>
                <a:cs typeface="Aptos" pitchFamily="34" charset="-120"/>
              </a:rPr>
              <a:t>Expose the same workflow through Streamlit and FastAPI for interactive and programmatic use.</a:t>
            </a:r>
            <a:endParaRPr lang="en-US" sz="880" dirty="0"/>
          </a:p>
        </p:txBody>
      </p:sp>
      <p:sp>
        <p:nvSpPr>
          <p:cNvPr id="35" name="Shape 33"/>
          <p:cNvSpPr/>
          <p:nvPr/>
        </p:nvSpPr>
        <p:spPr>
          <a:xfrm>
            <a:off x="6446520" y="3703320"/>
            <a:ext cx="2267712" cy="1673352"/>
          </a:xfrm>
          <a:prstGeom prst="roundRect">
            <a:avLst>
              <a:gd name="adj" fmla="val 6557"/>
            </a:avLst>
          </a:prstGeom>
          <a:solidFill>
            <a:srgbClr val="FFFFFF"/>
          </a:solidFill>
          <a:ln w="8890">
            <a:solidFill>
              <a:srgbClr val="DEE6EF"/>
            </a:solidFill>
            <a:prstDash val="solid"/>
          </a:ln>
        </p:spPr>
      </p:sp>
      <p:sp>
        <p:nvSpPr>
          <p:cNvPr id="36" name="Shape 34"/>
          <p:cNvSpPr/>
          <p:nvPr/>
        </p:nvSpPr>
        <p:spPr>
          <a:xfrm>
            <a:off x="6611112" y="3858768"/>
            <a:ext cx="310896" cy="310896"/>
          </a:xfrm>
          <a:prstGeom prst="ellipse">
            <a:avLst/>
          </a:prstGeom>
          <a:solidFill>
            <a:srgbClr val="198C72"/>
          </a:solidFill>
          <a:ln w="10160">
            <a:solidFill>
              <a:srgbClr val="198C72"/>
            </a:solidFill>
            <a:prstDash val="solid"/>
          </a:ln>
        </p:spPr>
      </p:sp>
      <p:sp>
        <p:nvSpPr>
          <p:cNvPr id="37" name="Text 35"/>
          <p:cNvSpPr/>
          <p:nvPr/>
        </p:nvSpPr>
        <p:spPr>
          <a:xfrm>
            <a:off x="6611112" y="3858768"/>
            <a:ext cx="310896"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07</a:t>
            </a:r>
            <a:endParaRPr lang="en-US" sz="800" dirty="0"/>
          </a:p>
        </p:txBody>
      </p:sp>
      <p:sp>
        <p:nvSpPr>
          <p:cNvPr id="38" name="Text 36"/>
          <p:cNvSpPr/>
          <p:nvPr/>
        </p:nvSpPr>
        <p:spPr>
          <a:xfrm>
            <a:off x="6611112" y="4270248"/>
            <a:ext cx="1938528" cy="310896"/>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HUMAN REVIEW</a:t>
            </a:r>
            <a:endParaRPr lang="en-US" sz="1000" dirty="0"/>
          </a:p>
        </p:txBody>
      </p:sp>
      <p:sp>
        <p:nvSpPr>
          <p:cNvPr id="39" name="Text 37"/>
          <p:cNvSpPr/>
          <p:nvPr/>
        </p:nvSpPr>
        <p:spPr>
          <a:xfrm>
            <a:off x="6611112" y="4636008"/>
            <a:ext cx="1938528" cy="566928"/>
          </a:xfrm>
          <a:prstGeom prst="rect">
            <a:avLst/>
          </a:prstGeom>
          <a:noFill/>
          <a:ln/>
        </p:spPr>
        <p:txBody>
          <a:bodyPr wrap="square" lIns="0" tIns="0" rIns="0" bIns="0" rtlCol="0" anchor="t">
            <a:normAutofit/>
          </a:bodyPr>
          <a:lstStyle/>
          <a:p>
            <a:pPr algn="l" indent="0" marL="0">
              <a:buNone/>
            </a:pPr>
            <a:r>
              <a:rPr lang="en-US" sz="880" dirty="0">
                <a:solidFill>
                  <a:srgbClr val="59697D"/>
                </a:solidFill>
                <a:latin typeface="Aptos" pitchFamily="34" charset="0"/>
                <a:ea typeface="Aptos" pitchFamily="34" charset="-122"/>
                <a:cs typeface="Aptos" pitchFamily="34" charset="-120"/>
              </a:rPr>
              <a:t>Capture approved / needs-review decisions, comments, timestamps and trace IDs in a local audit log.</a:t>
            </a:r>
            <a:endParaRPr lang="en-US" sz="880" dirty="0"/>
          </a:p>
        </p:txBody>
      </p:sp>
      <p:sp>
        <p:nvSpPr>
          <p:cNvPr id="40" name="Shape 38"/>
          <p:cNvSpPr/>
          <p:nvPr/>
        </p:nvSpPr>
        <p:spPr>
          <a:xfrm>
            <a:off x="9372600" y="3703320"/>
            <a:ext cx="2267712" cy="1673352"/>
          </a:xfrm>
          <a:prstGeom prst="roundRect">
            <a:avLst>
              <a:gd name="adj" fmla="val 6557"/>
            </a:avLst>
          </a:prstGeom>
          <a:solidFill>
            <a:srgbClr val="FFFFFF"/>
          </a:solidFill>
          <a:ln w="8890">
            <a:solidFill>
              <a:srgbClr val="DEE6EF"/>
            </a:solidFill>
            <a:prstDash val="solid"/>
          </a:ln>
        </p:spPr>
      </p:sp>
      <p:sp>
        <p:nvSpPr>
          <p:cNvPr id="41" name="Shape 39"/>
          <p:cNvSpPr/>
          <p:nvPr/>
        </p:nvSpPr>
        <p:spPr>
          <a:xfrm>
            <a:off x="9537192" y="3858768"/>
            <a:ext cx="310896" cy="310896"/>
          </a:xfrm>
          <a:prstGeom prst="ellipse">
            <a:avLst/>
          </a:prstGeom>
          <a:solidFill>
            <a:srgbClr val="F4B942"/>
          </a:solidFill>
          <a:ln w="10160">
            <a:solidFill>
              <a:srgbClr val="F4B942"/>
            </a:solidFill>
            <a:prstDash val="solid"/>
          </a:ln>
        </p:spPr>
      </p:sp>
      <p:sp>
        <p:nvSpPr>
          <p:cNvPr id="42" name="Text 40"/>
          <p:cNvSpPr/>
          <p:nvPr/>
        </p:nvSpPr>
        <p:spPr>
          <a:xfrm>
            <a:off x="9537192" y="3858768"/>
            <a:ext cx="310896" cy="29260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08</a:t>
            </a:r>
            <a:endParaRPr lang="en-US" sz="800" dirty="0"/>
          </a:p>
        </p:txBody>
      </p:sp>
      <p:sp>
        <p:nvSpPr>
          <p:cNvPr id="43" name="Text 41"/>
          <p:cNvSpPr/>
          <p:nvPr/>
        </p:nvSpPr>
        <p:spPr>
          <a:xfrm>
            <a:off x="9537192" y="4270248"/>
            <a:ext cx="1938528" cy="310896"/>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EVALUATION + OPS</a:t>
            </a:r>
            <a:endParaRPr lang="en-US" sz="1000" dirty="0"/>
          </a:p>
        </p:txBody>
      </p:sp>
      <p:sp>
        <p:nvSpPr>
          <p:cNvPr id="44" name="Text 42"/>
          <p:cNvSpPr/>
          <p:nvPr/>
        </p:nvSpPr>
        <p:spPr>
          <a:xfrm>
            <a:off x="9537192" y="4636008"/>
            <a:ext cx="1938528" cy="566928"/>
          </a:xfrm>
          <a:prstGeom prst="rect">
            <a:avLst/>
          </a:prstGeom>
          <a:noFill/>
          <a:ln/>
        </p:spPr>
        <p:txBody>
          <a:bodyPr wrap="square" lIns="0" tIns="0" rIns="0" bIns="0" rtlCol="0" anchor="t">
            <a:normAutofit/>
          </a:bodyPr>
          <a:lstStyle/>
          <a:p>
            <a:pPr algn="l" indent="0" marL="0">
              <a:buNone/>
            </a:pPr>
            <a:r>
              <a:rPr lang="en-US" sz="880" dirty="0">
                <a:solidFill>
                  <a:srgbClr val="59697D"/>
                </a:solidFill>
                <a:latin typeface="Aptos" pitchFamily="34" charset="0"/>
                <a:ea typeface="Aptos" pitchFamily="34" charset="-122"/>
                <a:cs typeface="Aptos" pitchFamily="34" charset="-120"/>
              </a:rPr>
              <a:t>Run tests and a smoke suite; track latency and improve quality before any production rollout.</a:t>
            </a:r>
            <a:endParaRPr lang="en-US" sz="88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04 / SOLUTION ARCHITECTURE</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A layered design separates content, orchestration and interfaces</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The same LangGraph workflow serves the Streamlit UI and FastAPI endpoint.</a:t>
            </a:r>
            <a:endParaRPr lang="en-US" sz="1100" dirty="0"/>
          </a:p>
        </p:txBody>
      </p:sp>
      <p:sp>
        <p:nvSpPr>
          <p:cNvPr id="5" name="Shape 3"/>
          <p:cNvSpPr/>
          <p:nvPr/>
        </p:nvSpPr>
        <p:spPr>
          <a:xfrm>
            <a:off x="640080" y="1938528"/>
            <a:ext cx="1828800" cy="2514600"/>
          </a:xfrm>
          <a:prstGeom prst="roundRect">
            <a:avLst>
              <a:gd name="adj" fmla="val 6000"/>
            </a:avLst>
          </a:prstGeom>
          <a:solidFill>
            <a:srgbClr val="FFFFFF"/>
          </a:solidFill>
          <a:ln w="10160">
            <a:solidFill>
              <a:srgbClr val="DEE6EF"/>
            </a:solidFill>
            <a:prstDash val="solid"/>
          </a:ln>
        </p:spPr>
      </p:sp>
      <p:sp>
        <p:nvSpPr>
          <p:cNvPr id="6" name="Text 4"/>
          <p:cNvSpPr/>
          <p:nvPr/>
        </p:nvSpPr>
        <p:spPr>
          <a:xfrm>
            <a:off x="859536" y="2157984"/>
            <a:ext cx="128016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05BFA8"/>
                </a:solidFill>
                <a:latin typeface="Aptos" pitchFamily="34" charset="0"/>
                <a:ea typeface="Aptos" pitchFamily="34" charset="-122"/>
                <a:cs typeface="Aptos" pitchFamily="34" charset="-120"/>
              </a:rPr>
              <a:t>01  CONTENT</a:t>
            </a:r>
            <a:endParaRPr lang="en-US" sz="900" dirty="0"/>
          </a:p>
        </p:txBody>
      </p:sp>
      <p:sp>
        <p:nvSpPr>
          <p:cNvPr id="7" name="Shape 5"/>
          <p:cNvSpPr/>
          <p:nvPr/>
        </p:nvSpPr>
        <p:spPr>
          <a:xfrm>
            <a:off x="841248" y="2578608"/>
            <a:ext cx="1408176" cy="283464"/>
          </a:xfrm>
          <a:prstGeom prst="roundRect">
            <a:avLst>
              <a:gd name="adj" fmla="val 38710"/>
            </a:avLst>
          </a:prstGeom>
          <a:solidFill>
            <a:srgbClr val="F3F6FA"/>
          </a:solidFill>
          <a:ln w="3810">
            <a:solidFill>
              <a:srgbClr val="E2E9F0"/>
            </a:solidFill>
            <a:prstDash val="solid"/>
          </a:ln>
        </p:spPr>
      </p:sp>
      <p:sp>
        <p:nvSpPr>
          <p:cNvPr id="8" name="Shape 6"/>
          <p:cNvSpPr/>
          <p:nvPr/>
        </p:nvSpPr>
        <p:spPr>
          <a:xfrm>
            <a:off x="841248" y="2578608"/>
            <a:ext cx="54864" cy="283464"/>
          </a:xfrm>
          <a:prstGeom prst="rect">
            <a:avLst>
              <a:gd name="adj" fmla="val 200000"/>
            </a:avLst>
          </a:prstGeom>
          <a:solidFill>
            <a:srgbClr val="F1C451"/>
          </a:solidFill>
          <a:ln w="12700">
            <a:solidFill>
              <a:srgbClr val="F1C451"/>
            </a:solidFill>
            <a:prstDash val="solid"/>
          </a:ln>
        </p:spPr>
      </p:sp>
      <p:sp>
        <p:nvSpPr>
          <p:cNvPr id="9" name="Text 7"/>
          <p:cNvSpPr/>
          <p:nvPr/>
        </p:nvSpPr>
        <p:spPr>
          <a:xfrm>
            <a:off x="1005840" y="2596896"/>
            <a:ext cx="1143000" cy="228600"/>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PDF</a:t>
            </a:r>
            <a:endParaRPr lang="en-US" sz="900" dirty="0"/>
          </a:p>
        </p:txBody>
      </p:sp>
      <p:sp>
        <p:nvSpPr>
          <p:cNvPr id="10" name="Shape 8"/>
          <p:cNvSpPr/>
          <p:nvPr/>
        </p:nvSpPr>
        <p:spPr>
          <a:xfrm>
            <a:off x="841248" y="2971800"/>
            <a:ext cx="1408176" cy="283464"/>
          </a:xfrm>
          <a:prstGeom prst="roundRect">
            <a:avLst>
              <a:gd name="adj" fmla="val 38710"/>
            </a:avLst>
          </a:prstGeom>
          <a:solidFill>
            <a:srgbClr val="F3F6FA"/>
          </a:solidFill>
          <a:ln w="3810">
            <a:solidFill>
              <a:srgbClr val="E2E9F0"/>
            </a:solidFill>
            <a:prstDash val="solid"/>
          </a:ln>
        </p:spPr>
      </p:sp>
      <p:sp>
        <p:nvSpPr>
          <p:cNvPr id="11" name="Shape 9"/>
          <p:cNvSpPr/>
          <p:nvPr/>
        </p:nvSpPr>
        <p:spPr>
          <a:xfrm>
            <a:off x="841248" y="2971800"/>
            <a:ext cx="54864" cy="283464"/>
          </a:xfrm>
          <a:prstGeom prst="rect">
            <a:avLst>
              <a:gd name="adj" fmla="val 200000"/>
            </a:avLst>
          </a:prstGeom>
          <a:solidFill>
            <a:srgbClr val="3ABFF8"/>
          </a:solidFill>
          <a:ln w="12700">
            <a:solidFill>
              <a:srgbClr val="3ABFF8"/>
            </a:solidFill>
            <a:prstDash val="solid"/>
          </a:ln>
        </p:spPr>
      </p:sp>
      <p:sp>
        <p:nvSpPr>
          <p:cNvPr id="12" name="Text 10"/>
          <p:cNvSpPr/>
          <p:nvPr/>
        </p:nvSpPr>
        <p:spPr>
          <a:xfrm>
            <a:off x="1005840" y="2990088"/>
            <a:ext cx="1143000" cy="228600"/>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DOCX</a:t>
            </a:r>
            <a:endParaRPr lang="en-US" sz="900" dirty="0"/>
          </a:p>
        </p:txBody>
      </p:sp>
      <p:sp>
        <p:nvSpPr>
          <p:cNvPr id="13" name="Shape 11"/>
          <p:cNvSpPr/>
          <p:nvPr/>
        </p:nvSpPr>
        <p:spPr>
          <a:xfrm>
            <a:off x="841248" y="3364992"/>
            <a:ext cx="1408176" cy="283464"/>
          </a:xfrm>
          <a:prstGeom prst="roundRect">
            <a:avLst>
              <a:gd name="adj" fmla="val 38710"/>
            </a:avLst>
          </a:prstGeom>
          <a:solidFill>
            <a:srgbClr val="F3F6FA"/>
          </a:solidFill>
          <a:ln w="3810">
            <a:solidFill>
              <a:srgbClr val="E2E9F0"/>
            </a:solidFill>
            <a:prstDash val="solid"/>
          </a:ln>
        </p:spPr>
      </p:sp>
      <p:sp>
        <p:nvSpPr>
          <p:cNvPr id="14" name="Shape 12"/>
          <p:cNvSpPr/>
          <p:nvPr/>
        </p:nvSpPr>
        <p:spPr>
          <a:xfrm>
            <a:off x="841248" y="3364992"/>
            <a:ext cx="54864" cy="283464"/>
          </a:xfrm>
          <a:prstGeom prst="rect">
            <a:avLst>
              <a:gd name="adj" fmla="val 200000"/>
            </a:avLst>
          </a:prstGeom>
          <a:solidFill>
            <a:srgbClr val="F4B942"/>
          </a:solidFill>
          <a:ln w="12700">
            <a:solidFill>
              <a:srgbClr val="F4B942"/>
            </a:solidFill>
            <a:prstDash val="solid"/>
          </a:ln>
        </p:spPr>
      </p:sp>
      <p:sp>
        <p:nvSpPr>
          <p:cNvPr id="15" name="Text 13"/>
          <p:cNvSpPr/>
          <p:nvPr/>
        </p:nvSpPr>
        <p:spPr>
          <a:xfrm>
            <a:off x="1005840" y="3383280"/>
            <a:ext cx="1143000" cy="228600"/>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PPTX</a:t>
            </a:r>
            <a:endParaRPr lang="en-US" sz="900" dirty="0"/>
          </a:p>
        </p:txBody>
      </p:sp>
      <p:sp>
        <p:nvSpPr>
          <p:cNvPr id="16" name="Shape 14"/>
          <p:cNvSpPr/>
          <p:nvPr/>
        </p:nvSpPr>
        <p:spPr>
          <a:xfrm>
            <a:off x="841248" y="3758184"/>
            <a:ext cx="1408176" cy="283464"/>
          </a:xfrm>
          <a:prstGeom prst="roundRect">
            <a:avLst>
              <a:gd name="adj" fmla="val 38710"/>
            </a:avLst>
          </a:prstGeom>
          <a:solidFill>
            <a:srgbClr val="F3F6FA"/>
          </a:solidFill>
          <a:ln w="3810">
            <a:solidFill>
              <a:srgbClr val="E2E9F0"/>
            </a:solidFill>
            <a:prstDash val="solid"/>
          </a:ln>
        </p:spPr>
      </p:sp>
      <p:sp>
        <p:nvSpPr>
          <p:cNvPr id="17" name="Shape 15"/>
          <p:cNvSpPr/>
          <p:nvPr/>
        </p:nvSpPr>
        <p:spPr>
          <a:xfrm>
            <a:off x="841248" y="3758184"/>
            <a:ext cx="54864" cy="283464"/>
          </a:xfrm>
          <a:prstGeom prst="rect">
            <a:avLst>
              <a:gd name="adj" fmla="val 200000"/>
            </a:avLst>
          </a:prstGeom>
          <a:solidFill>
            <a:srgbClr val="8EA0B5"/>
          </a:solidFill>
          <a:ln w="12700">
            <a:solidFill>
              <a:srgbClr val="8EA0B5"/>
            </a:solidFill>
            <a:prstDash val="solid"/>
          </a:ln>
        </p:spPr>
      </p:sp>
      <p:sp>
        <p:nvSpPr>
          <p:cNvPr id="18" name="Text 16"/>
          <p:cNvSpPr/>
          <p:nvPr/>
        </p:nvSpPr>
        <p:spPr>
          <a:xfrm>
            <a:off x="1005840" y="3776472"/>
            <a:ext cx="1143000" cy="228600"/>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TXT · MD · CSV</a:t>
            </a:r>
            <a:endParaRPr lang="en-US" sz="900" dirty="0"/>
          </a:p>
        </p:txBody>
      </p:sp>
      <p:sp>
        <p:nvSpPr>
          <p:cNvPr id="19" name="Shape 17"/>
          <p:cNvSpPr/>
          <p:nvPr/>
        </p:nvSpPr>
        <p:spPr>
          <a:xfrm>
            <a:off x="2816352" y="1938528"/>
            <a:ext cx="2148840" cy="2514600"/>
          </a:xfrm>
          <a:prstGeom prst="roundRect">
            <a:avLst>
              <a:gd name="adj" fmla="val 5106"/>
            </a:avLst>
          </a:prstGeom>
          <a:solidFill>
            <a:srgbClr val="FFFFFF"/>
          </a:solidFill>
          <a:ln w="10160">
            <a:solidFill>
              <a:srgbClr val="DEE6EF"/>
            </a:solidFill>
            <a:prstDash val="solid"/>
          </a:ln>
        </p:spPr>
      </p:sp>
      <p:sp>
        <p:nvSpPr>
          <p:cNvPr id="20" name="Text 18"/>
          <p:cNvSpPr/>
          <p:nvPr/>
        </p:nvSpPr>
        <p:spPr>
          <a:xfrm>
            <a:off x="3054096" y="2157984"/>
            <a:ext cx="137160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05BFA8"/>
                </a:solidFill>
                <a:latin typeface="Aptos" pitchFamily="34" charset="0"/>
                <a:ea typeface="Aptos" pitchFamily="34" charset="-122"/>
                <a:cs typeface="Aptos" pitchFamily="34" charset="-120"/>
              </a:rPr>
              <a:t>02  INGESTION</a:t>
            </a:r>
            <a:endParaRPr lang="en-US" sz="900" dirty="0"/>
          </a:p>
        </p:txBody>
      </p:sp>
      <p:sp>
        <p:nvSpPr>
          <p:cNvPr id="21" name="Shape 19"/>
          <p:cNvSpPr/>
          <p:nvPr/>
        </p:nvSpPr>
        <p:spPr>
          <a:xfrm>
            <a:off x="3054096" y="2606040"/>
            <a:ext cx="173736" cy="173736"/>
          </a:xfrm>
          <a:prstGeom prst="ellipse">
            <a:avLst/>
          </a:prstGeom>
          <a:solidFill>
            <a:srgbClr val="3ABFF8"/>
          </a:solidFill>
          <a:ln w="10160">
            <a:solidFill>
              <a:srgbClr val="3ABFF8"/>
            </a:solidFill>
            <a:prstDash val="solid"/>
          </a:ln>
        </p:spPr>
      </p:sp>
      <p:sp>
        <p:nvSpPr>
          <p:cNvPr id="22" name="Text 20"/>
          <p:cNvSpPr/>
          <p:nvPr/>
        </p:nvSpPr>
        <p:spPr>
          <a:xfrm>
            <a:off x="3054096" y="2606040"/>
            <a:ext cx="173736" cy="164592"/>
          </a:xfrm>
          <a:prstGeom prst="rect">
            <a:avLst/>
          </a:prstGeom>
          <a:noFill/>
          <a:ln/>
        </p:spPr>
        <p:txBody>
          <a:bodyPr wrap="square" lIns="0" tIns="0" rIns="0" bIns="0" rtlCol="0" anchor="ctr">
            <a:normAutofit/>
          </a:bodyPr>
          <a:lstStyle/>
          <a:p>
            <a:pPr algn="ctr" indent="0" marL="0">
              <a:buNone/>
            </a:pPr>
            <a:r>
              <a:rPr lang="en-US" sz="700" b="1" dirty="0">
                <a:solidFill>
                  <a:srgbClr val="0B1220"/>
                </a:solidFill>
                <a:latin typeface="Aptos" pitchFamily="34" charset="0"/>
                <a:ea typeface="Aptos" pitchFamily="34" charset="-122"/>
                <a:cs typeface="Aptos" pitchFamily="34" charset="-120"/>
              </a:rPr>
              <a:t>1</a:t>
            </a:r>
            <a:endParaRPr lang="en-US" sz="700" dirty="0"/>
          </a:p>
        </p:txBody>
      </p:sp>
      <p:sp>
        <p:nvSpPr>
          <p:cNvPr id="23" name="Text 21"/>
          <p:cNvSpPr/>
          <p:nvPr/>
        </p:nvSpPr>
        <p:spPr>
          <a:xfrm>
            <a:off x="3319272" y="2578608"/>
            <a:ext cx="1371600" cy="256032"/>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Parse text</a:t>
            </a:r>
            <a:endParaRPr lang="en-US" sz="900" dirty="0"/>
          </a:p>
        </p:txBody>
      </p:sp>
      <p:sp>
        <p:nvSpPr>
          <p:cNvPr id="24" name="Shape 22"/>
          <p:cNvSpPr/>
          <p:nvPr/>
        </p:nvSpPr>
        <p:spPr>
          <a:xfrm>
            <a:off x="3054096" y="2999232"/>
            <a:ext cx="173736" cy="173736"/>
          </a:xfrm>
          <a:prstGeom prst="ellipse">
            <a:avLst/>
          </a:prstGeom>
          <a:solidFill>
            <a:srgbClr val="05BFA8"/>
          </a:solidFill>
          <a:ln w="10160">
            <a:solidFill>
              <a:srgbClr val="05BFA8"/>
            </a:solidFill>
            <a:prstDash val="solid"/>
          </a:ln>
        </p:spPr>
      </p:sp>
      <p:sp>
        <p:nvSpPr>
          <p:cNvPr id="25" name="Text 23"/>
          <p:cNvSpPr/>
          <p:nvPr/>
        </p:nvSpPr>
        <p:spPr>
          <a:xfrm>
            <a:off x="3054096" y="2999232"/>
            <a:ext cx="173736" cy="164592"/>
          </a:xfrm>
          <a:prstGeom prst="rect">
            <a:avLst/>
          </a:prstGeom>
          <a:noFill/>
          <a:ln/>
        </p:spPr>
        <p:txBody>
          <a:bodyPr wrap="square" lIns="0" tIns="0" rIns="0" bIns="0" rtlCol="0" anchor="ctr">
            <a:normAutofit/>
          </a:bodyPr>
          <a:lstStyle/>
          <a:p>
            <a:pPr algn="ctr" indent="0" marL="0">
              <a:buNone/>
            </a:pPr>
            <a:r>
              <a:rPr lang="en-US" sz="700" b="1" dirty="0">
                <a:solidFill>
                  <a:srgbClr val="0B1220"/>
                </a:solidFill>
                <a:latin typeface="Aptos" pitchFamily="34" charset="0"/>
                <a:ea typeface="Aptos" pitchFamily="34" charset="-122"/>
                <a:cs typeface="Aptos" pitchFamily="34" charset="-120"/>
              </a:rPr>
              <a:t>2</a:t>
            </a:r>
            <a:endParaRPr lang="en-US" sz="700" dirty="0"/>
          </a:p>
        </p:txBody>
      </p:sp>
      <p:sp>
        <p:nvSpPr>
          <p:cNvPr id="26" name="Text 24"/>
          <p:cNvSpPr/>
          <p:nvPr/>
        </p:nvSpPr>
        <p:spPr>
          <a:xfrm>
            <a:off x="3319272" y="2971800"/>
            <a:ext cx="1371600" cy="256032"/>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Chunk + overlap</a:t>
            </a:r>
            <a:endParaRPr lang="en-US" sz="900" dirty="0"/>
          </a:p>
        </p:txBody>
      </p:sp>
      <p:sp>
        <p:nvSpPr>
          <p:cNvPr id="27" name="Shape 25"/>
          <p:cNvSpPr/>
          <p:nvPr/>
        </p:nvSpPr>
        <p:spPr>
          <a:xfrm>
            <a:off x="3054096" y="3392424"/>
            <a:ext cx="173736" cy="173736"/>
          </a:xfrm>
          <a:prstGeom prst="ellipse">
            <a:avLst/>
          </a:prstGeom>
          <a:solidFill>
            <a:srgbClr val="F4B942"/>
          </a:solidFill>
          <a:ln w="10160">
            <a:solidFill>
              <a:srgbClr val="F4B942"/>
            </a:solidFill>
            <a:prstDash val="solid"/>
          </a:ln>
        </p:spPr>
      </p:sp>
      <p:sp>
        <p:nvSpPr>
          <p:cNvPr id="28" name="Text 26"/>
          <p:cNvSpPr/>
          <p:nvPr/>
        </p:nvSpPr>
        <p:spPr>
          <a:xfrm>
            <a:off x="3054096" y="3392424"/>
            <a:ext cx="173736" cy="164592"/>
          </a:xfrm>
          <a:prstGeom prst="rect">
            <a:avLst/>
          </a:prstGeom>
          <a:noFill/>
          <a:ln/>
        </p:spPr>
        <p:txBody>
          <a:bodyPr wrap="square" lIns="0" tIns="0" rIns="0" bIns="0" rtlCol="0" anchor="ctr">
            <a:normAutofit/>
          </a:bodyPr>
          <a:lstStyle/>
          <a:p>
            <a:pPr algn="ctr" indent="0" marL="0">
              <a:buNone/>
            </a:pPr>
            <a:r>
              <a:rPr lang="en-US" sz="700" b="1" dirty="0">
                <a:solidFill>
                  <a:srgbClr val="0B1220"/>
                </a:solidFill>
                <a:latin typeface="Aptos" pitchFamily="34" charset="0"/>
                <a:ea typeface="Aptos" pitchFamily="34" charset="-122"/>
                <a:cs typeface="Aptos" pitchFamily="34" charset="-120"/>
              </a:rPr>
              <a:t>3</a:t>
            </a:r>
            <a:endParaRPr lang="en-US" sz="700" dirty="0"/>
          </a:p>
        </p:txBody>
      </p:sp>
      <p:sp>
        <p:nvSpPr>
          <p:cNvPr id="29" name="Text 27"/>
          <p:cNvSpPr/>
          <p:nvPr/>
        </p:nvSpPr>
        <p:spPr>
          <a:xfrm>
            <a:off x="3319272" y="3364992"/>
            <a:ext cx="1371600" cy="256032"/>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Attach source metadata</a:t>
            </a:r>
            <a:endParaRPr lang="en-US" sz="900" dirty="0"/>
          </a:p>
        </p:txBody>
      </p:sp>
      <p:sp>
        <p:nvSpPr>
          <p:cNvPr id="30" name="Shape 28"/>
          <p:cNvSpPr/>
          <p:nvPr/>
        </p:nvSpPr>
        <p:spPr>
          <a:xfrm>
            <a:off x="3054096" y="3785616"/>
            <a:ext cx="173736" cy="173736"/>
          </a:xfrm>
          <a:prstGeom prst="ellipse">
            <a:avLst/>
          </a:prstGeom>
          <a:solidFill>
            <a:srgbClr val="198C72"/>
          </a:solidFill>
          <a:ln w="10160">
            <a:solidFill>
              <a:srgbClr val="198C72"/>
            </a:solidFill>
            <a:prstDash val="solid"/>
          </a:ln>
        </p:spPr>
      </p:sp>
      <p:sp>
        <p:nvSpPr>
          <p:cNvPr id="31" name="Text 29"/>
          <p:cNvSpPr/>
          <p:nvPr/>
        </p:nvSpPr>
        <p:spPr>
          <a:xfrm>
            <a:off x="3054096" y="3785616"/>
            <a:ext cx="173736" cy="164592"/>
          </a:xfrm>
          <a:prstGeom prst="rect">
            <a:avLst/>
          </a:prstGeom>
          <a:noFill/>
          <a:ln/>
        </p:spPr>
        <p:txBody>
          <a:bodyPr wrap="square" lIns="0" tIns="0" rIns="0" bIns="0" rtlCol="0" anchor="ctr">
            <a:normAutofit/>
          </a:bodyPr>
          <a:lstStyle/>
          <a:p>
            <a:pPr algn="ctr" indent="0" marL="0">
              <a:buNone/>
            </a:pPr>
            <a:r>
              <a:rPr lang="en-US" sz="700" b="1" dirty="0">
                <a:solidFill>
                  <a:srgbClr val="0B1220"/>
                </a:solidFill>
                <a:latin typeface="Aptos" pitchFamily="34" charset="0"/>
                <a:ea typeface="Aptos" pitchFamily="34" charset="-122"/>
                <a:cs typeface="Aptos" pitchFamily="34" charset="-120"/>
              </a:rPr>
              <a:t>4</a:t>
            </a:r>
            <a:endParaRPr lang="en-US" sz="700" dirty="0"/>
          </a:p>
        </p:txBody>
      </p:sp>
      <p:sp>
        <p:nvSpPr>
          <p:cNvPr id="32" name="Text 30"/>
          <p:cNvSpPr/>
          <p:nvPr/>
        </p:nvSpPr>
        <p:spPr>
          <a:xfrm>
            <a:off x="3319272" y="3758184"/>
            <a:ext cx="1371600" cy="256032"/>
          </a:xfrm>
          <a:prstGeom prst="rect">
            <a:avLst/>
          </a:prstGeom>
          <a:noFill/>
          <a:ln/>
        </p:spPr>
        <p:txBody>
          <a:bodyPr wrap="square" lIns="0" tIns="0" rIns="0" bIns="0" rtlCol="0" anchor="ctr">
            <a:normAutofit/>
          </a:bodyPr>
          <a:lstStyle/>
          <a:p>
            <a:pPr algn="l" indent="0" marL="0">
              <a:buNone/>
            </a:pPr>
            <a:r>
              <a:rPr lang="en-US" sz="900" b="1" dirty="0">
                <a:solidFill>
                  <a:srgbClr val="152238"/>
                </a:solidFill>
                <a:latin typeface="Aptos" pitchFamily="34" charset="0"/>
                <a:ea typeface="Aptos" pitchFamily="34" charset="-122"/>
                <a:cs typeface="Aptos" pitchFamily="34" charset="-120"/>
              </a:rPr>
              <a:t>Persist manifest / index</a:t>
            </a:r>
            <a:endParaRPr lang="en-US" sz="900" dirty="0"/>
          </a:p>
        </p:txBody>
      </p:sp>
      <p:sp>
        <p:nvSpPr>
          <p:cNvPr id="33" name="Shape 31"/>
          <p:cNvSpPr/>
          <p:nvPr/>
        </p:nvSpPr>
        <p:spPr>
          <a:xfrm>
            <a:off x="5321808" y="1938528"/>
            <a:ext cx="1965960" cy="2514600"/>
          </a:xfrm>
          <a:prstGeom prst="roundRect">
            <a:avLst>
              <a:gd name="adj" fmla="val 5581"/>
            </a:avLst>
          </a:prstGeom>
          <a:solidFill>
            <a:srgbClr val="FFFFFF"/>
          </a:solidFill>
          <a:ln w="10160">
            <a:solidFill>
              <a:srgbClr val="DEE6EF"/>
            </a:solidFill>
            <a:prstDash val="solid"/>
          </a:ln>
        </p:spPr>
      </p:sp>
      <p:sp>
        <p:nvSpPr>
          <p:cNvPr id="34" name="Text 32"/>
          <p:cNvSpPr/>
          <p:nvPr/>
        </p:nvSpPr>
        <p:spPr>
          <a:xfrm>
            <a:off x="5559552" y="2157984"/>
            <a:ext cx="137160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05BFA8"/>
                </a:solidFill>
                <a:latin typeface="Aptos" pitchFamily="34" charset="0"/>
                <a:ea typeface="Aptos" pitchFamily="34" charset="-122"/>
                <a:cs typeface="Aptos" pitchFamily="34" charset="-120"/>
              </a:rPr>
              <a:t>03  RETRIEVAL</a:t>
            </a:r>
            <a:endParaRPr lang="en-US" sz="900" dirty="0"/>
          </a:p>
        </p:txBody>
      </p:sp>
      <p:sp>
        <p:nvSpPr>
          <p:cNvPr id="35" name="Shape 33"/>
          <p:cNvSpPr/>
          <p:nvPr/>
        </p:nvSpPr>
        <p:spPr>
          <a:xfrm>
            <a:off x="5559552" y="2615184"/>
            <a:ext cx="1481328" cy="566928"/>
          </a:xfrm>
          <a:prstGeom prst="roundRect">
            <a:avLst>
              <a:gd name="adj" fmla="val 19355"/>
            </a:avLst>
          </a:prstGeom>
          <a:solidFill>
            <a:srgbClr val="DFF4FF"/>
          </a:solidFill>
          <a:ln w="8890">
            <a:solidFill>
              <a:srgbClr val="B5E7FA"/>
            </a:solidFill>
            <a:prstDash val="solid"/>
          </a:ln>
        </p:spPr>
      </p:sp>
      <p:sp>
        <p:nvSpPr>
          <p:cNvPr id="36" name="Text 34"/>
          <p:cNvSpPr/>
          <p:nvPr/>
        </p:nvSpPr>
        <p:spPr>
          <a:xfrm>
            <a:off x="5650992" y="2715768"/>
            <a:ext cx="1298448" cy="292608"/>
          </a:xfrm>
          <a:prstGeom prst="rect">
            <a:avLst/>
          </a:prstGeom>
          <a:noFill/>
          <a:ln/>
        </p:spPr>
        <p:txBody>
          <a:bodyPr wrap="square" lIns="0" tIns="0" rIns="0" bIns="0" rtlCol="0" anchor="ctr">
            <a:normAutofit/>
          </a:bodyPr>
          <a:lstStyle/>
          <a:p>
            <a:pPr algn="ctr" indent="0" marL="0">
              <a:buNone/>
            </a:pPr>
            <a:r>
              <a:rPr lang="en-US" sz="900" b="1" dirty="0">
                <a:solidFill>
                  <a:srgbClr val="152238"/>
                </a:solidFill>
                <a:latin typeface="Aptos" pitchFamily="34" charset="0"/>
                <a:ea typeface="Aptos" pitchFamily="34" charset="-122"/>
                <a:cs typeface="Aptos" pitchFamily="34" charset="-120"/>
              </a:rPr>
              <a:t>NVIDIA embeddings</a:t>
            </a:r>
            <a:endParaRPr lang="en-US" sz="900" dirty="0"/>
          </a:p>
        </p:txBody>
      </p:sp>
      <p:sp>
        <p:nvSpPr>
          <p:cNvPr id="37" name="Shape 35"/>
          <p:cNvSpPr/>
          <p:nvPr/>
        </p:nvSpPr>
        <p:spPr>
          <a:xfrm>
            <a:off x="6300216" y="3200400"/>
            <a:ext cx="0" cy="219456"/>
          </a:xfrm>
          <a:prstGeom prst="line">
            <a:avLst/>
          </a:prstGeom>
          <a:noFill/>
          <a:ln w="15240">
            <a:solidFill>
              <a:srgbClr val="8DA1B7"/>
            </a:solidFill>
            <a:prstDash val="solid"/>
            <a:tailEnd type="triangle"/>
          </a:ln>
        </p:spPr>
      </p:sp>
      <p:sp>
        <p:nvSpPr>
          <p:cNvPr id="38" name="Shape 36"/>
          <p:cNvSpPr/>
          <p:nvPr/>
        </p:nvSpPr>
        <p:spPr>
          <a:xfrm>
            <a:off x="5559552" y="3456432"/>
            <a:ext cx="1481328" cy="566928"/>
          </a:xfrm>
          <a:prstGeom prst="roundRect">
            <a:avLst>
              <a:gd name="adj" fmla="val 19355"/>
            </a:avLst>
          </a:prstGeom>
          <a:solidFill>
            <a:srgbClr val="DDF8F3"/>
          </a:solidFill>
          <a:ln w="8890">
            <a:solidFill>
              <a:srgbClr val="A7E8DD"/>
            </a:solidFill>
            <a:prstDash val="solid"/>
          </a:ln>
        </p:spPr>
      </p:sp>
      <p:sp>
        <p:nvSpPr>
          <p:cNvPr id="39" name="Text 37"/>
          <p:cNvSpPr/>
          <p:nvPr/>
        </p:nvSpPr>
        <p:spPr>
          <a:xfrm>
            <a:off x="5650992" y="3547872"/>
            <a:ext cx="1298448" cy="292608"/>
          </a:xfrm>
          <a:prstGeom prst="rect">
            <a:avLst/>
          </a:prstGeom>
          <a:noFill/>
          <a:ln/>
        </p:spPr>
        <p:txBody>
          <a:bodyPr wrap="square" lIns="0" tIns="0" rIns="0" bIns="0" rtlCol="0" anchor="ctr">
            <a:normAutofit/>
          </a:bodyPr>
          <a:lstStyle/>
          <a:p>
            <a:pPr algn="ctr" indent="0" marL="0">
              <a:buNone/>
            </a:pPr>
            <a:r>
              <a:rPr lang="en-US" sz="900" b="1" dirty="0">
                <a:solidFill>
                  <a:srgbClr val="152238"/>
                </a:solidFill>
                <a:latin typeface="Aptos" pitchFamily="34" charset="0"/>
                <a:ea typeface="Aptos" pitchFamily="34" charset="-122"/>
                <a:cs typeface="Aptos" pitchFamily="34" charset="-120"/>
              </a:rPr>
              <a:t>Chroma top-k search</a:t>
            </a:r>
            <a:endParaRPr lang="en-US" sz="900" dirty="0"/>
          </a:p>
        </p:txBody>
      </p:sp>
      <p:sp>
        <p:nvSpPr>
          <p:cNvPr id="40" name="Text 38"/>
          <p:cNvSpPr/>
          <p:nvPr/>
        </p:nvSpPr>
        <p:spPr>
          <a:xfrm>
            <a:off x="5577840" y="4169664"/>
            <a:ext cx="1417320" cy="164592"/>
          </a:xfrm>
          <a:prstGeom prst="rect">
            <a:avLst/>
          </a:prstGeom>
          <a:noFill/>
          <a:ln/>
        </p:spPr>
        <p:txBody>
          <a:bodyPr wrap="square" lIns="0" tIns="0" rIns="0" bIns="0" rtlCol="0" anchor="ctr">
            <a:normAutofit/>
          </a:bodyPr>
          <a:lstStyle/>
          <a:p>
            <a:pPr algn="ctr" indent="0" marL="0">
              <a:buNone/>
            </a:pPr>
            <a:r>
              <a:rPr lang="en-US" sz="800" dirty="0">
                <a:solidFill>
                  <a:srgbClr val="59697D"/>
                </a:solidFill>
                <a:latin typeface="Aptos" pitchFamily="34" charset="0"/>
                <a:ea typeface="Aptos" pitchFamily="34" charset="-122"/>
                <a:cs typeface="Aptos" pitchFamily="34" charset="-120"/>
              </a:rPr>
              <a:t>Source IDs [S1…Sn]</a:t>
            </a:r>
            <a:endParaRPr lang="en-US" sz="800" dirty="0"/>
          </a:p>
        </p:txBody>
      </p:sp>
      <p:sp>
        <p:nvSpPr>
          <p:cNvPr id="41" name="Shape 39"/>
          <p:cNvSpPr/>
          <p:nvPr/>
        </p:nvSpPr>
        <p:spPr>
          <a:xfrm>
            <a:off x="7635240" y="1938528"/>
            <a:ext cx="1965960" cy="2514600"/>
          </a:xfrm>
          <a:prstGeom prst="roundRect">
            <a:avLst>
              <a:gd name="adj" fmla="val 5581"/>
            </a:avLst>
          </a:prstGeom>
          <a:solidFill>
            <a:srgbClr val="0B1220"/>
          </a:solidFill>
          <a:ln w="8890">
            <a:solidFill>
              <a:srgbClr val="0B1220"/>
            </a:solidFill>
            <a:prstDash val="solid"/>
          </a:ln>
        </p:spPr>
      </p:sp>
      <p:sp>
        <p:nvSpPr>
          <p:cNvPr id="42" name="Text 40"/>
          <p:cNvSpPr/>
          <p:nvPr/>
        </p:nvSpPr>
        <p:spPr>
          <a:xfrm>
            <a:off x="7882128" y="2157984"/>
            <a:ext cx="141732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3ABFF8"/>
                </a:solidFill>
                <a:latin typeface="Aptos" pitchFamily="34" charset="0"/>
                <a:ea typeface="Aptos" pitchFamily="34" charset="-122"/>
                <a:cs typeface="Aptos" pitchFamily="34" charset="-120"/>
              </a:rPr>
              <a:t>04  LANGGRAPH</a:t>
            </a:r>
            <a:endParaRPr lang="en-US" sz="900" dirty="0"/>
          </a:p>
        </p:txBody>
      </p:sp>
      <p:sp>
        <p:nvSpPr>
          <p:cNvPr id="43" name="Shape 41"/>
          <p:cNvSpPr/>
          <p:nvPr/>
        </p:nvSpPr>
        <p:spPr>
          <a:xfrm>
            <a:off x="7973568" y="2578608"/>
            <a:ext cx="1298448" cy="356616"/>
          </a:xfrm>
          <a:prstGeom prst="roundRect">
            <a:avLst>
              <a:gd name="adj" fmla="val 30769"/>
            </a:avLst>
          </a:prstGeom>
          <a:solidFill>
            <a:srgbClr val="1B2C45"/>
          </a:solidFill>
          <a:ln w="7620">
            <a:solidFill>
              <a:srgbClr val="38536F"/>
            </a:solidFill>
            <a:prstDash val="solid"/>
          </a:ln>
        </p:spPr>
      </p:sp>
      <p:sp>
        <p:nvSpPr>
          <p:cNvPr id="44" name="Shape 42"/>
          <p:cNvSpPr/>
          <p:nvPr/>
        </p:nvSpPr>
        <p:spPr>
          <a:xfrm>
            <a:off x="8083296" y="2688336"/>
            <a:ext cx="128016" cy="128016"/>
          </a:xfrm>
          <a:prstGeom prst="ellipse">
            <a:avLst/>
          </a:prstGeom>
          <a:solidFill>
            <a:srgbClr val="3ABFF8"/>
          </a:solidFill>
          <a:ln w="10160">
            <a:solidFill>
              <a:srgbClr val="3ABFF8"/>
            </a:solidFill>
            <a:prstDash val="solid"/>
          </a:ln>
        </p:spPr>
      </p:sp>
      <p:sp>
        <p:nvSpPr>
          <p:cNvPr id="45" name="Text 43"/>
          <p:cNvSpPr/>
          <p:nvPr/>
        </p:nvSpPr>
        <p:spPr>
          <a:xfrm>
            <a:off x="8302752" y="2606040"/>
            <a:ext cx="896112" cy="246888"/>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ptos" pitchFamily="34" charset="0"/>
                <a:ea typeface="Aptos" pitchFamily="34" charset="-122"/>
                <a:cs typeface="Aptos" pitchFamily="34" charset="-120"/>
              </a:rPr>
              <a:t>Researcher</a:t>
            </a:r>
            <a:endParaRPr lang="en-US" sz="900" dirty="0"/>
          </a:p>
        </p:txBody>
      </p:sp>
      <p:sp>
        <p:nvSpPr>
          <p:cNvPr id="46" name="Shape 44"/>
          <p:cNvSpPr/>
          <p:nvPr/>
        </p:nvSpPr>
        <p:spPr>
          <a:xfrm>
            <a:off x="7973568" y="3081528"/>
            <a:ext cx="1298448" cy="356616"/>
          </a:xfrm>
          <a:prstGeom prst="roundRect">
            <a:avLst>
              <a:gd name="adj" fmla="val 30769"/>
            </a:avLst>
          </a:prstGeom>
          <a:solidFill>
            <a:srgbClr val="1B2C45"/>
          </a:solidFill>
          <a:ln w="7620">
            <a:solidFill>
              <a:srgbClr val="38536F"/>
            </a:solidFill>
            <a:prstDash val="solid"/>
          </a:ln>
        </p:spPr>
      </p:sp>
      <p:sp>
        <p:nvSpPr>
          <p:cNvPr id="47" name="Shape 45"/>
          <p:cNvSpPr/>
          <p:nvPr/>
        </p:nvSpPr>
        <p:spPr>
          <a:xfrm>
            <a:off x="8083296" y="3191256"/>
            <a:ext cx="128016" cy="128016"/>
          </a:xfrm>
          <a:prstGeom prst="ellipse">
            <a:avLst/>
          </a:prstGeom>
          <a:solidFill>
            <a:srgbClr val="F4B942"/>
          </a:solidFill>
          <a:ln w="10160">
            <a:solidFill>
              <a:srgbClr val="F4B942"/>
            </a:solidFill>
            <a:prstDash val="solid"/>
          </a:ln>
        </p:spPr>
      </p:sp>
      <p:sp>
        <p:nvSpPr>
          <p:cNvPr id="48" name="Text 46"/>
          <p:cNvSpPr/>
          <p:nvPr/>
        </p:nvSpPr>
        <p:spPr>
          <a:xfrm>
            <a:off x="8302752" y="3108960"/>
            <a:ext cx="896112" cy="246888"/>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ptos" pitchFamily="34" charset="0"/>
                <a:ea typeface="Aptos" pitchFamily="34" charset="-122"/>
                <a:cs typeface="Aptos" pitchFamily="34" charset="-120"/>
              </a:rPr>
              <a:t>Analyst</a:t>
            </a:r>
            <a:endParaRPr lang="en-US" sz="900" dirty="0"/>
          </a:p>
        </p:txBody>
      </p:sp>
      <p:sp>
        <p:nvSpPr>
          <p:cNvPr id="49" name="Shape 47"/>
          <p:cNvSpPr/>
          <p:nvPr/>
        </p:nvSpPr>
        <p:spPr>
          <a:xfrm>
            <a:off x="7973568" y="3584448"/>
            <a:ext cx="1298448" cy="356616"/>
          </a:xfrm>
          <a:prstGeom prst="roundRect">
            <a:avLst>
              <a:gd name="adj" fmla="val 30769"/>
            </a:avLst>
          </a:prstGeom>
          <a:solidFill>
            <a:srgbClr val="1B2C45"/>
          </a:solidFill>
          <a:ln w="7620">
            <a:solidFill>
              <a:srgbClr val="38536F"/>
            </a:solidFill>
            <a:prstDash val="solid"/>
          </a:ln>
        </p:spPr>
      </p:sp>
      <p:sp>
        <p:nvSpPr>
          <p:cNvPr id="50" name="Shape 48"/>
          <p:cNvSpPr/>
          <p:nvPr/>
        </p:nvSpPr>
        <p:spPr>
          <a:xfrm>
            <a:off x="8083296" y="3694176"/>
            <a:ext cx="128016" cy="128016"/>
          </a:xfrm>
          <a:prstGeom prst="ellipse">
            <a:avLst/>
          </a:prstGeom>
          <a:solidFill>
            <a:srgbClr val="05BFA8"/>
          </a:solidFill>
          <a:ln w="10160">
            <a:solidFill>
              <a:srgbClr val="05BFA8"/>
            </a:solidFill>
            <a:prstDash val="solid"/>
          </a:ln>
        </p:spPr>
      </p:sp>
      <p:sp>
        <p:nvSpPr>
          <p:cNvPr id="51" name="Text 49"/>
          <p:cNvSpPr/>
          <p:nvPr/>
        </p:nvSpPr>
        <p:spPr>
          <a:xfrm>
            <a:off x="8302752" y="3611880"/>
            <a:ext cx="896112" cy="246888"/>
          </a:xfrm>
          <a:prstGeom prst="rect">
            <a:avLst/>
          </a:prstGeom>
          <a:noFill/>
          <a:ln/>
        </p:spPr>
        <p:txBody>
          <a:bodyPr wrap="square" lIns="0" tIns="0" rIns="0" bIns="0" rtlCol="0" anchor="ctr">
            <a:normAutofit/>
          </a:bodyPr>
          <a:lstStyle/>
          <a:p>
            <a:pPr algn="l" indent="0" marL="0">
              <a:buNone/>
            </a:pPr>
            <a:r>
              <a:rPr lang="en-US" sz="900" b="1" dirty="0">
                <a:solidFill>
                  <a:srgbClr val="FFFFFF"/>
                </a:solidFill>
                <a:latin typeface="Aptos" pitchFamily="34" charset="0"/>
                <a:ea typeface="Aptos" pitchFamily="34" charset="-122"/>
                <a:cs typeface="Aptos" pitchFamily="34" charset="-120"/>
              </a:rPr>
              <a:t>Validator</a:t>
            </a:r>
            <a:endParaRPr lang="en-US" sz="900" dirty="0"/>
          </a:p>
        </p:txBody>
      </p:sp>
      <p:sp>
        <p:nvSpPr>
          <p:cNvPr id="52" name="Shape 50"/>
          <p:cNvSpPr/>
          <p:nvPr/>
        </p:nvSpPr>
        <p:spPr>
          <a:xfrm>
            <a:off x="9948672" y="1938528"/>
            <a:ext cx="1600200" cy="2514600"/>
          </a:xfrm>
          <a:prstGeom prst="roundRect">
            <a:avLst>
              <a:gd name="adj" fmla="val 6857"/>
            </a:avLst>
          </a:prstGeom>
          <a:solidFill>
            <a:srgbClr val="FFFFFF"/>
          </a:solidFill>
          <a:ln w="10160">
            <a:solidFill>
              <a:srgbClr val="DEE6EF"/>
            </a:solidFill>
            <a:prstDash val="solid"/>
          </a:ln>
        </p:spPr>
      </p:sp>
      <p:sp>
        <p:nvSpPr>
          <p:cNvPr id="53" name="Text 51"/>
          <p:cNvSpPr/>
          <p:nvPr/>
        </p:nvSpPr>
        <p:spPr>
          <a:xfrm>
            <a:off x="10168128" y="2157984"/>
            <a:ext cx="1234440" cy="201168"/>
          </a:xfrm>
          <a:prstGeom prst="rect">
            <a:avLst/>
          </a:prstGeom>
          <a:noFill/>
          <a:ln/>
        </p:spPr>
        <p:txBody>
          <a:bodyPr wrap="square" lIns="0" tIns="0" rIns="0" bIns="0" rtlCol="0" anchor="ctr">
            <a:normAutofit/>
          </a:bodyPr>
          <a:lstStyle/>
          <a:p>
            <a:pPr algn="l" indent="0" marL="0">
              <a:buNone/>
            </a:pPr>
            <a:r>
              <a:rPr lang="en-US" sz="900" b="1" spc="55" kern="0" dirty="0">
                <a:solidFill>
                  <a:srgbClr val="05BFA8"/>
                </a:solidFill>
                <a:latin typeface="Aptos" pitchFamily="34" charset="0"/>
                <a:ea typeface="Aptos" pitchFamily="34" charset="-122"/>
                <a:cs typeface="Aptos" pitchFamily="34" charset="-120"/>
              </a:rPr>
              <a:t>05  EXPERIENCE</a:t>
            </a:r>
            <a:endParaRPr lang="en-US" sz="900" dirty="0"/>
          </a:p>
        </p:txBody>
      </p:sp>
      <p:sp>
        <p:nvSpPr>
          <p:cNvPr id="54" name="Shape 52"/>
          <p:cNvSpPr/>
          <p:nvPr/>
        </p:nvSpPr>
        <p:spPr>
          <a:xfrm>
            <a:off x="10168128" y="2624328"/>
            <a:ext cx="1170432" cy="475488"/>
          </a:xfrm>
          <a:prstGeom prst="roundRect">
            <a:avLst>
              <a:gd name="adj" fmla="val 23077"/>
            </a:avLst>
          </a:prstGeom>
          <a:solidFill>
            <a:srgbClr val="EEF2F6"/>
          </a:solidFill>
          <a:ln w="5080">
            <a:solidFill>
              <a:srgbClr val="DEE6EF"/>
            </a:solidFill>
            <a:prstDash val="solid"/>
          </a:ln>
        </p:spPr>
      </p:sp>
      <p:sp>
        <p:nvSpPr>
          <p:cNvPr id="55" name="Text 53"/>
          <p:cNvSpPr/>
          <p:nvPr/>
        </p:nvSpPr>
        <p:spPr>
          <a:xfrm>
            <a:off x="10222992" y="2724912"/>
            <a:ext cx="1060704" cy="228600"/>
          </a:xfrm>
          <a:prstGeom prst="rect">
            <a:avLst/>
          </a:prstGeom>
          <a:noFill/>
          <a:ln/>
        </p:spPr>
        <p:txBody>
          <a:bodyPr wrap="square" lIns="0" tIns="0" rIns="0" bIns="0" rtlCol="0" anchor="ctr">
            <a:normAutofit/>
          </a:bodyPr>
          <a:lstStyle/>
          <a:p>
            <a:pPr algn="ctr" indent="0" marL="0">
              <a:buNone/>
            </a:pPr>
            <a:r>
              <a:rPr lang="en-US" sz="900" b="1" dirty="0">
                <a:solidFill>
                  <a:srgbClr val="152238"/>
                </a:solidFill>
                <a:latin typeface="Aptos" pitchFamily="34" charset="0"/>
                <a:ea typeface="Aptos" pitchFamily="34" charset="-122"/>
                <a:cs typeface="Aptos" pitchFamily="34" charset="-120"/>
              </a:rPr>
              <a:t>Streamlit UI</a:t>
            </a:r>
            <a:endParaRPr lang="en-US" sz="900" dirty="0"/>
          </a:p>
        </p:txBody>
      </p:sp>
      <p:sp>
        <p:nvSpPr>
          <p:cNvPr id="56" name="Shape 54"/>
          <p:cNvSpPr/>
          <p:nvPr/>
        </p:nvSpPr>
        <p:spPr>
          <a:xfrm>
            <a:off x="10168128" y="3319272"/>
            <a:ext cx="1170432" cy="475488"/>
          </a:xfrm>
          <a:prstGeom prst="roundRect">
            <a:avLst>
              <a:gd name="adj" fmla="val 23077"/>
            </a:avLst>
          </a:prstGeom>
          <a:solidFill>
            <a:srgbClr val="EEF2F6"/>
          </a:solidFill>
          <a:ln w="5080">
            <a:solidFill>
              <a:srgbClr val="DEE6EF"/>
            </a:solidFill>
            <a:prstDash val="solid"/>
          </a:ln>
        </p:spPr>
      </p:sp>
      <p:sp>
        <p:nvSpPr>
          <p:cNvPr id="57" name="Text 55"/>
          <p:cNvSpPr/>
          <p:nvPr/>
        </p:nvSpPr>
        <p:spPr>
          <a:xfrm>
            <a:off x="10222992" y="3419856"/>
            <a:ext cx="1060704" cy="228600"/>
          </a:xfrm>
          <a:prstGeom prst="rect">
            <a:avLst/>
          </a:prstGeom>
          <a:noFill/>
          <a:ln/>
        </p:spPr>
        <p:txBody>
          <a:bodyPr wrap="square" lIns="0" tIns="0" rIns="0" bIns="0" rtlCol="0" anchor="ctr">
            <a:normAutofit/>
          </a:bodyPr>
          <a:lstStyle/>
          <a:p>
            <a:pPr algn="ctr" indent="0" marL="0">
              <a:buNone/>
            </a:pPr>
            <a:r>
              <a:rPr lang="en-US" sz="900" b="1" dirty="0">
                <a:solidFill>
                  <a:srgbClr val="152238"/>
                </a:solidFill>
                <a:latin typeface="Aptos" pitchFamily="34" charset="0"/>
                <a:ea typeface="Aptos" pitchFamily="34" charset="-122"/>
                <a:cs typeface="Aptos" pitchFamily="34" charset="-120"/>
              </a:rPr>
              <a:t>FastAPI</a:t>
            </a:r>
            <a:endParaRPr lang="en-US" sz="900" dirty="0"/>
          </a:p>
        </p:txBody>
      </p:sp>
      <p:sp>
        <p:nvSpPr>
          <p:cNvPr id="58" name="Text 56"/>
          <p:cNvSpPr/>
          <p:nvPr/>
        </p:nvSpPr>
        <p:spPr>
          <a:xfrm>
            <a:off x="10131552" y="3950208"/>
            <a:ext cx="1280160" cy="384048"/>
          </a:xfrm>
          <a:prstGeom prst="rect">
            <a:avLst/>
          </a:prstGeom>
          <a:noFill/>
          <a:ln/>
        </p:spPr>
        <p:txBody>
          <a:bodyPr wrap="square" lIns="0" tIns="0" rIns="0" bIns="0" rtlCol="0" anchor="t">
            <a:normAutofit/>
          </a:bodyPr>
          <a:lstStyle/>
          <a:p>
            <a:pPr algn="ctr" indent="0" marL="0">
              <a:buNone/>
            </a:pPr>
            <a:r>
              <a:rPr lang="en-US" sz="800" dirty="0">
                <a:solidFill>
                  <a:srgbClr val="59697D"/>
                </a:solidFill>
                <a:latin typeface="Aptos" pitchFamily="34" charset="0"/>
                <a:ea typeface="Aptos" pitchFamily="34" charset="-122"/>
                <a:cs typeface="Aptos" pitchFamily="34" charset="-120"/>
              </a:rPr>
              <a:t>Answer + sources</a:t>
            </a:r>
            <a:endParaRPr lang="en-US" sz="800" dirty="0"/>
          </a:p>
          <a:p>
            <a:pPr algn="ctr" indent="0" marL="0">
              <a:buNone/>
            </a:pPr>
            <a:r>
              <a:rPr lang="en-US" sz="800" dirty="0">
                <a:solidFill>
                  <a:srgbClr val="59697D"/>
                </a:solidFill>
                <a:latin typeface="Aptos" pitchFamily="34" charset="0"/>
                <a:ea typeface="Aptos" pitchFamily="34" charset="-122"/>
                <a:cs typeface="Aptos" pitchFamily="34" charset="-120"/>
              </a:rPr>
              <a:t>Validation + trace ID</a:t>
            </a:r>
            <a:endParaRPr lang="en-US" sz="800" dirty="0"/>
          </a:p>
        </p:txBody>
      </p:sp>
      <p:sp>
        <p:nvSpPr>
          <p:cNvPr id="59" name="Shape 57"/>
          <p:cNvSpPr/>
          <p:nvPr/>
        </p:nvSpPr>
        <p:spPr>
          <a:xfrm>
            <a:off x="2487168" y="3172968"/>
            <a:ext cx="274320" cy="0"/>
          </a:xfrm>
          <a:prstGeom prst="line">
            <a:avLst/>
          </a:prstGeom>
          <a:noFill/>
          <a:ln w="19050">
            <a:solidFill>
              <a:srgbClr val="8DA1B7"/>
            </a:solidFill>
            <a:prstDash val="solid"/>
            <a:tailEnd type="triangle"/>
          </a:ln>
        </p:spPr>
      </p:sp>
      <p:sp>
        <p:nvSpPr>
          <p:cNvPr id="60" name="Shape 58"/>
          <p:cNvSpPr/>
          <p:nvPr/>
        </p:nvSpPr>
        <p:spPr>
          <a:xfrm>
            <a:off x="4983480" y="3172968"/>
            <a:ext cx="283464" cy="0"/>
          </a:xfrm>
          <a:prstGeom prst="line">
            <a:avLst/>
          </a:prstGeom>
          <a:noFill/>
          <a:ln w="19050">
            <a:solidFill>
              <a:srgbClr val="8DA1B7"/>
            </a:solidFill>
            <a:prstDash val="solid"/>
            <a:tailEnd type="triangle"/>
          </a:ln>
        </p:spPr>
      </p:sp>
      <p:sp>
        <p:nvSpPr>
          <p:cNvPr id="61" name="Shape 59"/>
          <p:cNvSpPr/>
          <p:nvPr/>
        </p:nvSpPr>
        <p:spPr>
          <a:xfrm>
            <a:off x="7306056" y="3172968"/>
            <a:ext cx="274320" cy="0"/>
          </a:xfrm>
          <a:prstGeom prst="line">
            <a:avLst/>
          </a:prstGeom>
          <a:noFill/>
          <a:ln w="19050">
            <a:solidFill>
              <a:srgbClr val="8DA1B7"/>
            </a:solidFill>
            <a:prstDash val="solid"/>
            <a:tailEnd type="triangle"/>
          </a:ln>
        </p:spPr>
      </p:sp>
      <p:sp>
        <p:nvSpPr>
          <p:cNvPr id="62" name="Shape 60"/>
          <p:cNvSpPr/>
          <p:nvPr/>
        </p:nvSpPr>
        <p:spPr>
          <a:xfrm>
            <a:off x="9619488" y="3172968"/>
            <a:ext cx="274320" cy="0"/>
          </a:xfrm>
          <a:prstGeom prst="line">
            <a:avLst/>
          </a:prstGeom>
          <a:noFill/>
          <a:ln w="19050">
            <a:solidFill>
              <a:srgbClr val="8DA1B7"/>
            </a:solidFill>
            <a:prstDash val="solid"/>
            <a:tailEnd type="triangle"/>
          </a:ln>
        </p:spPr>
      </p:sp>
      <p:sp>
        <p:nvSpPr>
          <p:cNvPr id="63" name="Shape 61"/>
          <p:cNvSpPr/>
          <p:nvPr/>
        </p:nvSpPr>
        <p:spPr>
          <a:xfrm>
            <a:off x="658368" y="4892040"/>
            <a:ext cx="10881360" cy="841248"/>
          </a:xfrm>
          <a:prstGeom prst="roundRect">
            <a:avLst>
              <a:gd name="adj" fmla="val 13043"/>
            </a:avLst>
          </a:prstGeom>
          <a:solidFill>
            <a:srgbClr val="E8EDF4"/>
          </a:solidFill>
          <a:ln w="5080">
            <a:solidFill>
              <a:srgbClr val="E0E7EF"/>
            </a:solidFill>
            <a:prstDash val="solid"/>
          </a:ln>
        </p:spPr>
      </p:sp>
      <p:sp>
        <p:nvSpPr>
          <p:cNvPr id="64" name="Text 62"/>
          <p:cNvSpPr/>
          <p:nvPr/>
        </p:nvSpPr>
        <p:spPr>
          <a:xfrm>
            <a:off x="896112" y="5074920"/>
            <a:ext cx="1920240" cy="182880"/>
          </a:xfrm>
          <a:prstGeom prst="rect">
            <a:avLst/>
          </a:prstGeom>
          <a:noFill/>
          <a:ln/>
        </p:spPr>
        <p:txBody>
          <a:bodyPr wrap="square" lIns="0" tIns="0" rIns="0" bIns="0" rtlCol="0" anchor="ctr">
            <a:normAutofit/>
          </a:bodyPr>
          <a:lstStyle/>
          <a:p>
            <a:pPr algn="l" indent="0" marL="0">
              <a:buNone/>
            </a:pPr>
            <a:r>
              <a:rPr lang="en-US" sz="900" b="1" spc="65" kern="0" dirty="0">
                <a:solidFill>
                  <a:srgbClr val="0B1220"/>
                </a:solidFill>
                <a:latin typeface="Aptos" pitchFamily="34" charset="0"/>
                <a:ea typeface="Aptos" pitchFamily="34" charset="-122"/>
                <a:cs typeface="Aptos" pitchFamily="34" charset="-120"/>
              </a:rPr>
              <a:t>CROSS-CUTTING CONTROLS</a:t>
            </a:r>
            <a:endParaRPr lang="en-US" sz="900" dirty="0"/>
          </a:p>
        </p:txBody>
      </p:sp>
      <p:sp>
        <p:nvSpPr>
          <p:cNvPr id="65" name="Shape 63"/>
          <p:cNvSpPr/>
          <p:nvPr/>
        </p:nvSpPr>
        <p:spPr>
          <a:xfrm>
            <a:off x="2907792" y="5102352"/>
            <a:ext cx="118872" cy="118872"/>
          </a:xfrm>
          <a:prstGeom prst="ellipse">
            <a:avLst/>
          </a:prstGeom>
          <a:solidFill>
            <a:srgbClr val="05BFA8"/>
          </a:solidFill>
          <a:ln w="10160">
            <a:solidFill>
              <a:srgbClr val="05BFA8"/>
            </a:solidFill>
            <a:prstDash val="solid"/>
          </a:ln>
        </p:spPr>
      </p:sp>
      <p:sp>
        <p:nvSpPr>
          <p:cNvPr id="66" name="Text 64"/>
          <p:cNvSpPr/>
          <p:nvPr/>
        </p:nvSpPr>
        <p:spPr>
          <a:xfrm>
            <a:off x="3108960" y="5029200"/>
            <a:ext cx="2286000" cy="292608"/>
          </a:xfrm>
          <a:prstGeom prst="rect">
            <a:avLst/>
          </a:prstGeom>
          <a:noFill/>
          <a:ln/>
        </p:spPr>
        <p:txBody>
          <a:bodyPr wrap="square" lIns="0" tIns="0" rIns="0" bIns="0" rtlCol="0" anchor="ctr">
            <a:normAutofit/>
          </a:bodyPr>
          <a:lstStyle/>
          <a:p>
            <a:pPr algn="l" indent="0" marL="0">
              <a:buNone/>
            </a:pPr>
            <a:r>
              <a:rPr lang="en-US" sz="870" b="1" dirty="0">
                <a:solidFill>
                  <a:srgbClr val="152238"/>
                </a:solidFill>
                <a:latin typeface="Aptos" pitchFamily="34" charset="0"/>
                <a:ea typeface="Aptos" pitchFamily="34" charset="-122"/>
                <a:cs typeface="Aptos" pitchFamily="34" charset="-120"/>
              </a:rPr>
              <a:t>Structured JSONL logs</a:t>
            </a:r>
            <a:endParaRPr lang="en-US" sz="870" dirty="0"/>
          </a:p>
        </p:txBody>
      </p:sp>
      <p:sp>
        <p:nvSpPr>
          <p:cNvPr id="67" name="Shape 65"/>
          <p:cNvSpPr/>
          <p:nvPr/>
        </p:nvSpPr>
        <p:spPr>
          <a:xfrm>
            <a:off x="4846320" y="5102352"/>
            <a:ext cx="118872" cy="118872"/>
          </a:xfrm>
          <a:prstGeom prst="ellipse">
            <a:avLst/>
          </a:prstGeom>
          <a:solidFill>
            <a:srgbClr val="3ABFF8"/>
          </a:solidFill>
          <a:ln w="10160">
            <a:solidFill>
              <a:srgbClr val="3ABFF8"/>
            </a:solidFill>
            <a:prstDash val="solid"/>
          </a:ln>
        </p:spPr>
      </p:sp>
      <p:sp>
        <p:nvSpPr>
          <p:cNvPr id="68" name="Text 66"/>
          <p:cNvSpPr/>
          <p:nvPr/>
        </p:nvSpPr>
        <p:spPr>
          <a:xfrm>
            <a:off x="5047488" y="5029200"/>
            <a:ext cx="2286000" cy="292608"/>
          </a:xfrm>
          <a:prstGeom prst="rect">
            <a:avLst/>
          </a:prstGeom>
          <a:noFill/>
          <a:ln/>
        </p:spPr>
        <p:txBody>
          <a:bodyPr wrap="square" lIns="0" tIns="0" rIns="0" bIns="0" rtlCol="0" anchor="ctr">
            <a:normAutofit/>
          </a:bodyPr>
          <a:lstStyle/>
          <a:p>
            <a:pPr algn="l" indent="0" marL="0">
              <a:buNone/>
            </a:pPr>
            <a:r>
              <a:rPr lang="en-US" sz="870" b="1" dirty="0">
                <a:solidFill>
                  <a:srgbClr val="152238"/>
                </a:solidFill>
                <a:latin typeface="Aptos" pitchFamily="34" charset="0"/>
                <a:ea typeface="Aptos" pitchFamily="34" charset="-122"/>
                <a:cs typeface="Aptos" pitchFamily="34" charset="-120"/>
              </a:rPr>
              <a:t>Evaluation + regression tests</a:t>
            </a:r>
            <a:endParaRPr lang="en-US" sz="870" dirty="0"/>
          </a:p>
        </p:txBody>
      </p:sp>
      <p:sp>
        <p:nvSpPr>
          <p:cNvPr id="69" name="Shape 67"/>
          <p:cNvSpPr/>
          <p:nvPr/>
        </p:nvSpPr>
        <p:spPr>
          <a:xfrm>
            <a:off x="7452360" y="5102352"/>
            <a:ext cx="118872" cy="118872"/>
          </a:xfrm>
          <a:prstGeom prst="ellipse">
            <a:avLst/>
          </a:prstGeom>
          <a:solidFill>
            <a:srgbClr val="198C72"/>
          </a:solidFill>
          <a:ln w="10160">
            <a:solidFill>
              <a:srgbClr val="198C72"/>
            </a:solidFill>
            <a:prstDash val="solid"/>
          </a:ln>
        </p:spPr>
      </p:sp>
      <p:sp>
        <p:nvSpPr>
          <p:cNvPr id="70" name="Text 68"/>
          <p:cNvSpPr/>
          <p:nvPr/>
        </p:nvSpPr>
        <p:spPr>
          <a:xfrm>
            <a:off x="7653528" y="5029200"/>
            <a:ext cx="2286000" cy="292608"/>
          </a:xfrm>
          <a:prstGeom prst="rect">
            <a:avLst/>
          </a:prstGeom>
          <a:noFill/>
          <a:ln/>
        </p:spPr>
        <p:txBody>
          <a:bodyPr wrap="square" lIns="0" tIns="0" rIns="0" bIns="0" rtlCol="0" anchor="ctr">
            <a:normAutofit/>
          </a:bodyPr>
          <a:lstStyle/>
          <a:p>
            <a:pPr algn="l" indent="0" marL="0">
              <a:buNone/>
            </a:pPr>
            <a:r>
              <a:rPr lang="en-US" sz="870" b="1" dirty="0">
                <a:solidFill>
                  <a:srgbClr val="152238"/>
                </a:solidFill>
                <a:latin typeface="Aptos" pitchFamily="34" charset="0"/>
                <a:ea typeface="Aptos" pitchFamily="34" charset="-122"/>
                <a:cs typeface="Aptos" pitchFamily="34" charset="-120"/>
              </a:rPr>
              <a:t>Human-review feedback</a:t>
            </a:r>
            <a:endParaRPr lang="en-US" sz="870" dirty="0"/>
          </a:p>
        </p:txBody>
      </p:sp>
      <p:sp>
        <p:nvSpPr>
          <p:cNvPr id="71" name="Shape 69"/>
          <p:cNvSpPr/>
          <p:nvPr/>
        </p:nvSpPr>
        <p:spPr>
          <a:xfrm>
            <a:off x="9491472" y="5102352"/>
            <a:ext cx="118872" cy="118872"/>
          </a:xfrm>
          <a:prstGeom prst="ellipse">
            <a:avLst/>
          </a:prstGeom>
          <a:solidFill>
            <a:srgbClr val="F4B942"/>
          </a:solidFill>
          <a:ln w="10160">
            <a:solidFill>
              <a:srgbClr val="F4B942"/>
            </a:solidFill>
            <a:prstDash val="solid"/>
          </a:ln>
        </p:spPr>
      </p:sp>
      <p:sp>
        <p:nvSpPr>
          <p:cNvPr id="72" name="Text 70"/>
          <p:cNvSpPr/>
          <p:nvPr/>
        </p:nvSpPr>
        <p:spPr>
          <a:xfrm>
            <a:off x="9692640" y="5029200"/>
            <a:ext cx="1828800" cy="292608"/>
          </a:xfrm>
          <a:prstGeom prst="rect">
            <a:avLst/>
          </a:prstGeom>
          <a:noFill/>
          <a:ln/>
        </p:spPr>
        <p:txBody>
          <a:bodyPr wrap="square" lIns="0" tIns="0" rIns="0" bIns="0" rtlCol="0" anchor="ctr">
            <a:normAutofit/>
          </a:bodyPr>
          <a:lstStyle/>
          <a:p>
            <a:pPr algn="l" indent="0" marL="0">
              <a:buNone/>
            </a:pPr>
            <a:r>
              <a:rPr lang="en-US" sz="870" dirty="0">
                <a:solidFill>
                  <a:srgbClr val="59697D"/>
                </a:solidFill>
                <a:latin typeface="Aptos" pitchFamily="34" charset="0"/>
                <a:ea typeface="Aptos" pitchFamily="34" charset="-122"/>
                <a:cs typeface="Aptos" pitchFamily="34" charset="-120"/>
              </a:rPr>
              <a:t>Production ACL / SSO — pending</a:t>
            </a:r>
            <a:endParaRPr lang="en-US" sz="870" dirty="0"/>
          </a:p>
        </p:txBody>
      </p:sp>
      <p:sp>
        <p:nvSpPr>
          <p:cNvPr id="73" name="Text 71"/>
          <p:cNvSpPr/>
          <p:nvPr/>
        </p:nvSpPr>
        <p:spPr>
          <a:xfrm>
            <a:off x="704088" y="5925312"/>
            <a:ext cx="10607040" cy="219456"/>
          </a:xfrm>
          <a:prstGeom prst="rect">
            <a:avLst/>
          </a:prstGeom>
          <a:noFill/>
          <a:ln/>
        </p:spPr>
        <p:txBody>
          <a:bodyPr wrap="square" lIns="0" tIns="0" rIns="0" bIns="0" rtlCol="0" anchor="ctr">
            <a:normAutofit/>
          </a:bodyPr>
          <a:lstStyle/>
          <a:p>
            <a:pPr algn="l" indent="0" marL="0">
              <a:buNone/>
            </a:pPr>
            <a:r>
              <a:rPr lang="en-US" sz="900" i="1" dirty="0">
                <a:solidFill>
                  <a:srgbClr val="59697D"/>
                </a:solidFill>
                <a:latin typeface="Aptos" pitchFamily="34" charset="0"/>
                <a:ea typeface="Aptos" pitchFamily="34" charset="-122"/>
                <a:cs typeface="Aptos" pitchFamily="34" charset="-120"/>
              </a:rPr>
              <a:t>Prototype uses a local Chroma store and local JSONL audit files; client-grade identity and permission filtering are not yet implemented.</a:t>
            </a:r>
            <a:endParaRPr lang="en-US" sz="90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05 / DATA PIPELINE</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Build a rebuildable index with traceable source metadata</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The ingestion path turns varied enterprise files into retrieval-ready evidence chunks.</a:t>
            </a:r>
            <a:endParaRPr lang="en-US" sz="1100" dirty="0"/>
          </a:p>
        </p:txBody>
      </p:sp>
      <p:sp>
        <p:nvSpPr>
          <p:cNvPr id="5" name="Shape 3"/>
          <p:cNvSpPr/>
          <p:nvPr/>
        </p:nvSpPr>
        <p:spPr>
          <a:xfrm>
            <a:off x="594360" y="2011680"/>
            <a:ext cx="1609344" cy="2331720"/>
          </a:xfrm>
          <a:prstGeom prst="roundRect">
            <a:avLst>
              <a:gd name="adj" fmla="val 6818"/>
            </a:avLst>
          </a:prstGeom>
          <a:solidFill>
            <a:srgbClr val="FFFFFF"/>
          </a:solidFill>
          <a:ln w="10160">
            <a:solidFill>
              <a:srgbClr val="DEE6EF"/>
            </a:solidFill>
            <a:prstDash val="solid"/>
          </a:ln>
        </p:spPr>
      </p:sp>
      <p:sp>
        <p:nvSpPr>
          <p:cNvPr id="6" name="Shape 4"/>
          <p:cNvSpPr/>
          <p:nvPr/>
        </p:nvSpPr>
        <p:spPr>
          <a:xfrm>
            <a:off x="777240" y="2249424"/>
            <a:ext cx="438912" cy="438912"/>
          </a:xfrm>
          <a:prstGeom prst="ellipse">
            <a:avLst/>
          </a:prstGeom>
          <a:solidFill>
            <a:srgbClr val="3ABFF8"/>
          </a:solidFill>
          <a:ln w="10160">
            <a:solidFill>
              <a:srgbClr val="3ABFF8"/>
            </a:solidFill>
            <a:prstDash val="solid"/>
          </a:ln>
        </p:spPr>
      </p:sp>
      <p:sp>
        <p:nvSpPr>
          <p:cNvPr id="7" name="Text 5"/>
          <p:cNvSpPr/>
          <p:nvPr/>
        </p:nvSpPr>
        <p:spPr>
          <a:xfrm>
            <a:off x="777240" y="2258568"/>
            <a:ext cx="438912" cy="40233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01</a:t>
            </a:r>
            <a:endParaRPr lang="en-US" sz="1000" dirty="0"/>
          </a:p>
        </p:txBody>
      </p:sp>
      <p:sp>
        <p:nvSpPr>
          <p:cNvPr id="8" name="Text 6"/>
          <p:cNvSpPr/>
          <p:nvPr/>
        </p:nvSpPr>
        <p:spPr>
          <a:xfrm>
            <a:off x="777240" y="2907792"/>
            <a:ext cx="1243584" cy="292608"/>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Collect</a:t>
            </a:r>
            <a:endParaRPr lang="en-US" sz="1400" dirty="0"/>
          </a:p>
        </p:txBody>
      </p:sp>
      <p:sp>
        <p:nvSpPr>
          <p:cNvPr id="9" name="Text 7"/>
          <p:cNvSpPr/>
          <p:nvPr/>
        </p:nvSpPr>
        <p:spPr>
          <a:xfrm>
            <a:off x="777240" y="3364992"/>
            <a:ext cx="1261872" cy="658368"/>
          </a:xfrm>
          <a:prstGeom prst="rect">
            <a:avLst/>
          </a:prstGeom>
          <a:noFill/>
          <a:ln/>
        </p:spPr>
        <p:txBody>
          <a:bodyPr wrap="square" lIns="0" tIns="0" rIns="0" bIns="0" rtlCol="0" anchor="t">
            <a:normAutofit/>
          </a:bodyPr>
          <a:lstStyle/>
          <a:p>
            <a:pPr algn="l" indent="0" marL="0">
              <a:buNone/>
            </a:pPr>
            <a:r>
              <a:rPr lang="en-US" sz="1000" dirty="0">
                <a:solidFill>
                  <a:srgbClr val="59697D"/>
                </a:solidFill>
                <a:latin typeface="Aptos" pitchFamily="34" charset="0"/>
                <a:ea typeface="Aptos" pitchFamily="34" charset="-122"/>
                <a:cs typeface="Aptos" pitchFamily="34" charset="-120"/>
              </a:rPr>
              <a:t>PDF · DOCX</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PPTX · TXT</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MD · CSV</a:t>
            </a:r>
            <a:endParaRPr lang="en-US" sz="1000" dirty="0"/>
          </a:p>
        </p:txBody>
      </p:sp>
      <p:sp>
        <p:nvSpPr>
          <p:cNvPr id="10" name="Shape 8"/>
          <p:cNvSpPr/>
          <p:nvPr/>
        </p:nvSpPr>
        <p:spPr>
          <a:xfrm>
            <a:off x="2221992" y="3200400"/>
            <a:ext cx="228600" cy="0"/>
          </a:xfrm>
          <a:prstGeom prst="line">
            <a:avLst/>
          </a:prstGeom>
          <a:noFill/>
          <a:ln w="19050">
            <a:solidFill>
              <a:srgbClr val="8DA1B7"/>
            </a:solidFill>
            <a:prstDash val="solid"/>
            <a:tailEnd type="triangle"/>
          </a:ln>
        </p:spPr>
      </p:sp>
      <p:sp>
        <p:nvSpPr>
          <p:cNvPr id="11" name="Shape 9"/>
          <p:cNvSpPr/>
          <p:nvPr/>
        </p:nvSpPr>
        <p:spPr>
          <a:xfrm>
            <a:off x="2496312" y="2011680"/>
            <a:ext cx="1609344" cy="2331720"/>
          </a:xfrm>
          <a:prstGeom prst="roundRect">
            <a:avLst>
              <a:gd name="adj" fmla="val 6818"/>
            </a:avLst>
          </a:prstGeom>
          <a:solidFill>
            <a:srgbClr val="FFFFFF"/>
          </a:solidFill>
          <a:ln w="10160">
            <a:solidFill>
              <a:srgbClr val="DEE6EF"/>
            </a:solidFill>
            <a:prstDash val="solid"/>
          </a:ln>
        </p:spPr>
      </p:sp>
      <p:sp>
        <p:nvSpPr>
          <p:cNvPr id="12" name="Shape 10"/>
          <p:cNvSpPr/>
          <p:nvPr/>
        </p:nvSpPr>
        <p:spPr>
          <a:xfrm>
            <a:off x="2679192" y="2249424"/>
            <a:ext cx="438912" cy="438912"/>
          </a:xfrm>
          <a:prstGeom prst="ellipse">
            <a:avLst/>
          </a:prstGeom>
          <a:solidFill>
            <a:srgbClr val="05BFA8"/>
          </a:solidFill>
          <a:ln w="10160">
            <a:solidFill>
              <a:srgbClr val="05BFA8"/>
            </a:solidFill>
            <a:prstDash val="solid"/>
          </a:ln>
        </p:spPr>
      </p:sp>
      <p:sp>
        <p:nvSpPr>
          <p:cNvPr id="13" name="Text 11"/>
          <p:cNvSpPr/>
          <p:nvPr/>
        </p:nvSpPr>
        <p:spPr>
          <a:xfrm>
            <a:off x="2679192" y="2258568"/>
            <a:ext cx="438912" cy="40233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02</a:t>
            </a:r>
            <a:endParaRPr lang="en-US" sz="1000" dirty="0"/>
          </a:p>
        </p:txBody>
      </p:sp>
      <p:sp>
        <p:nvSpPr>
          <p:cNvPr id="14" name="Text 12"/>
          <p:cNvSpPr/>
          <p:nvPr/>
        </p:nvSpPr>
        <p:spPr>
          <a:xfrm>
            <a:off x="2679192" y="2907792"/>
            <a:ext cx="1243584" cy="292608"/>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Extract</a:t>
            </a:r>
            <a:endParaRPr lang="en-US" sz="1400" dirty="0"/>
          </a:p>
        </p:txBody>
      </p:sp>
      <p:sp>
        <p:nvSpPr>
          <p:cNvPr id="15" name="Text 13"/>
          <p:cNvSpPr/>
          <p:nvPr/>
        </p:nvSpPr>
        <p:spPr>
          <a:xfrm>
            <a:off x="2679192" y="3364992"/>
            <a:ext cx="1261872" cy="658368"/>
          </a:xfrm>
          <a:prstGeom prst="rect">
            <a:avLst/>
          </a:prstGeom>
          <a:noFill/>
          <a:ln/>
        </p:spPr>
        <p:txBody>
          <a:bodyPr wrap="square" lIns="0" tIns="0" rIns="0" bIns="0" rtlCol="0" anchor="t">
            <a:normAutofit/>
          </a:bodyPr>
          <a:lstStyle/>
          <a:p>
            <a:pPr algn="l" indent="0" marL="0">
              <a:buNone/>
            </a:pPr>
            <a:r>
              <a:rPr lang="en-US" sz="1000" dirty="0">
                <a:solidFill>
                  <a:srgbClr val="59697D"/>
                </a:solidFill>
                <a:latin typeface="Aptos" pitchFamily="34" charset="0"/>
                <a:ea typeface="Aptos" pitchFamily="34" charset="-122"/>
                <a:cs typeface="Aptos" pitchFamily="34" charset="-120"/>
              </a:rPr>
              <a:t>Read text and</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available page /</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slide locations</a:t>
            </a:r>
            <a:endParaRPr lang="en-US" sz="1000" dirty="0"/>
          </a:p>
        </p:txBody>
      </p:sp>
      <p:sp>
        <p:nvSpPr>
          <p:cNvPr id="16" name="Shape 14"/>
          <p:cNvSpPr/>
          <p:nvPr/>
        </p:nvSpPr>
        <p:spPr>
          <a:xfrm>
            <a:off x="4123944" y="3200400"/>
            <a:ext cx="228600" cy="0"/>
          </a:xfrm>
          <a:prstGeom prst="line">
            <a:avLst/>
          </a:prstGeom>
          <a:noFill/>
          <a:ln w="19050">
            <a:solidFill>
              <a:srgbClr val="8DA1B7"/>
            </a:solidFill>
            <a:prstDash val="solid"/>
            <a:tailEnd type="triangle"/>
          </a:ln>
        </p:spPr>
      </p:sp>
      <p:sp>
        <p:nvSpPr>
          <p:cNvPr id="17" name="Shape 15"/>
          <p:cNvSpPr/>
          <p:nvPr/>
        </p:nvSpPr>
        <p:spPr>
          <a:xfrm>
            <a:off x="4398264" y="2011680"/>
            <a:ext cx="1609344" cy="2331720"/>
          </a:xfrm>
          <a:prstGeom prst="roundRect">
            <a:avLst>
              <a:gd name="adj" fmla="val 6818"/>
            </a:avLst>
          </a:prstGeom>
          <a:solidFill>
            <a:srgbClr val="FFFFFF"/>
          </a:solidFill>
          <a:ln w="10160">
            <a:solidFill>
              <a:srgbClr val="DEE6EF"/>
            </a:solidFill>
            <a:prstDash val="solid"/>
          </a:ln>
        </p:spPr>
      </p:sp>
      <p:sp>
        <p:nvSpPr>
          <p:cNvPr id="18" name="Shape 16"/>
          <p:cNvSpPr/>
          <p:nvPr/>
        </p:nvSpPr>
        <p:spPr>
          <a:xfrm>
            <a:off x="4581144" y="2249424"/>
            <a:ext cx="438912" cy="438912"/>
          </a:xfrm>
          <a:prstGeom prst="ellipse">
            <a:avLst/>
          </a:prstGeom>
          <a:solidFill>
            <a:srgbClr val="F4B942"/>
          </a:solidFill>
          <a:ln w="10160">
            <a:solidFill>
              <a:srgbClr val="F4B942"/>
            </a:solidFill>
            <a:prstDash val="solid"/>
          </a:ln>
        </p:spPr>
      </p:sp>
      <p:sp>
        <p:nvSpPr>
          <p:cNvPr id="19" name="Text 17"/>
          <p:cNvSpPr/>
          <p:nvPr/>
        </p:nvSpPr>
        <p:spPr>
          <a:xfrm>
            <a:off x="4581144" y="2258568"/>
            <a:ext cx="438912" cy="40233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03</a:t>
            </a:r>
            <a:endParaRPr lang="en-US" sz="1000" dirty="0"/>
          </a:p>
        </p:txBody>
      </p:sp>
      <p:sp>
        <p:nvSpPr>
          <p:cNvPr id="20" name="Text 18"/>
          <p:cNvSpPr/>
          <p:nvPr/>
        </p:nvSpPr>
        <p:spPr>
          <a:xfrm>
            <a:off x="4581144" y="2907792"/>
            <a:ext cx="1243584" cy="292608"/>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Chunk</a:t>
            </a:r>
            <a:endParaRPr lang="en-US" sz="1400" dirty="0"/>
          </a:p>
        </p:txBody>
      </p:sp>
      <p:sp>
        <p:nvSpPr>
          <p:cNvPr id="21" name="Text 19"/>
          <p:cNvSpPr/>
          <p:nvPr/>
        </p:nvSpPr>
        <p:spPr>
          <a:xfrm>
            <a:off x="4581144" y="3364992"/>
            <a:ext cx="1261872" cy="658368"/>
          </a:xfrm>
          <a:prstGeom prst="rect">
            <a:avLst/>
          </a:prstGeom>
          <a:noFill/>
          <a:ln/>
        </p:spPr>
        <p:txBody>
          <a:bodyPr wrap="square" lIns="0" tIns="0" rIns="0" bIns="0" rtlCol="0" anchor="t">
            <a:normAutofit/>
          </a:bodyPr>
          <a:lstStyle/>
          <a:p>
            <a:pPr algn="l" indent="0" marL="0">
              <a:buNone/>
            </a:pPr>
            <a:r>
              <a:rPr lang="en-US" sz="1000" dirty="0">
                <a:solidFill>
                  <a:srgbClr val="59697D"/>
                </a:solidFill>
                <a:latin typeface="Aptos" pitchFamily="34" charset="0"/>
                <a:ea typeface="Aptos" pitchFamily="34" charset="-122"/>
                <a:cs typeface="Aptos" pitchFamily="34" charset="-120"/>
              </a:rPr>
              <a:t>Split long text</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into overlapping</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passages</a:t>
            </a:r>
            <a:endParaRPr lang="en-US" sz="1000" dirty="0"/>
          </a:p>
        </p:txBody>
      </p:sp>
      <p:sp>
        <p:nvSpPr>
          <p:cNvPr id="22" name="Shape 20"/>
          <p:cNvSpPr/>
          <p:nvPr/>
        </p:nvSpPr>
        <p:spPr>
          <a:xfrm>
            <a:off x="6025896" y="3200400"/>
            <a:ext cx="228600" cy="0"/>
          </a:xfrm>
          <a:prstGeom prst="line">
            <a:avLst/>
          </a:prstGeom>
          <a:noFill/>
          <a:ln w="19050">
            <a:solidFill>
              <a:srgbClr val="8DA1B7"/>
            </a:solidFill>
            <a:prstDash val="solid"/>
            <a:tailEnd type="triangle"/>
          </a:ln>
        </p:spPr>
      </p:sp>
      <p:sp>
        <p:nvSpPr>
          <p:cNvPr id="23" name="Shape 21"/>
          <p:cNvSpPr/>
          <p:nvPr/>
        </p:nvSpPr>
        <p:spPr>
          <a:xfrm>
            <a:off x="6300216" y="2011680"/>
            <a:ext cx="1609344" cy="2331720"/>
          </a:xfrm>
          <a:prstGeom prst="roundRect">
            <a:avLst>
              <a:gd name="adj" fmla="val 6818"/>
            </a:avLst>
          </a:prstGeom>
          <a:solidFill>
            <a:srgbClr val="FFFFFF"/>
          </a:solidFill>
          <a:ln w="10160">
            <a:solidFill>
              <a:srgbClr val="DEE6EF"/>
            </a:solidFill>
            <a:prstDash val="solid"/>
          </a:ln>
        </p:spPr>
      </p:sp>
      <p:sp>
        <p:nvSpPr>
          <p:cNvPr id="24" name="Shape 22"/>
          <p:cNvSpPr/>
          <p:nvPr/>
        </p:nvSpPr>
        <p:spPr>
          <a:xfrm>
            <a:off x="6483096" y="2249424"/>
            <a:ext cx="438912" cy="438912"/>
          </a:xfrm>
          <a:prstGeom prst="ellipse">
            <a:avLst/>
          </a:prstGeom>
          <a:solidFill>
            <a:srgbClr val="198C72"/>
          </a:solidFill>
          <a:ln w="10160">
            <a:solidFill>
              <a:srgbClr val="198C72"/>
            </a:solidFill>
            <a:prstDash val="solid"/>
          </a:ln>
        </p:spPr>
      </p:sp>
      <p:sp>
        <p:nvSpPr>
          <p:cNvPr id="25" name="Text 23"/>
          <p:cNvSpPr/>
          <p:nvPr/>
        </p:nvSpPr>
        <p:spPr>
          <a:xfrm>
            <a:off x="6483096" y="2258568"/>
            <a:ext cx="438912" cy="40233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04</a:t>
            </a:r>
            <a:endParaRPr lang="en-US" sz="1000" dirty="0"/>
          </a:p>
        </p:txBody>
      </p:sp>
      <p:sp>
        <p:nvSpPr>
          <p:cNvPr id="26" name="Text 24"/>
          <p:cNvSpPr/>
          <p:nvPr/>
        </p:nvSpPr>
        <p:spPr>
          <a:xfrm>
            <a:off x="6483096" y="2907792"/>
            <a:ext cx="1243584" cy="292608"/>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Enrich</a:t>
            </a:r>
            <a:endParaRPr lang="en-US" sz="1400" dirty="0"/>
          </a:p>
        </p:txBody>
      </p:sp>
      <p:sp>
        <p:nvSpPr>
          <p:cNvPr id="27" name="Text 25"/>
          <p:cNvSpPr/>
          <p:nvPr/>
        </p:nvSpPr>
        <p:spPr>
          <a:xfrm>
            <a:off x="6483096" y="3364992"/>
            <a:ext cx="1261872" cy="658368"/>
          </a:xfrm>
          <a:prstGeom prst="rect">
            <a:avLst/>
          </a:prstGeom>
          <a:noFill/>
          <a:ln/>
        </p:spPr>
        <p:txBody>
          <a:bodyPr wrap="square" lIns="0" tIns="0" rIns="0" bIns="0" rtlCol="0" anchor="t">
            <a:normAutofit/>
          </a:bodyPr>
          <a:lstStyle/>
          <a:p>
            <a:pPr algn="l" indent="0" marL="0">
              <a:buNone/>
            </a:pPr>
            <a:r>
              <a:rPr lang="en-US" sz="1000" dirty="0">
                <a:solidFill>
                  <a:srgbClr val="59697D"/>
                </a:solidFill>
                <a:latin typeface="Aptos" pitchFamily="34" charset="0"/>
                <a:ea typeface="Aptos" pitchFamily="34" charset="-122"/>
                <a:cs typeface="Aptos" pitchFamily="34" charset="-120"/>
              </a:rPr>
              <a:t>Attach source,</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location and</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identifiers</a:t>
            </a:r>
            <a:endParaRPr lang="en-US" sz="1000" dirty="0"/>
          </a:p>
        </p:txBody>
      </p:sp>
      <p:sp>
        <p:nvSpPr>
          <p:cNvPr id="28" name="Shape 26"/>
          <p:cNvSpPr/>
          <p:nvPr/>
        </p:nvSpPr>
        <p:spPr>
          <a:xfrm>
            <a:off x="7927848" y="3200400"/>
            <a:ext cx="228600" cy="0"/>
          </a:xfrm>
          <a:prstGeom prst="line">
            <a:avLst/>
          </a:prstGeom>
          <a:noFill/>
          <a:ln w="19050">
            <a:solidFill>
              <a:srgbClr val="8DA1B7"/>
            </a:solidFill>
            <a:prstDash val="solid"/>
            <a:tailEnd type="triangle"/>
          </a:ln>
        </p:spPr>
      </p:sp>
      <p:sp>
        <p:nvSpPr>
          <p:cNvPr id="29" name="Shape 27"/>
          <p:cNvSpPr/>
          <p:nvPr/>
        </p:nvSpPr>
        <p:spPr>
          <a:xfrm>
            <a:off x="8202168" y="2011680"/>
            <a:ext cx="1609344" cy="2331720"/>
          </a:xfrm>
          <a:prstGeom prst="roundRect">
            <a:avLst>
              <a:gd name="adj" fmla="val 6818"/>
            </a:avLst>
          </a:prstGeom>
          <a:solidFill>
            <a:srgbClr val="FFFFFF"/>
          </a:solidFill>
          <a:ln w="10160">
            <a:solidFill>
              <a:srgbClr val="DEE6EF"/>
            </a:solidFill>
            <a:prstDash val="solid"/>
          </a:ln>
        </p:spPr>
      </p:sp>
      <p:sp>
        <p:nvSpPr>
          <p:cNvPr id="30" name="Shape 28"/>
          <p:cNvSpPr/>
          <p:nvPr/>
        </p:nvSpPr>
        <p:spPr>
          <a:xfrm>
            <a:off x="8385048" y="2249424"/>
            <a:ext cx="438912" cy="438912"/>
          </a:xfrm>
          <a:prstGeom prst="ellipse">
            <a:avLst/>
          </a:prstGeom>
          <a:solidFill>
            <a:srgbClr val="3ABFF8"/>
          </a:solidFill>
          <a:ln w="10160">
            <a:solidFill>
              <a:srgbClr val="3ABFF8"/>
            </a:solidFill>
            <a:prstDash val="solid"/>
          </a:ln>
        </p:spPr>
      </p:sp>
      <p:sp>
        <p:nvSpPr>
          <p:cNvPr id="31" name="Text 29"/>
          <p:cNvSpPr/>
          <p:nvPr/>
        </p:nvSpPr>
        <p:spPr>
          <a:xfrm>
            <a:off x="8385048" y="2258568"/>
            <a:ext cx="438912" cy="40233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05</a:t>
            </a:r>
            <a:endParaRPr lang="en-US" sz="1000" dirty="0"/>
          </a:p>
        </p:txBody>
      </p:sp>
      <p:sp>
        <p:nvSpPr>
          <p:cNvPr id="32" name="Text 30"/>
          <p:cNvSpPr/>
          <p:nvPr/>
        </p:nvSpPr>
        <p:spPr>
          <a:xfrm>
            <a:off x="8385048" y="2907792"/>
            <a:ext cx="1243584" cy="292608"/>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Embed</a:t>
            </a:r>
            <a:endParaRPr lang="en-US" sz="1400" dirty="0"/>
          </a:p>
        </p:txBody>
      </p:sp>
      <p:sp>
        <p:nvSpPr>
          <p:cNvPr id="33" name="Text 31"/>
          <p:cNvSpPr/>
          <p:nvPr/>
        </p:nvSpPr>
        <p:spPr>
          <a:xfrm>
            <a:off x="8385048" y="3364992"/>
            <a:ext cx="1261872" cy="658368"/>
          </a:xfrm>
          <a:prstGeom prst="rect">
            <a:avLst/>
          </a:prstGeom>
          <a:noFill/>
          <a:ln/>
        </p:spPr>
        <p:txBody>
          <a:bodyPr wrap="square" lIns="0" tIns="0" rIns="0" bIns="0" rtlCol="0" anchor="t">
            <a:normAutofit/>
          </a:bodyPr>
          <a:lstStyle/>
          <a:p>
            <a:pPr algn="l" indent="0" marL="0">
              <a:buNone/>
            </a:pPr>
            <a:r>
              <a:rPr lang="en-US" sz="1000" dirty="0">
                <a:solidFill>
                  <a:srgbClr val="59697D"/>
                </a:solidFill>
                <a:latin typeface="Aptos" pitchFamily="34" charset="0"/>
                <a:ea typeface="Aptos" pitchFamily="34" charset="-122"/>
                <a:cs typeface="Aptos" pitchFamily="34" charset="-120"/>
              </a:rPr>
              <a:t>Create passage</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vectors through</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NVIDIA NIM</a:t>
            </a:r>
            <a:endParaRPr lang="en-US" sz="1000" dirty="0"/>
          </a:p>
        </p:txBody>
      </p:sp>
      <p:sp>
        <p:nvSpPr>
          <p:cNvPr id="34" name="Shape 32"/>
          <p:cNvSpPr/>
          <p:nvPr/>
        </p:nvSpPr>
        <p:spPr>
          <a:xfrm>
            <a:off x="9829800" y="3200400"/>
            <a:ext cx="228600" cy="0"/>
          </a:xfrm>
          <a:prstGeom prst="line">
            <a:avLst/>
          </a:prstGeom>
          <a:noFill/>
          <a:ln w="19050">
            <a:solidFill>
              <a:srgbClr val="8DA1B7"/>
            </a:solidFill>
            <a:prstDash val="solid"/>
            <a:tailEnd type="triangle"/>
          </a:ln>
        </p:spPr>
      </p:sp>
      <p:sp>
        <p:nvSpPr>
          <p:cNvPr id="35" name="Shape 33"/>
          <p:cNvSpPr/>
          <p:nvPr/>
        </p:nvSpPr>
        <p:spPr>
          <a:xfrm>
            <a:off x="10104120" y="2011680"/>
            <a:ext cx="1609344" cy="2331720"/>
          </a:xfrm>
          <a:prstGeom prst="roundRect">
            <a:avLst>
              <a:gd name="adj" fmla="val 6818"/>
            </a:avLst>
          </a:prstGeom>
          <a:solidFill>
            <a:srgbClr val="FFFFFF"/>
          </a:solidFill>
          <a:ln w="10160">
            <a:solidFill>
              <a:srgbClr val="DEE6EF"/>
            </a:solidFill>
            <a:prstDash val="solid"/>
          </a:ln>
        </p:spPr>
      </p:sp>
      <p:sp>
        <p:nvSpPr>
          <p:cNvPr id="36" name="Shape 34"/>
          <p:cNvSpPr/>
          <p:nvPr/>
        </p:nvSpPr>
        <p:spPr>
          <a:xfrm>
            <a:off x="10287000" y="2249424"/>
            <a:ext cx="438912" cy="438912"/>
          </a:xfrm>
          <a:prstGeom prst="ellipse">
            <a:avLst/>
          </a:prstGeom>
          <a:solidFill>
            <a:srgbClr val="05BFA8"/>
          </a:solidFill>
          <a:ln w="10160">
            <a:solidFill>
              <a:srgbClr val="05BFA8"/>
            </a:solidFill>
            <a:prstDash val="solid"/>
          </a:ln>
        </p:spPr>
      </p:sp>
      <p:sp>
        <p:nvSpPr>
          <p:cNvPr id="37" name="Text 35"/>
          <p:cNvSpPr/>
          <p:nvPr/>
        </p:nvSpPr>
        <p:spPr>
          <a:xfrm>
            <a:off x="10287000" y="2258568"/>
            <a:ext cx="438912" cy="402336"/>
          </a:xfrm>
          <a:prstGeom prst="rect">
            <a:avLst/>
          </a:prstGeom>
          <a:noFill/>
          <a:ln/>
        </p:spPr>
        <p:txBody>
          <a:bodyPr wrap="square" lIns="0" tIns="0" rIns="0" bIns="0" rtlCol="0" anchor="ctr">
            <a:normAutofit/>
          </a:bodyPr>
          <a:lstStyle/>
          <a:p>
            <a:pPr algn="ctr" indent="0" marL="0">
              <a:buNone/>
            </a:pPr>
            <a:r>
              <a:rPr lang="en-US" sz="1000" b="1" dirty="0">
                <a:solidFill>
                  <a:srgbClr val="0B1220"/>
                </a:solidFill>
                <a:latin typeface="Aptos" pitchFamily="34" charset="0"/>
                <a:ea typeface="Aptos" pitchFamily="34" charset="-122"/>
                <a:cs typeface="Aptos" pitchFamily="34" charset="-120"/>
              </a:rPr>
              <a:t>06</a:t>
            </a:r>
            <a:endParaRPr lang="en-US" sz="1000" dirty="0"/>
          </a:p>
        </p:txBody>
      </p:sp>
      <p:sp>
        <p:nvSpPr>
          <p:cNvPr id="38" name="Text 36"/>
          <p:cNvSpPr/>
          <p:nvPr/>
        </p:nvSpPr>
        <p:spPr>
          <a:xfrm>
            <a:off x="10287000" y="2907792"/>
            <a:ext cx="1243584" cy="292608"/>
          </a:xfrm>
          <a:prstGeom prst="rect">
            <a:avLst/>
          </a:prstGeom>
          <a:noFill/>
          <a:ln/>
        </p:spPr>
        <p:txBody>
          <a:bodyPr wrap="square" lIns="0" tIns="0" rIns="0" bIns="0" rtlCol="0" anchor="ctr">
            <a:normAutofit/>
          </a:bodyPr>
          <a:lstStyle/>
          <a:p>
            <a:pPr algn="l" indent="0" marL="0">
              <a:buNone/>
            </a:pPr>
            <a:r>
              <a:rPr lang="en-US" sz="1400" b="1" dirty="0">
                <a:solidFill>
                  <a:srgbClr val="152238"/>
                </a:solidFill>
                <a:latin typeface="Aptos" pitchFamily="34" charset="0"/>
                <a:ea typeface="Aptos" pitchFamily="34" charset="-122"/>
                <a:cs typeface="Aptos" pitchFamily="34" charset="-120"/>
              </a:rPr>
              <a:t>Index</a:t>
            </a:r>
            <a:endParaRPr lang="en-US" sz="1400" dirty="0"/>
          </a:p>
        </p:txBody>
      </p:sp>
      <p:sp>
        <p:nvSpPr>
          <p:cNvPr id="39" name="Text 37"/>
          <p:cNvSpPr/>
          <p:nvPr/>
        </p:nvSpPr>
        <p:spPr>
          <a:xfrm>
            <a:off x="10287000" y="3364992"/>
            <a:ext cx="1261872" cy="658368"/>
          </a:xfrm>
          <a:prstGeom prst="rect">
            <a:avLst/>
          </a:prstGeom>
          <a:noFill/>
          <a:ln/>
        </p:spPr>
        <p:txBody>
          <a:bodyPr wrap="square" lIns="0" tIns="0" rIns="0" bIns="0" rtlCol="0" anchor="t">
            <a:normAutofit/>
          </a:bodyPr>
          <a:lstStyle/>
          <a:p>
            <a:pPr algn="l" indent="0" marL="0">
              <a:buNone/>
            </a:pPr>
            <a:r>
              <a:rPr lang="en-US" sz="1000" dirty="0">
                <a:solidFill>
                  <a:srgbClr val="59697D"/>
                </a:solidFill>
                <a:latin typeface="Aptos" pitchFamily="34" charset="0"/>
                <a:ea typeface="Aptos" pitchFamily="34" charset="-122"/>
                <a:cs typeface="Aptos" pitchFamily="34" charset="-120"/>
              </a:rPr>
              <a:t>Persist vectors</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in Chroma and</a:t>
            </a:r>
            <a:endParaRPr lang="en-US" sz="1000" dirty="0"/>
          </a:p>
          <a:p>
            <a:pPr algn="l" indent="0" marL="0">
              <a:buNone/>
            </a:pPr>
            <a:r>
              <a:rPr lang="en-US" sz="1000" dirty="0">
                <a:solidFill>
                  <a:srgbClr val="59697D"/>
                </a:solidFill>
                <a:latin typeface="Aptos" pitchFamily="34" charset="0"/>
                <a:ea typeface="Aptos" pitchFamily="34" charset="-122"/>
                <a:cs typeface="Aptos" pitchFamily="34" charset="-120"/>
              </a:rPr>
              <a:t>manifest data</a:t>
            </a:r>
            <a:endParaRPr lang="en-US" sz="1000" dirty="0"/>
          </a:p>
        </p:txBody>
      </p:sp>
      <p:sp>
        <p:nvSpPr>
          <p:cNvPr id="40" name="Shape 38"/>
          <p:cNvSpPr/>
          <p:nvPr/>
        </p:nvSpPr>
        <p:spPr>
          <a:xfrm>
            <a:off x="621792" y="4800600"/>
            <a:ext cx="5285232" cy="960120"/>
          </a:xfrm>
          <a:prstGeom prst="roundRect">
            <a:avLst>
              <a:gd name="adj" fmla="val 11429"/>
            </a:avLst>
          </a:prstGeom>
          <a:solidFill>
            <a:srgbClr val="0B1220"/>
          </a:solidFill>
          <a:ln w="6350">
            <a:solidFill>
              <a:srgbClr val="0B1220"/>
            </a:solidFill>
            <a:prstDash val="solid"/>
          </a:ln>
        </p:spPr>
      </p:sp>
      <p:sp>
        <p:nvSpPr>
          <p:cNvPr id="41" name="Text 39"/>
          <p:cNvSpPr/>
          <p:nvPr/>
        </p:nvSpPr>
        <p:spPr>
          <a:xfrm>
            <a:off x="868680" y="5020056"/>
            <a:ext cx="1097280" cy="164592"/>
          </a:xfrm>
          <a:prstGeom prst="rect">
            <a:avLst/>
          </a:prstGeom>
          <a:noFill/>
          <a:ln/>
        </p:spPr>
        <p:txBody>
          <a:bodyPr wrap="square" lIns="0" tIns="0" rIns="0" bIns="0" rtlCol="0" anchor="ctr">
            <a:normAutofit/>
          </a:bodyPr>
          <a:lstStyle/>
          <a:p>
            <a:pPr algn="l" indent="0" marL="0">
              <a:buNone/>
            </a:pPr>
            <a:r>
              <a:rPr lang="en-US" sz="800" b="1" spc="80" kern="0" dirty="0">
                <a:solidFill>
                  <a:srgbClr val="3ABFF8"/>
                </a:solidFill>
                <a:latin typeface="Aptos" pitchFamily="34" charset="0"/>
                <a:ea typeface="Aptos" pitchFamily="34" charset="-122"/>
                <a:cs typeface="Aptos" pitchFamily="34" charset="-120"/>
              </a:rPr>
              <a:t>IMPLEMENTED</a:t>
            </a:r>
            <a:endParaRPr lang="en-US" sz="800" dirty="0"/>
          </a:p>
        </p:txBody>
      </p:sp>
      <p:sp>
        <p:nvSpPr>
          <p:cNvPr id="42" name="Text 40"/>
          <p:cNvSpPr/>
          <p:nvPr/>
        </p:nvSpPr>
        <p:spPr>
          <a:xfrm>
            <a:off x="1920240" y="4946904"/>
            <a:ext cx="3685032" cy="411480"/>
          </a:xfrm>
          <a:prstGeom prst="rect">
            <a:avLst/>
          </a:prstGeom>
          <a:noFill/>
          <a:ln/>
        </p:spPr>
        <p:txBody>
          <a:bodyPr wrap="square" lIns="0" tIns="0" rIns="0" bIns="0"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Parser support · chunking · source excerpts · index rebuild</a:t>
            </a:r>
            <a:endParaRPr lang="en-US" sz="1000" dirty="0"/>
          </a:p>
        </p:txBody>
      </p:sp>
      <p:sp>
        <p:nvSpPr>
          <p:cNvPr id="43" name="Shape 41"/>
          <p:cNvSpPr/>
          <p:nvPr/>
        </p:nvSpPr>
        <p:spPr>
          <a:xfrm>
            <a:off x="6144768" y="4800600"/>
            <a:ext cx="5394960" cy="960120"/>
          </a:xfrm>
          <a:prstGeom prst="roundRect">
            <a:avLst>
              <a:gd name="adj" fmla="val 11429"/>
            </a:avLst>
          </a:prstGeom>
          <a:solidFill>
            <a:srgbClr val="FFFFFF"/>
          </a:solidFill>
          <a:ln w="8890">
            <a:solidFill>
              <a:srgbClr val="DEE6EF"/>
            </a:solidFill>
            <a:prstDash val="solid"/>
          </a:ln>
        </p:spPr>
      </p:sp>
      <p:sp>
        <p:nvSpPr>
          <p:cNvPr id="44" name="Text 42"/>
          <p:cNvSpPr/>
          <p:nvPr/>
        </p:nvSpPr>
        <p:spPr>
          <a:xfrm>
            <a:off x="6382512" y="5020056"/>
            <a:ext cx="960120" cy="164592"/>
          </a:xfrm>
          <a:prstGeom prst="rect">
            <a:avLst/>
          </a:prstGeom>
          <a:noFill/>
          <a:ln/>
        </p:spPr>
        <p:txBody>
          <a:bodyPr wrap="square" lIns="0" tIns="0" rIns="0" bIns="0" rtlCol="0" anchor="ctr">
            <a:normAutofit/>
          </a:bodyPr>
          <a:lstStyle/>
          <a:p>
            <a:pPr algn="l" indent="0" marL="0">
              <a:buNone/>
            </a:pPr>
            <a:r>
              <a:rPr lang="en-US" sz="800" b="1" spc="80" kern="0" dirty="0">
                <a:solidFill>
                  <a:srgbClr val="F4B942"/>
                </a:solidFill>
                <a:latin typeface="Aptos" pitchFamily="34" charset="0"/>
                <a:ea typeface="Aptos" pitchFamily="34" charset="-122"/>
                <a:cs typeface="Aptos" pitchFamily="34" charset="-120"/>
              </a:rPr>
              <a:t>KNOWN LIMIT</a:t>
            </a:r>
            <a:endParaRPr lang="en-US" sz="800" dirty="0"/>
          </a:p>
        </p:txBody>
      </p:sp>
      <p:sp>
        <p:nvSpPr>
          <p:cNvPr id="45" name="Text 43"/>
          <p:cNvSpPr/>
          <p:nvPr/>
        </p:nvSpPr>
        <p:spPr>
          <a:xfrm>
            <a:off x="7424928" y="4892040"/>
            <a:ext cx="3794760" cy="548640"/>
          </a:xfrm>
          <a:prstGeom prst="rect">
            <a:avLst/>
          </a:prstGeom>
          <a:noFill/>
          <a:ln/>
        </p:spPr>
        <p:txBody>
          <a:bodyPr wrap="square" lIns="0" tIns="0" rIns="0" bIns="0" rtlCol="0" anchor="ctr">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Scanned image-only PDFs need OCR; source permissions are not yet enforced at indexing / retrieval.</a:t>
            </a:r>
            <a:endParaRPr lang="en-US" sz="90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06 / RETRIEVAL-AUGMENTED GENERATION</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The model answers from retrieved evidence—not from a blank prompt</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RAG connects the user question to the passages most relevant to the current document corpus.</a:t>
            </a:r>
            <a:endParaRPr lang="en-US" sz="1100" dirty="0"/>
          </a:p>
        </p:txBody>
      </p:sp>
      <p:sp>
        <p:nvSpPr>
          <p:cNvPr id="5" name="Shape 3"/>
          <p:cNvSpPr/>
          <p:nvPr/>
        </p:nvSpPr>
        <p:spPr>
          <a:xfrm>
            <a:off x="640080" y="1965960"/>
            <a:ext cx="1965960" cy="1737360"/>
          </a:xfrm>
          <a:prstGeom prst="roundRect">
            <a:avLst>
              <a:gd name="adj" fmla="val 6316"/>
            </a:avLst>
          </a:prstGeom>
          <a:solidFill>
            <a:srgbClr val="FFFFFF"/>
          </a:solidFill>
          <a:ln w="10160">
            <a:solidFill>
              <a:srgbClr val="DEE6EF"/>
            </a:solidFill>
            <a:prstDash val="solid"/>
          </a:ln>
        </p:spPr>
      </p:sp>
      <p:sp>
        <p:nvSpPr>
          <p:cNvPr id="6" name="Shape 4"/>
          <p:cNvSpPr/>
          <p:nvPr/>
        </p:nvSpPr>
        <p:spPr>
          <a:xfrm>
            <a:off x="804672" y="2148840"/>
            <a:ext cx="384048" cy="256032"/>
          </a:xfrm>
          <a:prstGeom prst="roundRect">
            <a:avLst>
              <a:gd name="adj" fmla="val 42857"/>
            </a:avLst>
          </a:prstGeom>
          <a:solidFill>
            <a:srgbClr val="DFF4FF"/>
          </a:solidFill>
          <a:ln w="3810">
            <a:solidFill>
              <a:srgbClr val="DFF4FF"/>
            </a:solidFill>
            <a:prstDash val="solid"/>
          </a:ln>
        </p:spPr>
      </p:sp>
      <p:sp>
        <p:nvSpPr>
          <p:cNvPr id="7" name="Text 5"/>
          <p:cNvSpPr/>
          <p:nvPr/>
        </p:nvSpPr>
        <p:spPr>
          <a:xfrm>
            <a:off x="859536" y="2162556"/>
            <a:ext cx="27432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52238"/>
                </a:solidFill>
                <a:latin typeface="Aptos" pitchFamily="34" charset="0"/>
                <a:ea typeface="Aptos" pitchFamily="34" charset="-122"/>
                <a:cs typeface="Aptos" pitchFamily="34" charset="-120"/>
              </a:rPr>
              <a:t>01</a:t>
            </a:r>
            <a:endParaRPr lang="en-US" sz="850" dirty="0"/>
          </a:p>
        </p:txBody>
      </p:sp>
      <p:sp>
        <p:nvSpPr>
          <p:cNvPr id="8" name="Text 6"/>
          <p:cNvSpPr/>
          <p:nvPr/>
        </p:nvSpPr>
        <p:spPr>
          <a:xfrm>
            <a:off x="804672" y="2615184"/>
            <a:ext cx="1636776" cy="256032"/>
          </a:xfrm>
          <a:prstGeom prst="rect">
            <a:avLst/>
          </a:prstGeom>
          <a:noFill/>
          <a:ln/>
        </p:spPr>
        <p:txBody>
          <a:bodyPr wrap="square" lIns="0" tIns="0" rIns="0" bIns="0" rtlCol="0" anchor="ctr">
            <a:normAutofit/>
          </a:bodyPr>
          <a:lstStyle/>
          <a:p>
            <a:pPr algn="l" indent="0" marL="0">
              <a:buNone/>
            </a:pPr>
            <a:r>
              <a:rPr lang="en-US" sz="1200" b="1" dirty="0">
                <a:solidFill>
                  <a:srgbClr val="152238"/>
                </a:solidFill>
                <a:latin typeface="Aptos" pitchFamily="34" charset="0"/>
                <a:ea typeface="Aptos" pitchFamily="34" charset="-122"/>
                <a:cs typeface="Aptos" pitchFamily="34" charset="-120"/>
              </a:rPr>
              <a:t>Question</a:t>
            </a:r>
            <a:endParaRPr lang="en-US" sz="1200" dirty="0"/>
          </a:p>
        </p:txBody>
      </p:sp>
      <p:sp>
        <p:nvSpPr>
          <p:cNvPr id="9" name="Text 7"/>
          <p:cNvSpPr/>
          <p:nvPr/>
        </p:nvSpPr>
        <p:spPr>
          <a:xfrm>
            <a:off x="804672" y="2971800"/>
            <a:ext cx="1636776" cy="457200"/>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“What is the meal limit?”</a:t>
            </a:r>
            <a:endParaRPr lang="en-US" sz="900" dirty="0"/>
          </a:p>
        </p:txBody>
      </p:sp>
      <p:sp>
        <p:nvSpPr>
          <p:cNvPr id="10" name="Shape 8"/>
          <p:cNvSpPr/>
          <p:nvPr/>
        </p:nvSpPr>
        <p:spPr>
          <a:xfrm>
            <a:off x="2633472" y="2788920"/>
            <a:ext cx="109728" cy="0"/>
          </a:xfrm>
          <a:prstGeom prst="line">
            <a:avLst/>
          </a:prstGeom>
          <a:noFill/>
          <a:ln w="17780">
            <a:solidFill>
              <a:srgbClr val="8DA1B7"/>
            </a:solidFill>
            <a:prstDash val="solid"/>
            <a:tailEnd type="triangle"/>
          </a:ln>
        </p:spPr>
      </p:sp>
      <p:sp>
        <p:nvSpPr>
          <p:cNvPr id="11" name="Shape 9"/>
          <p:cNvSpPr/>
          <p:nvPr/>
        </p:nvSpPr>
        <p:spPr>
          <a:xfrm>
            <a:off x="2798064" y="1965960"/>
            <a:ext cx="1965960" cy="1737360"/>
          </a:xfrm>
          <a:prstGeom prst="roundRect">
            <a:avLst>
              <a:gd name="adj" fmla="val 6316"/>
            </a:avLst>
          </a:prstGeom>
          <a:solidFill>
            <a:srgbClr val="FFFFFF"/>
          </a:solidFill>
          <a:ln w="10160">
            <a:solidFill>
              <a:srgbClr val="DEE6EF"/>
            </a:solidFill>
            <a:prstDash val="solid"/>
          </a:ln>
        </p:spPr>
      </p:sp>
      <p:sp>
        <p:nvSpPr>
          <p:cNvPr id="12" name="Shape 10"/>
          <p:cNvSpPr/>
          <p:nvPr/>
        </p:nvSpPr>
        <p:spPr>
          <a:xfrm>
            <a:off x="2962656" y="2148840"/>
            <a:ext cx="384048" cy="256032"/>
          </a:xfrm>
          <a:prstGeom prst="roundRect">
            <a:avLst>
              <a:gd name="adj" fmla="val 42857"/>
            </a:avLst>
          </a:prstGeom>
          <a:solidFill>
            <a:srgbClr val="DDF8F3"/>
          </a:solidFill>
          <a:ln w="3810">
            <a:solidFill>
              <a:srgbClr val="DDF8F3"/>
            </a:solidFill>
            <a:prstDash val="solid"/>
          </a:ln>
        </p:spPr>
      </p:sp>
      <p:sp>
        <p:nvSpPr>
          <p:cNvPr id="13" name="Text 11"/>
          <p:cNvSpPr/>
          <p:nvPr/>
        </p:nvSpPr>
        <p:spPr>
          <a:xfrm>
            <a:off x="3017520" y="2162556"/>
            <a:ext cx="27432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52238"/>
                </a:solidFill>
                <a:latin typeface="Aptos" pitchFamily="34" charset="0"/>
                <a:ea typeface="Aptos" pitchFamily="34" charset="-122"/>
                <a:cs typeface="Aptos" pitchFamily="34" charset="-120"/>
              </a:rPr>
              <a:t>02</a:t>
            </a:r>
            <a:endParaRPr lang="en-US" sz="850" dirty="0"/>
          </a:p>
        </p:txBody>
      </p:sp>
      <p:sp>
        <p:nvSpPr>
          <p:cNvPr id="14" name="Text 12"/>
          <p:cNvSpPr/>
          <p:nvPr/>
        </p:nvSpPr>
        <p:spPr>
          <a:xfrm>
            <a:off x="2962656" y="2615184"/>
            <a:ext cx="1636776" cy="256032"/>
          </a:xfrm>
          <a:prstGeom prst="rect">
            <a:avLst/>
          </a:prstGeom>
          <a:noFill/>
          <a:ln/>
        </p:spPr>
        <p:txBody>
          <a:bodyPr wrap="square" lIns="0" tIns="0" rIns="0" bIns="0" rtlCol="0" anchor="ctr">
            <a:normAutofit/>
          </a:bodyPr>
          <a:lstStyle/>
          <a:p>
            <a:pPr algn="l" indent="0" marL="0">
              <a:buNone/>
            </a:pPr>
            <a:r>
              <a:rPr lang="en-US" sz="1200" b="1" dirty="0">
                <a:solidFill>
                  <a:srgbClr val="152238"/>
                </a:solidFill>
                <a:latin typeface="Aptos" pitchFamily="34" charset="0"/>
                <a:ea typeface="Aptos" pitchFamily="34" charset="-122"/>
                <a:cs typeface="Aptos" pitchFamily="34" charset="-120"/>
              </a:rPr>
              <a:t>Query embedding</a:t>
            </a:r>
            <a:endParaRPr lang="en-US" sz="1200" dirty="0"/>
          </a:p>
        </p:txBody>
      </p:sp>
      <p:sp>
        <p:nvSpPr>
          <p:cNvPr id="15" name="Text 13"/>
          <p:cNvSpPr/>
          <p:nvPr/>
        </p:nvSpPr>
        <p:spPr>
          <a:xfrm>
            <a:off x="2962656" y="2971800"/>
            <a:ext cx="1636776" cy="457200"/>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Represent the question as a vector.</a:t>
            </a:r>
            <a:endParaRPr lang="en-US" sz="900" dirty="0"/>
          </a:p>
        </p:txBody>
      </p:sp>
      <p:sp>
        <p:nvSpPr>
          <p:cNvPr id="16" name="Shape 14"/>
          <p:cNvSpPr/>
          <p:nvPr/>
        </p:nvSpPr>
        <p:spPr>
          <a:xfrm>
            <a:off x="4791456" y="2788920"/>
            <a:ext cx="109728" cy="0"/>
          </a:xfrm>
          <a:prstGeom prst="line">
            <a:avLst/>
          </a:prstGeom>
          <a:noFill/>
          <a:ln w="17780">
            <a:solidFill>
              <a:srgbClr val="8DA1B7"/>
            </a:solidFill>
            <a:prstDash val="solid"/>
            <a:tailEnd type="triangle"/>
          </a:ln>
        </p:spPr>
      </p:sp>
      <p:sp>
        <p:nvSpPr>
          <p:cNvPr id="17" name="Shape 15"/>
          <p:cNvSpPr/>
          <p:nvPr/>
        </p:nvSpPr>
        <p:spPr>
          <a:xfrm>
            <a:off x="4956048" y="1965960"/>
            <a:ext cx="1965960" cy="1737360"/>
          </a:xfrm>
          <a:prstGeom prst="roundRect">
            <a:avLst>
              <a:gd name="adj" fmla="val 6316"/>
            </a:avLst>
          </a:prstGeom>
          <a:solidFill>
            <a:srgbClr val="FFFFFF"/>
          </a:solidFill>
          <a:ln w="10160">
            <a:solidFill>
              <a:srgbClr val="DEE6EF"/>
            </a:solidFill>
            <a:prstDash val="solid"/>
          </a:ln>
        </p:spPr>
      </p:sp>
      <p:sp>
        <p:nvSpPr>
          <p:cNvPr id="18" name="Shape 16"/>
          <p:cNvSpPr/>
          <p:nvPr/>
        </p:nvSpPr>
        <p:spPr>
          <a:xfrm>
            <a:off x="5120640" y="2148840"/>
            <a:ext cx="384048" cy="256032"/>
          </a:xfrm>
          <a:prstGeom prst="roundRect">
            <a:avLst>
              <a:gd name="adj" fmla="val 42857"/>
            </a:avLst>
          </a:prstGeom>
          <a:solidFill>
            <a:srgbClr val="FFF3D6"/>
          </a:solidFill>
          <a:ln w="3810">
            <a:solidFill>
              <a:srgbClr val="FFF3D6"/>
            </a:solidFill>
            <a:prstDash val="solid"/>
          </a:ln>
        </p:spPr>
      </p:sp>
      <p:sp>
        <p:nvSpPr>
          <p:cNvPr id="19" name="Text 17"/>
          <p:cNvSpPr/>
          <p:nvPr/>
        </p:nvSpPr>
        <p:spPr>
          <a:xfrm>
            <a:off x="5175504" y="2162556"/>
            <a:ext cx="27432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52238"/>
                </a:solidFill>
                <a:latin typeface="Aptos" pitchFamily="34" charset="0"/>
                <a:ea typeface="Aptos" pitchFamily="34" charset="-122"/>
                <a:cs typeface="Aptos" pitchFamily="34" charset="-120"/>
              </a:rPr>
              <a:t>03</a:t>
            </a:r>
            <a:endParaRPr lang="en-US" sz="850" dirty="0"/>
          </a:p>
        </p:txBody>
      </p:sp>
      <p:sp>
        <p:nvSpPr>
          <p:cNvPr id="20" name="Text 18"/>
          <p:cNvSpPr/>
          <p:nvPr/>
        </p:nvSpPr>
        <p:spPr>
          <a:xfrm>
            <a:off x="5120640" y="2615184"/>
            <a:ext cx="1636776" cy="256032"/>
          </a:xfrm>
          <a:prstGeom prst="rect">
            <a:avLst/>
          </a:prstGeom>
          <a:noFill/>
          <a:ln/>
        </p:spPr>
        <p:txBody>
          <a:bodyPr wrap="square" lIns="0" tIns="0" rIns="0" bIns="0" rtlCol="0" anchor="ctr">
            <a:normAutofit/>
          </a:bodyPr>
          <a:lstStyle/>
          <a:p>
            <a:pPr algn="l" indent="0" marL="0">
              <a:buNone/>
            </a:pPr>
            <a:r>
              <a:rPr lang="en-US" sz="1200" b="1" dirty="0">
                <a:solidFill>
                  <a:srgbClr val="152238"/>
                </a:solidFill>
                <a:latin typeface="Aptos" pitchFamily="34" charset="0"/>
                <a:ea typeface="Aptos" pitchFamily="34" charset="-122"/>
                <a:cs typeface="Aptos" pitchFamily="34" charset="-120"/>
              </a:rPr>
              <a:t>Similarity search</a:t>
            </a:r>
            <a:endParaRPr lang="en-US" sz="1200" dirty="0"/>
          </a:p>
        </p:txBody>
      </p:sp>
      <p:sp>
        <p:nvSpPr>
          <p:cNvPr id="21" name="Text 19"/>
          <p:cNvSpPr/>
          <p:nvPr/>
        </p:nvSpPr>
        <p:spPr>
          <a:xfrm>
            <a:off x="5120640" y="2971800"/>
            <a:ext cx="1636776" cy="457200"/>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Search Chroma for top-k chunks.</a:t>
            </a:r>
            <a:endParaRPr lang="en-US" sz="900" dirty="0"/>
          </a:p>
        </p:txBody>
      </p:sp>
      <p:sp>
        <p:nvSpPr>
          <p:cNvPr id="22" name="Shape 20"/>
          <p:cNvSpPr/>
          <p:nvPr/>
        </p:nvSpPr>
        <p:spPr>
          <a:xfrm>
            <a:off x="6949440" y="2788920"/>
            <a:ext cx="109728" cy="0"/>
          </a:xfrm>
          <a:prstGeom prst="line">
            <a:avLst/>
          </a:prstGeom>
          <a:noFill/>
          <a:ln w="17780">
            <a:solidFill>
              <a:srgbClr val="8DA1B7"/>
            </a:solidFill>
            <a:prstDash val="solid"/>
            <a:tailEnd type="triangle"/>
          </a:ln>
        </p:spPr>
      </p:sp>
      <p:sp>
        <p:nvSpPr>
          <p:cNvPr id="23" name="Shape 21"/>
          <p:cNvSpPr/>
          <p:nvPr/>
        </p:nvSpPr>
        <p:spPr>
          <a:xfrm>
            <a:off x="7114032" y="1965960"/>
            <a:ext cx="1965960" cy="1737360"/>
          </a:xfrm>
          <a:prstGeom prst="roundRect">
            <a:avLst>
              <a:gd name="adj" fmla="val 6316"/>
            </a:avLst>
          </a:prstGeom>
          <a:solidFill>
            <a:srgbClr val="FFFFFF"/>
          </a:solidFill>
          <a:ln w="10160">
            <a:solidFill>
              <a:srgbClr val="DEE6EF"/>
            </a:solidFill>
            <a:prstDash val="solid"/>
          </a:ln>
        </p:spPr>
      </p:sp>
      <p:sp>
        <p:nvSpPr>
          <p:cNvPr id="24" name="Shape 22"/>
          <p:cNvSpPr/>
          <p:nvPr/>
        </p:nvSpPr>
        <p:spPr>
          <a:xfrm>
            <a:off x="7278624" y="2148840"/>
            <a:ext cx="384048" cy="256032"/>
          </a:xfrm>
          <a:prstGeom prst="roundRect">
            <a:avLst>
              <a:gd name="adj" fmla="val 42857"/>
            </a:avLst>
          </a:prstGeom>
          <a:solidFill>
            <a:srgbClr val="E2F6EF"/>
          </a:solidFill>
          <a:ln w="3810">
            <a:solidFill>
              <a:srgbClr val="E2F6EF"/>
            </a:solidFill>
            <a:prstDash val="solid"/>
          </a:ln>
        </p:spPr>
      </p:sp>
      <p:sp>
        <p:nvSpPr>
          <p:cNvPr id="25" name="Text 23"/>
          <p:cNvSpPr/>
          <p:nvPr/>
        </p:nvSpPr>
        <p:spPr>
          <a:xfrm>
            <a:off x="7333488" y="2162556"/>
            <a:ext cx="27432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52238"/>
                </a:solidFill>
                <a:latin typeface="Aptos" pitchFamily="34" charset="0"/>
                <a:ea typeface="Aptos" pitchFamily="34" charset="-122"/>
                <a:cs typeface="Aptos" pitchFamily="34" charset="-120"/>
              </a:rPr>
              <a:t>04</a:t>
            </a:r>
            <a:endParaRPr lang="en-US" sz="850" dirty="0"/>
          </a:p>
        </p:txBody>
      </p:sp>
      <p:sp>
        <p:nvSpPr>
          <p:cNvPr id="26" name="Text 24"/>
          <p:cNvSpPr/>
          <p:nvPr/>
        </p:nvSpPr>
        <p:spPr>
          <a:xfrm>
            <a:off x="7278624" y="2615184"/>
            <a:ext cx="1636776" cy="256032"/>
          </a:xfrm>
          <a:prstGeom prst="rect">
            <a:avLst/>
          </a:prstGeom>
          <a:noFill/>
          <a:ln/>
        </p:spPr>
        <p:txBody>
          <a:bodyPr wrap="square" lIns="0" tIns="0" rIns="0" bIns="0" rtlCol="0" anchor="ctr">
            <a:normAutofit/>
          </a:bodyPr>
          <a:lstStyle/>
          <a:p>
            <a:pPr algn="l" indent="0" marL="0">
              <a:buNone/>
            </a:pPr>
            <a:r>
              <a:rPr lang="en-US" sz="1200" b="1" dirty="0">
                <a:solidFill>
                  <a:srgbClr val="152238"/>
                </a:solidFill>
                <a:latin typeface="Aptos" pitchFamily="34" charset="0"/>
                <a:ea typeface="Aptos" pitchFamily="34" charset="-122"/>
                <a:cs typeface="Aptos" pitchFamily="34" charset="-120"/>
              </a:rPr>
              <a:t>Evidence context</a:t>
            </a:r>
            <a:endParaRPr lang="en-US" sz="1200" dirty="0"/>
          </a:p>
        </p:txBody>
      </p:sp>
      <p:sp>
        <p:nvSpPr>
          <p:cNvPr id="27" name="Text 25"/>
          <p:cNvSpPr/>
          <p:nvPr/>
        </p:nvSpPr>
        <p:spPr>
          <a:xfrm>
            <a:off x="7278624" y="2971800"/>
            <a:ext cx="1636776" cy="457200"/>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Assign [S1], [S2], [S3] IDs.</a:t>
            </a:r>
            <a:endParaRPr lang="en-US" sz="900" dirty="0"/>
          </a:p>
        </p:txBody>
      </p:sp>
      <p:sp>
        <p:nvSpPr>
          <p:cNvPr id="28" name="Shape 26"/>
          <p:cNvSpPr/>
          <p:nvPr/>
        </p:nvSpPr>
        <p:spPr>
          <a:xfrm>
            <a:off x="9107424" y="2788920"/>
            <a:ext cx="109728" cy="0"/>
          </a:xfrm>
          <a:prstGeom prst="line">
            <a:avLst/>
          </a:prstGeom>
          <a:noFill/>
          <a:ln w="17780">
            <a:solidFill>
              <a:srgbClr val="8DA1B7"/>
            </a:solidFill>
            <a:prstDash val="solid"/>
            <a:tailEnd type="triangle"/>
          </a:ln>
        </p:spPr>
      </p:sp>
      <p:sp>
        <p:nvSpPr>
          <p:cNvPr id="29" name="Shape 27"/>
          <p:cNvSpPr/>
          <p:nvPr/>
        </p:nvSpPr>
        <p:spPr>
          <a:xfrm>
            <a:off x="9272016" y="1965960"/>
            <a:ext cx="2240280" cy="1737360"/>
          </a:xfrm>
          <a:prstGeom prst="roundRect">
            <a:avLst>
              <a:gd name="adj" fmla="val 6316"/>
            </a:avLst>
          </a:prstGeom>
          <a:solidFill>
            <a:srgbClr val="FFFFFF"/>
          </a:solidFill>
          <a:ln w="10160">
            <a:solidFill>
              <a:srgbClr val="DEE6EF"/>
            </a:solidFill>
            <a:prstDash val="solid"/>
          </a:ln>
        </p:spPr>
      </p:sp>
      <p:sp>
        <p:nvSpPr>
          <p:cNvPr id="30" name="Shape 28"/>
          <p:cNvSpPr/>
          <p:nvPr/>
        </p:nvSpPr>
        <p:spPr>
          <a:xfrm>
            <a:off x="9436608" y="2148840"/>
            <a:ext cx="384048" cy="256032"/>
          </a:xfrm>
          <a:prstGeom prst="roundRect">
            <a:avLst>
              <a:gd name="adj" fmla="val 42857"/>
            </a:avLst>
          </a:prstGeom>
          <a:solidFill>
            <a:srgbClr val="DFF4FF"/>
          </a:solidFill>
          <a:ln w="3810">
            <a:solidFill>
              <a:srgbClr val="DFF4FF"/>
            </a:solidFill>
            <a:prstDash val="solid"/>
          </a:ln>
        </p:spPr>
      </p:sp>
      <p:sp>
        <p:nvSpPr>
          <p:cNvPr id="31" name="Text 29"/>
          <p:cNvSpPr/>
          <p:nvPr/>
        </p:nvSpPr>
        <p:spPr>
          <a:xfrm>
            <a:off x="9491472" y="2162556"/>
            <a:ext cx="27432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52238"/>
                </a:solidFill>
                <a:latin typeface="Aptos" pitchFamily="34" charset="0"/>
                <a:ea typeface="Aptos" pitchFamily="34" charset="-122"/>
                <a:cs typeface="Aptos" pitchFamily="34" charset="-120"/>
              </a:rPr>
              <a:t>05</a:t>
            </a:r>
            <a:endParaRPr lang="en-US" sz="850" dirty="0"/>
          </a:p>
        </p:txBody>
      </p:sp>
      <p:sp>
        <p:nvSpPr>
          <p:cNvPr id="32" name="Text 30"/>
          <p:cNvSpPr/>
          <p:nvPr/>
        </p:nvSpPr>
        <p:spPr>
          <a:xfrm>
            <a:off x="9436608" y="2615184"/>
            <a:ext cx="1911096" cy="256032"/>
          </a:xfrm>
          <a:prstGeom prst="rect">
            <a:avLst/>
          </a:prstGeom>
          <a:noFill/>
          <a:ln/>
        </p:spPr>
        <p:txBody>
          <a:bodyPr wrap="square" lIns="0" tIns="0" rIns="0" bIns="0" rtlCol="0" anchor="ctr">
            <a:normAutofit/>
          </a:bodyPr>
          <a:lstStyle/>
          <a:p>
            <a:pPr algn="l" indent="0" marL="0">
              <a:buNone/>
            </a:pPr>
            <a:r>
              <a:rPr lang="en-US" sz="1200" b="1" dirty="0">
                <a:solidFill>
                  <a:srgbClr val="152238"/>
                </a:solidFill>
                <a:latin typeface="Aptos" pitchFamily="34" charset="0"/>
                <a:ea typeface="Aptos" pitchFamily="34" charset="-122"/>
                <a:cs typeface="Aptos" pitchFamily="34" charset="-120"/>
              </a:rPr>
              <a:t>Grounded answer</a:t>
            </a:r>
            <a:endParaRPr lang="en-US" sz="1200" dirty="0"/>
          </a:p>
        </p:txBody>
      </p:sp>
      <p:sp>
        <p:nvSpPr>
          <p:cNvPr id="33" name="Text 31"/>
          <p:cNvSpPr/>
          <p:nvPr/>
        </p:nvSpPr>
        <p:spPr>
          <a:xfrm>
            <a:off x="9436608" y="2971800"/>
            <a:ext cx="1911096" cy="457200"/>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Generate a cited response.</a:t>
            </a:r>
            <a:endParaRPr lang="en-US" sz="900" dirty="0"/>
          </a:p>
        </p:txBody>
      </p:sp>
      <p:sp>
        <p:nvSpPr>
          <p:cNvPr id="34" name="Shape 32"/>
          <p:cNvSpPr/>
          <p:nvPr/>
        </p:nvSpPr>
        <p:spPr>
          <a:xfrm>
            <a:off x="658368" y="4160520"/>
            <a:ext cx="5257800" cy="1417320"/>
          </a:xfrm>
          <a:prstGeom prst="roundRect">
            <a:avLst>
              <a:gd name="adj" fmla="val 7742"/>
            </a:avLst>
          </a:prstGeom>
          <a:solidFill>
            <a:srgbClr val="0B1220"/>
          </a:solidFill>
          <a:ln w="7620">
            <a:solidFill>
              <a:srgbClr val="0B1220"/>
            </a:solidFill>
            <a:prstDash val="solid"/>
          </a:ln>
        </p:spPr>
      </p:sp>
      <p:sp>
        <p:nvSpPr>
          <p:cNvPr id="35" name="Text 33"/>
          <p:cNvSpPr/>
          <p:nvPr/>
        </p:nvSpPr>
        <p:spPr>
          <a:xfrm>
            <a:off x="896112" y="4370832"/>
            <a:ext cx="2743200" cy="182880"/>
          </a:xfrm>
          <a:prstGeom prst="rect">
            <a:avLst/>
          </a:prstGeom>
          <a:noFill/>
          <a:ln/>
        </p:spPr>
        <p:txBody>
          <a:bodyPr wrap="square" lIns="0" tIns="0" rIns="0" bIns="0" rtlCol="0" anchor="ctr">
            <a:normAutofit/>
          </a:bodyPr>
          <a:lstStyle/>
          <a:p>
            <a:pPr algn="l" indent="0" marL="0">
              <a:buNone/>
            </a:pPr>
            <a:r>
              <a:rPr lang="en-US" sz="900" b="1" spc="80" kern="0" dirty="0">
                <a:solidFill>
                  <a:srgbClr val="3ABFF8"/>
                </a:solidFill>
                <a:latin typeface="Aptos" pitchFamily="34" charset="0"/>
                <a:ea typeface="Aptos" pitchFamily="34" charset="-122"/>
                <a:cs typeface="Aptos" pitchFamily="34" charset="-120"/>
              </a:rPr>
              <a:t>RETRIEVED EVIDENCE  [S1]</a:t>
            </a:r>
            <a:endParaRPr lang="en-US" sz="900" dirty="0"/>
          </a:p>
        </p:txBody>
      </p:sp>
      <p:sp>
        <p:nvSpPr>
          <p:cNvPr id="36" name="Text 34"/>
          <p:cNvSpPr/>
          <p:nvPr/>
        </p:nvSpPr>
        <p:spPr>
          <a:xfrm>
            <a:off x="896112" y="4709160"/>
            <a:ext cx="4681728" cy="566928"/>
          </a:xfrm>
          <a:prstGeom prst="rect">
            <a:avLst/>
          </a:prstGeom>
          <a:noFill/>
          <a:ln/>
        </p:spPr>
        <p:txBody>
          <a:bodyPr wrap="square" lIns="0" tIns="0" rIns="0" bIns="0" rtlCol="0" anchor="t">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“The standard meal expense limit is INR 1,200 per employee per day while travelling on approved business.”</a:t>
            </a:r>
            <a:endParaRPr lang="en-US" sz="1200" dirty="0"/>
          </a:p>
        </p:txBody>
      </p:sp>
      <p:sp>
        <p:nvSpPr>
          <p:cNvPr id="37" name="Shape 35"/>
          <p:cNvSpPr/>
          <p:nvPr/>
        </p:nvSpPr>
        <p:spPr>
          <a:xfrm>
            <a:off x="6236208" y="4160520"/>
            <a:ext cx="5285232" cy="1417320"/>
          </a:xfrm>
          <a:prstGeom prst="roundRect">
            <a:avLst>
              <a:gd name="adj" fmla="val 7742"/>
            </a:avLst>
          </a:prstGeom>
          <a:solidFill>
            <a:srgbClr val="FFFFFF"/>
          </a:solidFill>
          <a:ln w="8890">
            <a:solidFill>
              <a:srgbClr val="DEE6EF"/>
            </a:solidFill>
            <a:prstDash val="solid"/>
          </a:ln>
        </p:spPr>
      </p:sp>
      <p:sp>
        <p:nvSpPr>
          <p:cNvPr id="38" name="Text 36"/>
          <p:cNvSpPr/>
          <p:nvPr/>
        </p:nvSpPr>
        <p:spPr>
          <a:xfrm>
            <a:off x="6473952" y="4370832"/>
            <a:ext cx="1097280" cy="182880"/>
          </a:xfrm>
          <a:prstGeom prst="rect">
            <a:avLst/>
          </a:prstGeom>
          <a:noFill/>
          <a:ln/>
        </p:spPr>
        <p:txBody>
          <a:bodyPr wrap="square" lIns="0" tIns="0" rIns="0" bIns="0" rtlCol="0" anchor="ctr">
            <a:normAutofit/>
          </a:bodyPr>
          <a:lstStyle/>
          <a:p>
            <a:pPr algn="l" indent="0" marL="0">
              <a:buNone/>
            </a:pPr>
            <a:r>
              <a:rPr lang="en-US" sz="900" b="1" spc="80" kern="0" dirty="0">
                <a:solidFill>
                  <a:srgbClr val="05BFA8"/>
                </a:solidFill>
                <a:latin typeface="Aptos" pitchFamily="34" charset="0"/>
                <a:ea typeface="Aptos" pitchFamily="34" charset="-122"/>
                <a:cs typeface="Aptos" pitchFamily="34" charset="-120"/>
              </a:rPr>
              <a:t>ANSWER</a:t>
            </a:r>
            <a:endParaRPr lang="en-US" sz="900" dirty="0"/>
          </a:p>
        </p:txBody>
      </p:sp>
      <p:sp>
        <p:nvSpPr>
          <p:cNvPr id="39" name="Text 37"/>
          <p:cNvSpPr/>
          <p:nvPr/>
        </p:nvSpPr>
        <p:spPr>
          <a:xfrm>
            <a:off x="6473952" y="4709160"/>
            <a:ext cx="4617720" cy="502920"/>
          </a:xfrm>
          <a:prstGeom prst="rect">
            <a:avLst/>
          </a:prstGeom>
          <a:noFill/>
          <a:ln/>
        </p:spPr>
        <p:txBody>
          <a:bodyPr wrap="square" lIns="0" tIns="0" rIns="0" bIns="0" rtlCol="0" anchor="t">
            <a:normAutofit/>
          </a:bodyPr>
          <a:lstStyle/>
          <a:p>
            <a:pPr algn="l" indent="0" marL="0">
              <a:buNone/>
            </a:pPr>
            <a:r>
              <a:rPr lang="en-US" sz="1300" b="1" dirty="0">
                <a:solidFill>
                  <a:srgbClr val="152238"/>
                </a:solidFill>
                <a:latin typeface="Aptos" pitchFamily="34" charset="0"/>
                <a:ea typeface="Aptos" pitchFamily="34" charset="-122"/>
                <a:cs typeface="Aptos" pitchFamily="34" charset="-120"/>
              </a:rPr>
              <a:t>INR 1,200 per employee per day for approved business travel. [S1]</a:t>
            </a:r>
            <a:endParaRPr lang="en-US" sz="1300" dirty="0"/>
          </a:p>
        </p:txBody>
      </p:sp>
      <p:sp>
        <p:nvSpPr>
          <p:cNvPr id="40" name="Text 38"/>
          <p:cNvSpPr/>
          <p:nvPr/>
        </p:nvSpPr>
        <p:spPr>
          <a:xfrm>
            <a:off x="685800" y="5897880"/>
            <a:ext cx="10789920" cy="182880"/>
          </a:xfrm>
          <a:prstGeom prst="rect">
            <a:avLst/>
          </a:prstGeom>
          <a:noFill/>
          <a:ln/>
        </p:spPr>
        <p:txBody>
          <a:bodyPr wrap="square" lIns="0" tIns="0" rIns="0" bIns="0" rtlCol="0" anchor="ctr">
            <a:normAutofit/>
          </a:bodyPr>
          <a:lstStyle/>
          <a:p>
            <a:pPr algn="l" indent="0" marL="0">
              <a:buNone/>
            </a:pPr>
            <a:r>
              <a:rPr lang="en-US" sz="900" i="1" dirty="0">
                <a:solidFill>
                  <a:srgbClr val="59697D"/>
                </a:solidFill>
                <a:latin typeface="Aptos" pitchFamily="34" charset="0"/>
                <a:ea typeface="Aptos" pitchFamily="34" charset="-122"/>
                <a:cs typeface="Aptos" pitchFamily="34" charset="-120"/>
              </a:rPr>
              <a:t>Relevance scores are retrieval signals, not calibrated confidence scores.</a:t>
            </a:r>
            <a:endParaRPr lang="en-US" sz="90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07 / AGENT ORCHESTRATION</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A bounded graph separates research, synthesis and validation</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Each node has a single responsibility; conditional retry is limited to avoid uncontrolled loops.</a:t>
            </a:r>
            <a:endParaRPr lang="en-US" sz="1100" dirty="0"/>
          </a:p>
        </p:txBody>
      </p:sp>
      <p:sp>
        <p:nvSpPr>
          <p:cNvPr id="5" name="Shape 3"/>
          <p:cNvSpPr/>
          <p:nvPr/>
        </p:nvSpPr>
        <p:spPr>
          <a:xfrm>
            <a:off x="777240" y="2103120"/>
            <a:ext cx="2286000" cy="1234440"/>
          </a:xfrm>
          <a:prstGeom prst="roundRect">
            <a:avLst>
              <a:gd name="adj" fmla="val 8889"/>
            </a:avLst>
          </a:prstGeom>
          <a:solidFill>
            <a:srgbClr val="DFF4FF"/>
          </a:solidFill>
          <a:ln w="11430">
            <a:solidFill>
              <a:srgbClr val="B7E6F7"/>
            </a:solidFill>
            <a:prstDash val="solid"/>
          </a:ln>
        </p:spPr>
      </p:sp>
      <p:sp>
        <p:nvSpPr>
          <p:cNvPr id="6" name="Shape 4"/>
          <p:cNvSpPr/>
          <p:nvPr/>
        </p:nvSpPr>
        <p:spPr>
          <a:xfrm>
            <a:off x="987552" y="2304288"/>
            <a:ext cx="658368" cy="256032"/>
          </a:xfrm>
          <a:prstGeom prst="roundRect">
            <a:avLst>
              <a:gd name="adj" fmla="val 42857"/>
            </a:avLst>
          </a:prstGeom>
          <a:solidFill>
            <a:srgbClr val="3ABFF8"/>
          </a:solidFill>
          <a:ln w="3810">
            <a:solidFill>
              <a:srgbClr val="3ABFF8"/>
            </a:solidFill>
            <a:prstDash val="solid"/>
          </a:ln>
        </p:spPr>
      </p:sp>
      <p:sp>
        <p:nvSpPr>
          <p:cNvPr id="7" name="Text 5"/>
          <p:cNvSpPr/>
          <p:nvPr/>
        </p:nvSpPr>
        <p:spPr>
          <a:xfrm>
            <a:off x="1042416" y="2318004"/>
            <a:ext cx="54864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0B1220"/>
                </a:solidFill>
                <a:latin typeface="Aptos" pitchFamily="34" charset="0"/>
                <a:ea typeface="Aptos" pitchFamily="34" charset="-122"/>
                <a:cs typeface="Aptos" pitchFamily="34" charset="-120"/>
              </a:rPr>
              <a:t>NODE 01</a:t>
            </a:r>
            <a:endParaRPr lang="en-US" sz="850" dirty="0"/>
          </a:p>
        </p:txBody>
      </p:sp>
      <p:sp>
        <p:nvSpPr>
          <p:cNvPr id="8" name="Text 6"/>
          <p:cNvSpPr/>
          <p:nvPr/>
        </p:nvSpPr>
        <p:spPr>
          <a:xfrm>
            <a:off x="987552" y="2697480"/>
            <a:ext cx="1783080" cy="274320"/>
          </a:xfrm>
          <a:prstGeom prst="rect">
            <a:avLst/>
          </a:prstGeom>
          <a:noFill/>
          <a:ln/>
        </p:spPr>
        <p:txBody>
          <a:bodyPr wrap="square" lIns="0" tIns="0" rIns="0" bIns="0" rtlCol="0" anchor="ctr">
            <a:normAutofit/>
          </a:bodyPr>
          <a:lstStyle/>
          <a:p>
            <a:pPr algn="l" indent="0" marL="0">
              <a:buNone/>
            </a:pPr>
            <a:r>
              <a:rPr lang="en-US" sz="1700" b="1" dirty="0">
                <a:solidFill>
                  <a:srgbClr val="152238"/>
                </a:solidFill>
                <a:latin typeface="Aptos" pitchFamily="34" charset="0"/>
                <a:ea typeface="Aptos" pitchFamily="34" charset="-122"/>
                <a:cs typeface="Aptos" pitchFamily="34" charset="-120"/>
              </a:rPr>
              <a:t>Researcher</a:t>
            </a:r>
            <a:endParaRPr lang="en-US" sz="1700" dirty="0"/>
          </a:p>
        </p:txBody>
      </p:sp>
      <p:sp>
        <p:nvSpPr>
          <p:cNvPr id="9" name="Text 7"/>
          <p:cNvSpPr/>
          <p:nvPr/>
        </p:nvSpPr>
        <p:spPr>
          <a:xfrm>
            <a:off x="987552" y="3017520"/>
            <a:ext cx="1810512" cy="438912"/>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Retrieve top-k passages</a:t>
            </a:r>
            <a:endParaRPr lang="en-US" sz="900" dirty="0"/>
          </a:p>
          <a:p>
            <a:pPr algn="l" indent="0" marL="0">
              <a:buNone/>
            </a:pPr>
            <a:r>
              <a:rPr lang="en-US" sz="900" dirty="0">
                <a:solidFill>
                  <a:srgbClr val="59697D"/>
                </a:solidFill>
                <a:latin typeface="Aptos" pitchFamily="34" charset="0"/>
                <a:ea typeface="Aptos" pitchFamily="34" charset="-122"/>
                <a:cs typeface="Aptos" pitchFamily="34" charset="-120"/>
              </a:rPr>
              <a:t>Assign source IDs</a:t>
            </a:r>
            <a:endParaRPr lang="en-US" sz="900" dirty="0"/>
          </a:p>
        </p:txBody>
      </p:sp>
      <p:sp>
        <p:nvSpPr>
          <p:cNvPr id="10" name="Shape 8"/>
          <p:cNvSpPr/>
          <p:nvPr/>
        </p:nvSpPr>
        <p:spPr>
          <a:xfrm>
            <a:off x="3886200" y="2103120"/>
            <a:ext cx="2286000" cy="1234440"/>
          </a:xfrm>
          <a:prstGeom prst="roundRect">
            <a:avLst>
              <a:gd name="adj" fmla="val 8889"/>
            </a:avLst>
          </a:prstGeom>
          <a:solidFill>
            <a:srgbClr val="FFF3D6"/>
          </a:solidFill>
          <a:ln w="11430">
            <a:solidFill>
              <a:srgbClr val="F1D890"/>
            </a:solidFill>
            <a:prstDash val="solid"/>
          </a:ln>
        </p:spPr>
      </p:sp>
      <p:sp>
        <p:nvSpPr>
          <p:cNvPr id="11" name="Shape 9"/>
          <p:cNvSpPr/>
          <p:nvPr/>
        </p:nvSpPr>
        <p:spPr>
          <a:xfrm>
            <a:off x="4105656" y="2304288"/>
            <a:ext cx="658368" cy="256032"/>
          </a:xfrm>
          <a:prstGeom prst="roundRect">
            <a:avLst>
              <a:gd name="adj" fmla="val 42857"/>
            </a:avLst>
          </a:prstGeom>
          <a:solidFill>
            <a:srgbClr val="F4B942"/>
          </a:solidFill>
          <a:ln w="3810">
            <a:solidFill>
              <a:srgbClr val="F4B942"/>
            </a:solidFill>
            <a:prstDash val="solid"/>
          </a:ln>
        </p:spPr>
      </p:sp>
      <p:sp>
        <p:nvSpPr>
          <p:cNvPr id="12" name="Text 10"/>
          <p:cNvSpPr/>
          <p:nvPr/>
        </p:nvSpPr>
        <p:spPr>
          <a:xfrm>
            <a:off x="4160520" y="2318004"/>
            <a:ext cx="54864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0B1220"/>
                </a:solidFill>
                <a:latin typeface="Aptos" pitchFamily="34" charset="0"/>
                <a:ea typeface="Aptos" pitchFamily="34" charset="-122"/>
                <a:cs typeface="Aptos" pitchFamily="34" charset="-120"/>
              </a:rPr>
              <a:t>NODE 02</a:t>
            </a:r>
            <a:endParaRPr lang="en-US" sz="850" dirty="0"/>
          </a:p>
        </p:txBody>
      </p:sp>
      <p:sp>
        <p:nvSpPr>
          <p:cNvPr id="13" name="Text 11"/>
          <p:cNvSpPr/>
          <p:nvPr/>
        </p:nvSpPr>
        <p:spPr>
          <a:xfrm>
            <a:off x="4105656" y="2697480"/>
            <a:ext cx="1783080" cy="274320"/>
          </a:xfrm>
          <a:prstGeom prst="rect">
            <a:avLst/>
          </a:prstGeom>
          <a:noFill/>
          <a:ln/>
        </p:spPr>
        <p:txBody>
          <a:bodyPr wrap="square" lIns="0" tIns="0" rIns="0" bIns="0" rtlCol="0" anchor="ctr">
            <a:normAutofit/>
          </a:bodyPr>
          <a:lstStyle/>
          <a:p>
            <a:pPr algn="l" indent="0" marL="0">
              <a:buNone/>
            </a:pPr>
            <a:r>
              <a:rPr lang="en-US" sz="1700" b="1" dirty="0">
                <a:solidFill>
                  <a:srgbClr val="152238"/>
                </a:solidFill>
                <a:latin typeface="Aptos" pitchFamily="34" charset="0"/>
                <a:ea typeface="Aptos" pitchFamily="34" charset="-122"/>
                <a:cs typeface="Aptos" pitchFamily="34" charset="-120"/>
              </a:rPr>
              <a:t>Analyst</a:t>
            </a:r>
            <a:endParaRPr lang="en-US" sz="1700" dirty="0"/>
          </a:p>
        </p:txBody>
      </p:sp>
      <p:sp>
        <p:nvSpPr>
          <p:cNvPr id="14" name="Text 12"/>
          <p:cNvSpPr/>
          <p:nvPr/>
        </p:nvSpPr>
        <p:spPr>
          <a:xfrm>
            <a:off x="4105656" y="3017520"/>
            <a:ext cx="1810512" cy="438912"/>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Synthesize only from</a:t>
            </a:r>
            <a:endParaRPr lang="en-US" sz="900" dirty="0"/>
          </a:p>
          <a:p>
            <a:pPr algn="l" indent="0" marL="0">
              <a:buNone/>
            </a:pPr>
            <a:r>
              <a:rPr lang="en-US" sz="900" dirty="0">
                <a:solidFill>
                  <a:srgbClr val="59697D"/>
                </a:solidFill>
                <a:latin typeface="Aptos" pitchFamily="34" charset="0"/>
                <a:ea typeface="Aptos" pitchFamily="34" charset="-122"/>
                <a:cs typeface="Aptos" pitchFamily="34" charset="-120"/>
              </a:rPr>
              <a:t>retrieved evidence</a:t>
            </a:r>
            <a:endParaRPr lang="en-US" sz="900" dirty="0"/>
          </a:p>
        </p:txBody>
      </p:sp>
      <p:sp>
        <p:nvSpPr>
          <p:cNvPr id="15" name="Shape 13"/>
          <p:cNvSpPr/>
          <p:nvPr/>
        </p:nvSpPr>
        <p:spPr>
          <a:xfrm>
            <a:off x="6995160" y="2103120"/>
            <a:ext cx="2286000" cy="1234440"/>
          </a:xfrm>
          <a:prstGeom prst="roundRect">
            <a:avLst>
              <a:gd name="adj" fmla="val 8889"/>
            </a:avLst>
          </a:prstGeom>
          <a:solidFill>
            <a:srgbClr val="DDF8F3"/>
          </a:solidFill>
          <a:ln w="11430">
            <a:solidFill>
              <a:srgbClr val="A8E6DC"/>
            </a:solidFill>
            <a:prstDash val="solid"/>
          </a:ln>
        </p:spPr>
      </p:sp>
      <p:sp>
        <p:nvSpPr>
          <p:cNvPr id="16" name="Shape 14"/>
          <p:cNvSpPr/>
          <p:nvPr/>
        </p:nvSpPr>
        <p:spPr>
          <a:xfrm>
            <a:off x="7214616" y="2304288"/>
            <a:ext cx="658368" cy="256032"/>
          </a:xfrm>
          <a:prstGeom prst="roundRect">
            <a:avLst>
              <a:gd name="adj" fmla="val 42857"/>
            </a:avLst>
          </a:prstGeom>
          <a:solidFill>
            <a:srgbClr val="05BFA8"/>
          </a:solidFill>
          <a:ln w="3810">
            <a:solidFill>
              <a:srgbClr val="05BFA8"/>
            </a:solidFill>
            <a:prstDash val="solid"/>
          </a:ln>
        </p:spPr>
      </p:sp>
      <p:sp>
        <p:nvSpPr>
          <p:cNvPr id="17" name="Text 15"/>
          <p:cNvSpPr/>
          <p:nvPr/>
        </p:nvSpPr>
        <p:spPr>
          <a:xfrm>
            <a:off x="7269480" y="2318004"/>
            <a:ext cx="54864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0B1220"/>
                </a:solidFill>
                <a:latin typeface="Aptos" pitchFamily="34" charset="0"/>
                <a:ea typeface="Aptos" pitchFamily="34" charset="-122"/>
                <a:cs typeface="Aptos" pitchFamily="34" charset="-120"/>
              </a:rPr>
              <a:t>NODE 03</a:t>
            </a:r>
            <a:endParaRPr lang="en-US" sz="850" dirty="0"/>
          </a:p>
        </p:txBody>
      </p:sp>
      <p:sp>
        <p:nvSpPr>
          <p:cNvPr id="18" name="Text 16"/>
          <p:cNvSpPr/>
          <p:nvPr/>
        </p:nvSpPr>
        <p:spPr>
          <a:xfrm>
            <a:off x="7214616" y="2697480"/>
            <a:ext cx="1783080" cy="274320"/>
          </a:xfrm>
          <a:prstGeom prst="rect">
            <a:avLst/>
          </a:prstGeom>
          <a:noFill/>
          <a:ln/>
        </p:spPr>
        <p:txBody>
          <a:bodyPr wrap="square" lIns="0" tIns="0" rIns="0" bIns="0" rtlCol="0" anchor="ctr">
            <a:normAutofit/>
          </a:bodyPr>
          <a:lstStyle/>
          <a:p>
            <a:pPr algn="l" indent="0" marL="0">
              <a:buNone/>
            </a:pPr>
            <a:r>
              <a:rPr lang="en-US" sz="1700" b="1" dirty="0">
                <a:solidFill>
                  <a:srgbClr val="152238"/>
                </a:solidFill>
                <a:latin typeface="Aptos" pitchFamily="34" charset="0"/>
                <a:ea typeface="Aptos" pitchFamily="34" charset="-122"/>
                <a:cs typeface="Aptos" pitchFamily="34" charset="-120"/>
              </a:rPr>
              <a:t>Validator</a:t>
            </a:r>
            <a:endParaRPr lang="en-US" sz="1700" dirty="0"/>
          </a:p>
        </p:txBody>
      </p:sp>
      <p:sp>
        <p:nvSpPr>
          <p:cNvPr id="19" name="Text 17"/>
          <p:cNvSpPr/>
          <p:nvPr/>
        </p:nvSpPr>
        <p:spPr>
          <a:xfrm>
            <a:off x="7214616" y="3017520"/>
            <a:ext cx="1810512" cy="438912"/>
          </a:xfrm>
          <a:prstGeom prst="rect">
            <a:avLst/>
          </a:prstGeom>
          <a:noFill/>
          <a:ln/>
        </p:spPr>
        <p:txBody>
          <a:bodyPr wrap="square" lIns="0" tIns="0" rIns="0" bIns="0" rtlCol="0" anchor="t">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Check source IDs and</a:t>
            </a:r>
            <a:endParaRPr lang="en-US" sz="900" dirty="0"/>
          </a:p>
          <a:p>
            <a:pPr algn="l" indent="0" marL="0">
              <a:buNone/>
            </a:pPr>
            <a:r>
              <a:rPr lang="en-US" sz="900" dirty="0">
                <a:solidFill>
                  <a:srgbClr val="59697D"/>
                </a:solidFill>
                <a:latin typeface="Aptos" pitchFamily="34" charset="0"/>
                <a:ea typeface="Aptos" pitchFamily="34" charset="-122"/>
                <a:cs typeface="Aptos" pitchFamily="34" charset="-120"/>
              </a:rPr>
              <a:t>citation coverage</a:t>
            </a:r>
            <a:endParaRPr lang="en-US" sz="900" dirty="0"/>
          </a:p>
        </p:txBody>
      </p:sp>
      <p:sp>
        <p:nvSpPr>
          <p:cNvPr id="20" name="Shape 18"/>
          <p:cNvSpPr/>
          <p:nvPr/>
        </p:nvSpPr>
        <p:spPr>
          <a:xfrm>
            <a:off x="3081528" y="2715768"/>
            <a:ext cx="740664" cy="0"/>
          </a:xfrm>
          <a:prstGeom prst="line">
            <a:avLst/>
          </a:prstGeom>
          <a:noFill/>
          <a:ln w="20320">
            <a:solidFill>
              <a:srgbClr val="8DA1B7"/>
            </a:solidFill>
            <a:prstDash val="solid"/>
            <a:tailEnd type="triangle"/>
          </a:ln>
        </p:spPr>
      </p:sp>
      <p:sp>
        <p:nvSpPr>
          <p:cNvPr id="21" name="Shape 19"/>
          <p:cNvSpPr/>
          <p:nvPr/>
        </p:nvSpPr>
        <p:spPr>
          <a:xfrm>
            <a:off x="6190488" y="2715768"/>
            <a:ext cx="740664" cy="0"/>
          </a:xfrm>
          <a:prstGeom prst="line">
            <a:avLst/>
          </a:prstGeom>
          <a:noFill/>
          <a:ln w="20320">
            <a:solidFill>
              <a:srgbClr val="8DA1B7"/>
            </a:solidFill>
            <a:prstDash val="solid"/>
            <a:tailEnd type="triangle"/>
          </a:ln>
        </p:spPr>
      </p:sp>
      <p:sp>
        <p:nvSpPr>
          <p:cNvPr id="22" name="Shape 20"/>
          <p:cNvSpPr/>
          <p:nvPr/>
        </p:nvSpPr>
        <p:spPr>
          <a:xfrm>
            <a:off x="9875520" y="2441448"/>
            <a:ext cx="658368" cy="658368"/>
          </a:xfrm>
          <a:prstGeom prst="ellipse">
            <a:avLst/>
          </a:prstGeom>
          <a:solidFill>
            <a:srgbClr val="0B1220"/>
          </a:solidFill>
          <a:ln w="10160">
            <a:solidFill>
              <a:srgbClr val="0B1220"/>
            </a:solidFill>
            <a:prstDash val="solid"/>
          </a:ln>
        </p:spPr>
      </p:sp>
      <p:sp>
        <p:nvSpPr>
          <p:cNvPr id="23" name="Text 21"/>
          <p:cNvSpPr/>
          <p:nvPr/>
        </p:nvSpPr>
        <p:spPr>
          <a:xfrm>
            <a:off x="9875520" y="2587752"/>
            <a:ext cx="658368" cy="34747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PASS?</a:t>
            </a:r>
            <a:endParaRPr lang="en-US" sz="1000" dirty="0"/>
          </a:p>
        </p:txBody>
      </p:sp>
      <p:sp>
        <p:nvSpPr>
          <p:cNvPr id="24" name="Shape 22"/>
          <p:cNvSpPr/>
          <p:nvPr/>
        </p:nvSpPr>
        <p:spPr>
          <a:xfrm>
            <a:off x="9299448" y="2715768"/>
            <a:ext cx="512064" cy="0"/>
          </a:xfrm>
          <a:prstGeom prst="line">
            <a:avLst/>
          </a:prstGeom>
          <a:noFill/>
          <a:ln w="17780">
            <a:solidFill>
              <a:srgbClr val="8DA1B7"/>
            </a:solidFill>
            <a:prstDash val="solid"/>
            <a:tailEnd type="triangle"/>
          </a:ln>
        </p:spPr>
      </p:sp>
      <p:sp>
        <p:nvSpPr>
          <p:cNvPr id="25" name="Shape 23"/>
          <p:cNvSpPr/>
          <p:nvPr/>
        </p:nvSpPr>
        <p:spPr>
          <a:xfrm>
            <a:off x="10533888" y="2715768"/>
            <a:ext cx="484632" cy="0"/>
          </a:xfrm>
          <a:prstGeom prst="line">
            <a:avLst/>
          </a:prstGeom>
          <a:noFill/>
          <a:ln w="17780">
            <a:solidFill>
              <a:srgbClr val="198C72"/>
            </a:solidFill>
            <a:prstDash val="solid"/>
            <a:tailEnd type="triangle"/>
          </a:ln>
        </p:spPr>
      </p:sp>
      <p:sp>
        <p:nvSpPr>
          <p:cNvPr id="26" name="Shape 24"/>
          <p:cNvSpPr/>
          <p:nvPr/>
        </p:nvSpPr>
        <p:spPr>
          <a:xfrm>
            <a:off x="10972800" y="2276856"/>
            <a:ext cx="786384" cy="877824"/>
          </a:xfrm>
          <a:prstGeom prst="roundRect">
            <a:avLst>
              <a:gd name="adj" fmla="val 13953"/>
            </a:avLst>
          </a:prstGeom>
          <a:solidFill>
            <a:srgbClr val="E2F6EF"/>
          </a:solidFill>
          <a:ln w="8890">
            <a:solidFill>
              <a:srgbClr val="A8DBCD"/>
            </a:solidFill>
            <a:prstDash val="solid"/>
          </a:ln>
        </p:spPr>
      </p:sp>
      <p:sp>
        <p:nvSpPr>
          <p:cNvPr id="27" name="Text 25"/>
          <p:cNvSpPr/>
          <p:nvPr/>
        </p:nvSpPr>
        <p:spPr>
          <a:xfrm>
            <a:off x="11036808" y="2487168"/>
            <a:ext cx="658368" cy="438912"/>
          </a:xfrm>
          <a:prstGeom prst="rect">
            <a:avLst/>
          </a:prstGeom>
          <a:noFill/>
          <a:ln/>
        </p:spPr>
        <p:txBody>
          <a:bodyPr wrap="square" lIns="0" tIns="0" rIns="0" bIns="0" rtlCol="0" anchor="ctr">
            <a:normAutofit/>
          </a:bodyPr>
          <a:lstStyle/>
          <a:p>
            <a:pPr algn="ctr" indent="0" marL="0">
              <a:buNone/>
            </a:pPr>
            <a:r>
              <a:rPr lang="en-US" sz="1000" b="1" dirty="0">
                <a:solidFill>
                  <a:srgbClr val="198C72"/>
                </a:solidFill>
                <a:latin typeface="Aptos" pitchFamily="34" charset="0"/>
                <a:ea typeface="Aptos" pitchFamily="34" charset="-122"/>
                <a:cs typeface="Aptos" pitchFamily="34" charset="-120"/>
              </a:rPr>
              <a:t>Return</a:t>
            </a:r>
            <a:endParaRPr lang="en-US" sz="1000" dirty="0"/>
          </a:p>
          <a:p>
            <a:pPr algn="ctr" indent="0" marL="0">
              <a:buNone/>
            </a:pPr>
            <a:r>
              <a:rPr lang="en-US" sz="1000" b="1" dirty="0">
                <a:solidFill>
                  <a:srgbClr val="198C72"/>
                </a:solidFill>
                <a:latin typeface="Aptos" pitchFamily="34" charset="0"/>
                <a:ea typeface="Aptos" pitchFamily="34" charset="-122"/>
                <a:cs typeface="Aptos" pitchFamily="34" charset="-120"/>
              </a:rPr>
              <a:t>answer</a:t>
            </a:r>
            <a:endParaRPr lang="en-US" sz="1000" dirty="0"/>
          </a:p>
        </p:txBody>
      </p:sp>
      <p:sp>
        <p:nvSpPr>
          <p:cNvPr id="28" name="Shape 26"/>
          <p:cNvSpPr/>
          <p:nvPr/>
        </p:nvSpPr>
        <p:spPr>
          <a:xfrm>
            <a:off x="3931920" y="4389120"/>
            <a:ext cx="3566160" cy="868680"/>
          </a:xfrm>
          <a:prstGeom prst="roundRect">
            <a:avLst>
              <a:gd name="adj" fmla="val 12632"/>
            </a:avLst>
          </a:prstGeom>
          <a:solidFill>
            <a:srgbClr val="FCE9EB"/>
          </a:solidFill>
          <a:ln w="10160">
            <a:solidFill>
              <a:srgbClr val="F0C8CC"/>
            </a:solidFill>
            <a:prstDash val="solid"/>
          </a:ln>
        </p:spPr>
      </p:sp>
      <p:sp>
        <p:nvSpPr>
          <p:cNvPr id="29" name="Text 27"/>
          <p:cNvSpPr/>
          <p:nvPr/>
        </p:nvSpPr>
        <p:spPr>
          <a:xfrm>
            <a:off x="4187952" y="4617720"/>
            <a:ext cx="3072384" cy="210312"/>
          </a:xfrm>
          <a:prstGeom prst="rect">
            <a:avLst/>
          </a:prstGeom>
          <a:noFill/>
          <a:ln/>
        </p:spPr>
        <p:txBody>
          <a:bodyPr wrap="square" lIns="0" tIns="0" rIns="0" bIns="0" rtlCol="0" anchor="ctr">
            <a:normAutofit/>
          </a:bodyPr>
          <a:lstStyle/>
          <a:p>
            <a:pPr algn="ctr" indent="0" marL="0">
              <a:buNone/>
            </a:pPr>
            <a:r>
              <a:rPr lang="en-US" sz="1000" b="1" dirty="0">
                <a:solidFill>
                  <a:srgbClr val="D85F67"/>
                </a:solidFill>
                <a:latin typeface="Aptos" pitchFamily="34" charset="0"/>
                <a:ea typeface="Aptos" pitchFamily="34" charset="-122"/>
                <a:cs typeface="Aptos" pitchFamily="34" charset="-120"/>
              </a:rPr>
              <a:t>FAIL → BROADEN QUERY → RETRY ONCE</a:t>
            </a:r>
            <a:endParaRPr lang="en-US" sz="1000" dirty="0"/>
          </a:p>
        </p:txBody>
      </p:sp>
      <p:sp>
        <p:nvSpPr>
          <p:cNvPr id="30" name="Shape 28"/>
          <p:cNvSpPr/>
          <p:nvPr/>
        </p:nvSpPr>
        <p:spPr>
          <a:xfrm>
            <a:off x="10195560" y="3127248"/>
            <a:ext cx="0" cy="1673352"/>
          </a:xfrm>
          <a:prstGeom prst="line">
            <a:avLst/>
          </a:prstGeom>
          <a:noFill/>
          <a:ln w="15240">
            <a:solidFill>
              <a:srgbClr val="D85F67"/>
            </a:solidFill>
            <a:prstDash val="solid"/>
          </a:ln>
        </p:spPr>
      </p:sp>
      <p:sp>
        <p:nvSpPr>
          <p:cNvPr id="31" name="Shape 29"/>
          <p:cNvSpPr/>
          <p:nvPr/>
        </p:nvSpPr>
        <p:spPr>
          <a:xfrm>
            <a:off x="10195560" y="4800600"/>
            <a:ext cx="-2606040" cy="0"/>
          </a:xfrm>
          <a:prstGeom prst="line">
            <a:avLst/>
          </a:prstGeom>
          <a:noFill/>
          <a:ln w="15240">
            <a:solidFill>
              <a:srgbClr val="D85F67"/>
            </a:solidFill>
            <a:prstDash val="solid"/>
            <a:tailEnd type="triangle"/>
          </a:ln>
        </p:spPr>
      </p:sp>
      <p:sp>
        <p:nvSpPr>
          <p:cNvPr id="32" name="Shape 30"/>
          <p:cNvSpPr/>
          <p:nvPr/>
        </p:nvSpPr>
        <p:spPr>
          <a:xfrm>
            <a:off x="3931920" y="4800600"/>
            <a:ext cx="-2029968" cy="0"/>
          </a:xfrm>
          <a:prstGeom prst="line">
            <a:avLst/>
          </a:prstGeom>
          <a:noFill/>
          <a:ln w="15240">
            <a:solidFill>
              <a:srgbClr val="D85F67"/>
            </a:solidFill>
            <a:prstDash val="solid"/>
          </a:ln>
        </p:spPr>
      </p:sp>
      <p:sp>
        <p:nvSpPr>
          <p:cNvPr id="33" name="Shape 31"/>
          <p:cNvSpPr/>
          <p:nvPr/>
        </p:nvSpPr>
        <p:spPr>
          <a:xfrm>
            <a:off x="1901952" y="4800600"/>
            <a:ext cx="0" cy="-1399032"/>
          </a:xfrm>
          <a:prstGeom prst="line">
            <a:avLst/>
          </a:prstGeom>
          <a:noFill/>
          <a:ln w="15240">
            <a:solidFill>
              <a:srgbClr val="D85F67"/>
            </a:solidFill>
            <a:prstDash val="solid"/>
            <a:tailEnd type="triangle"/>
          </a:ln>
        </p:spPr>
      </p:sp>
      <p:sp>
        <p:nvSpPr>
          <p:cNvPr id="34" name="Text 32"/>
          <p:cNvSpPr/>
          <p:nvPr/>
        </p:nvSpPr>
        <p:spPr>
          <a:xfrm>
            <a:off x="795528" y="5715000"/>
            <a:ext cx="10698480" cy="237744"/>
          </a:xfrm>
          <a:prstGeom prst="rect">
            <a:avLst/>
          </a:prstGeom>
          <a:noFill/>
          <a:ln/>
        </p:spPr>
        <p:txBody>
          <a:bodyPr wrap="square" lIns="0" tIns="0" rIns="0" bIns="0" rtlCol="0" anchor="ctr">
            <a:normAutofit/>
          </a:bodyPr>
          <a:lstStyle/>
          <a:p>
            <a:pPr algn="ctr" indent="0" marL="0">
              <a:buNone/>
            </a:pPr>
            <a:r>
              <a:rPr lang="en-US" sz="1100" i="1" dirty="0">
                <a:solidFill>
                  <a:srgbClr val="59697D"/>
                </a:solidFill>
                <a:latin typeface="Aptos" pitchFamily="34" charset="0"/>
                <a:ea typeface="Aptos" pitchFamily="34" charset="-122"/>
                <a:cs typeface="Aptos" pitchFamily="34" charset="-120"/>
              </a:rPr>
              <a:t>If evidence remains insufficient, return a clear limitation rather than inventing a policy.</a:t>
            </a:r>
            <a:endParaRPr lang="en-US" sz="110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08 / USER EXPERIENCE &amp; API</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One research workflow, two ways to consume it</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Streamlit supports stakeholder demos; FastAPI exposes a reusable JSON contract.</a:t>
            </a:r>
            <a:endParaRPr lang="en-US" sz="1100" dirty="0"/>
          </a:p>
        </p:txBody>
      </p:sp>
      <p:sp>
        <p:nvSpPr>
          <p:cNvPr id="5" name="Shape 3"/>
          <p:cNvSpPr/>
          <p:nvPr/>
        </p:nvSpPr>
        <p:spPr>
          <a:xfrm>
            <a:off x="640080" y="1737360"/>
            <a:ext cx="6446520" cy="3977640"/>
          </a:xfrm>
          <a:prstGeom prst="roundRect">
            <a:avLst>
              <a:gd name="adj" fmla="val 2759"/>
            </a:avLst>
          </a:prstGeom>
          <a:solidFill>
            <a:srgbClr val="FFFFFF"/>
          </a:solidFill>
          <a:ln w="10160">
            <a:solidFill>
              <a:srgbClr val="DEE6EF"/>
            </a:solidFill>
            <a:prstDash val="solid"/>
          </a:ln>
        </p:spPr>
      </p:sp>
      <p:sp>
        <p:nvSpPr>
          <p:cNvPr id="6" name="Shape 4"/>
          <p:cNvSpPr/>
          <p:nvPr/>
        </p:nvSpPr>
        <p:spPr>
          <a:xfrm>
            <a:off x="640080" y="1737360"/>
            <a:ext cx="6446520" cy="438912"/>
          </a:xfrm>
          <a:prstGeom prst="roundRect">
            <a:avLst>
              <a:gd name="adj" fmla="val 25000"/>
            </a:avLst>
          </a:prstGeom>
          <a:solidFill>
            <a:srgbClr val="0B1220"/>
          </a:solidFill>
          <a:ln w="3810">
            <a:solidFill>
              <a:srgbClr val="0B1220"/>
            </a:solidFill>
            <a:prstDash val="solid"/>
          </a:ln>
        </p:spPr>
      </p:sp>
      <p:sp>
        <p:nvSpPr>
          <p:cNvPr id="7" name="Text 5"/>
          <p:cNvSpPr/>
          <p:nvPr/>
        </p:nvSpPr>
        <p:spPr>
          <a:xfrm>
            <a:off x="896112" y="1847088"/>
            <a:ext cx="5303520" cy="182880"/>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  Enterprise Knowledge Research Agent</a:t>
            </a:r>
            <a:endParaRPr lang="en-US" sz="1100" dirty="0"/>
          </a:p>
        </p:txBody>
      </p:sp>
      <p:sp>
        <p:nvSpPr>
          <p:cNvPr id="8" name="Text 6"/>
          <p:cNvSpPr/>
          <p:nvPr/>
        </p:nvSpPr>
        <p:spPr>
          <a:xfrm>
            <a:off x="896112" y="2468880"/>
            <a:ext cx="731520" cy="164592"/>
          </a:xfrm>
          <a:prstGeom prst="rect">
            <a:avLst/>
          </a:prstGeom>
          <a:noFill/>
          <a:ln/>
        </p:spPr>
        <p:txBody>
          <a:bodyPr wrap="square" lIns="0" tIns="0" rIns="0" bIns="0" rtlCol="0" anchor="ctr">
            <a:normAutofit/>
          </a:bodyPr>
          <a:lstStyle/>
          <a:p>
            <a:pPr algn="l" indent="0" marL="0">
              <a:buNone/>
            </a:pPr>
            <a:r>
              <a:rPr lang="en-US" sz="800" b="1" spc="100" kern="0" dirty="0">
                <a:solidFill>
                  <a:srgbClr val="05BFA8"/>
                </a:solidFill>
                <a:latin typeface="Aptos" pitchFamily="34" charset="0"/>
                <a:ea typeface="Aptos" pitchFamily="34" charset="-122"/>
                <a:cs typeface="Aptos" pitchFamily="34" charset="-120"/>
              </a:rPr>
              <a:t>ASK</a:t>
            </a:r>
            <a:endParaRPr lang="en-US" sz="800" dirty="0"/>
          </a:p>
        </p:txBody>
      </p:sp>
      <p:sp>
        <p:nvSpPr>
          <p:cNvPr id="9" name="Shape 7"/>
          <p:cNvSpPr/>
          <p:nvPr/>
        </p:nvSpPr>
        <p:spPr>
          <a:xfrm>
            <a:off x="896112" y="2734056"/>
            <a:ext cx="5806440" cy="475488"/>
          </a:xfrm>
          <a:prstGeom prst="roundRect">
            <a:avLst>
              <a:gd name="adj" fmla="val 23077"/>
            </a:avLst>
          </a:prstGeom>
          <a:solidFill>
            <a:srgbClr val="F4F7FB"/>
          </a:solidFill>
          <a:ln w="7620">
            <a:solidFill>
              <a:srgbClr val="DEE6EF"/>
            </a:solidFill>
            <a:prstDash val="solid"/>
          </a:ln>
        </p:spPr>
      </p:sp>
      <p:sp>
        <p:nvSpPr>
          <p:cNvPr id="10" name="Text 8"/>
          <p:cNvSpPr/>
          <p:nvPr/>
        </p:nvSpPr>
        <p:spPr>
          <a:xfrm>
            <a:off x="1078992" y="2852928"/>
            <a:ext cx="5212080" cy="237744"/>
          </a:xfrm>
          <a:prstGeom prst="rect">
            <a:avLst/>
          </a:prstGeom>
          <a:noFill/>
          <a:ln/>
        </p:spPr>
        <p:txBody>
          <a:bodyPr wrap="square" lIns="0" tIns="0" rIns="0" bIns="0" rtlCol="0" anchor="ctr">
            <a:normAutofit/>
          </a:bodyPr>
          <a:lstStyle/>
          <a:p>
            <a:pPr algn="l" indent="0" marL="0">
              <a:buNone/>
            </a:pPr>
            <a:r>
              <a:rPr lang="en-US" sz="1100" b="1" dirty="0">
                <a:solidFill>
                  <a:srgbClr val="152238"/>
                </a:solidFill>
                <a:latin typeface="Aptos" pitchFamily="34" charset="0"/>
                <a:ea typeface="Aptos" pitchFamily="34" charset="-122"/>
                <a:cs typeface="Aptos" pitchFamily="34" charset="-120"/>
              </a:rPr>
              <a:t>What is the daily meal expense limit?</a:t>
            </a:r>
            <a:endParaRPr lang="en-US" sz="1100" dirty="0"/>
          </a:p>
        </p:txBody>
      </p:sp>
      <p:sp>
        <p:nvSpPr>
          <p:cNvPr id="11" name="Text 9"/>
          <p:cNvSpPr/>
          <p:nvPr/>
        </p:nvSpPr>
        <p:spPr>
          <a:xfrm>
            <a:off x="896112" y="3438144"/>
            <a:ext cx="822960" cy="164592"/>
          </a:xfrm>
          <a:prstGeom prst="rect">
            <a:avLst/>
          </a:prstGeom>
          <a:noFill/>
          <a:ln/>
        </p:spPr>
        <p:txBody>
          <a:bodyPr wrap="square" lIns="0" tIns="0" rIns="0" bIns="0" rtlCol="0" anchor="ctr">
            <a:normAutofit/>
          </a:bodyPr>
          <a:lstStyle/>
          <a:p>
            <a:pPr algn="l" indent="0" marL="0">
              <a:buNone/>
            </a:pPr>
            <a:r>
              <a:rPr lang="en-US" sz="800" b="1" spc="100" kern="0" dirty="0">
                <a:solidFill>
                  <a:srgbClr val="05BFA8"/>
                </a:solidFill>
                <a:latin typeface="Aptos" pitchFamily="34" charset="0"/>
                <a:ea typeface="Aptos" pitchFamily="34" charset="-122"/>
                <a:cs typeface="Aptos" pitchFamily="34" charset="-120"/>
              </a:rPr>
              <a:t>ANSWER</a:t>
            </a:r>
            <a:endParaRPr lang="en-US" sz="800" dirty="0"/>
          </a:p>
        </p:txBody>
      </p:sp>
      <p:sp>
        <p:nvSpPr>
          <p:cNvPr id="12" name="Text 10"/>
          <p:cNvSpPr/>
          <p:nvPr/>
        </p:nvSpPr>
        <p:spPr>
          <a:xfrm>
            <a:off x="896112" y="3730752"/>
            <a:ext cx="5715000" cy="493776"/>
          </a:xfrm>
          <a:prstGeom prst="rect">
            <a:avLst/>
          </a:prstGeom>
          <a:noFill/>
          <a:ln/>
        </p:spPr>
        <p:txBody>
          <a:bodyPr wrap="square" lIns="0" tIns="0" rIns="0" bIns="0" rtlCol="0" anchor="t">
            <a:normAutofit/>
          </a:bodyPr>
          <a:lstStyle/>
          <a:p>
            <a:pPr algn="l" indent="0" marL="0">
              <a:buNone/>
            </a:pPr>
            <a:r>
              <a:rPr lang="en-US" sz="1300" b="1" dirty="0">
                <a:solidFill>
                  <a:srgbClr val="152238"/>
                </a:solidFill>
                <a:latin typeface="Aptos" pitchFamily="34" charset="0"/>
                <a:ea typeface="Aptos" pitchFamily="34" charset="-122"/>
                <a:cs typeface="Aptos" pitchFamily="34" charset="-120"/>
              </a:rPr>
              <a:t>INR 1,200 per employee per day for approved business travel. [S1]</a:t>
            </a:r>
            <a:endParaRPr lang="en-US" sz="1300" dirty="0"/>
          </a:p>
        </p:txBody>
      </p:sp>
      <p:sp>
        <p:nvSpPr>
          <p:cNvPr id="13" name="Shape 11"/>
          <p:cNvSpPr/>
          <p:nvPr/>
        </p:nvSpPr>
        <p:spPr>
          <a:xfrm>
            <a:off x="896112" y="4325112"/>
            <a:ext cx="5779008" cy="0"/>
          </a:xfrm>
          <a:prstGeom prst="line">
            <a:avLst/>
          </a:prstGeom>
          <a:noFill/>
          <a:ln w="10160">
            <a:solidFill>
              <a:srgbClr val="DEE6EF"/>
            </a:solidFill>
            <a:prstDash val="solid"/>
          </a:ln>
        </p:spPr>
      </p:sp>
      <p:sp>
        <p:nvSpPr>
          <p:cNvPr id="14" name="Shape 12"/>
          <p:cNvSpPr/>
          <p:nvPr/>
        </p:nvSpPr>
        <p:spPr>
          <a:xfrm>
            <a:off x="896112" y="4507992"/>
            <a:ext cx="1417320" cy="256032"/>
          </a:xfrm>
          <a:prstGeom prst="roundRect">
            <a:avLst>
              <a:gd name="adj" fmla="val 42857"/>
            </a:avLst>
          </a:prstGeom>
          <a:solidFill>
            <a:srgbClr val="E2F6EF"/>
          </a:solidFill>
          <a:ln w="3810">
            <a:solidFill>
              <a:srgbClr val="E2F6EF"/>
            </a:solidFill>
            <a:prstDash val="solid"/>
          </a:ln>
        </p:spPr>
      </p:sp>
      <p:sp>
        <p:nvSpPr>
          <p:cNvPr id="15" name="Text 13"/>
          <p:cNvSpPr/>
          <p:nvPr/>
        </p:nvSpPr>
        <p:spPr>
          <a:xfrm>
            <a:off x="950976" y="4521708"/>
            <a:ext cx="1307592"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98C72"/>
                </a:solidFill>
                <a:latin typeface="Aptos" pitchFamily="34" charset="0"/>
                <a:ea typeface="Aptos" pitchFamily="34" charset="-122"/>
                <a:cs typeface="Aptos" pitchFamily="34" charset="-120"/>
              </a:rPr>
              <a:t>VALIDATION PASSED</a:t>
            </a:r>
            <a:endParaRPr lang="en-US" sz="850" dirty="0"/>
          </a:p>
        </p:txBody>
      </p:sp>
      <p:sp>
        <p:nvSpPr>
          <p:cNvPr id="16" name="Shape 14"/>
          <p:cNvSpPr/>
          <p:nvPr/>
        </p:nvSpPr>
        <p:spPr>
          <a:xfrm>
            <a:off x="2468880" y="4507992"/>
            <a:ext cx="960120" cy="256032"/>
          </a:xfrm>
          <a:prstGeom prst="roundRect">
            <a:avLst>
              <a:gd name="adj" fmla="val 42857"/>
            </a:avLst>
          </a:prstGeom>
          <a:solidFill>
            <a:srgbClr val="DFF4FF"/>
          </a:solidFill>
          <a:ln w="3810">
            <a:solidFill>
              <a:srgbClr val="DFF4FF"/>
            </a:solidFill>
            <a:prstDash val="solid"/>
          </a:ln>
        </p:spPr>
      </p:sp>
      <p:sp>
        <p:nvSpPr>
          <p:cNvPr id="17" name="Text 15"/>
          <p:cNvSpPr/>
          <p:nvPr/>
        </p:nvSpPr>
        <p:spPr>
          <a:xfrm>
            <a:off x="2523744" y="4521708"/>
            <a:ext cx="850392"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52238"/>
                </a:solidFill>
                <a:latin typeface="Aptos" pitchFamily="34" charset="0"/>
                <a:ea typeface="Aptos" pitchFamily="34" charset="-122"/>
                <a:cs typeface="Aptos" pitchFamily="34" charset="-120"/>
              </a:rPr>
              <a:t>3 SOURCES</a:t>
            </a:r>
            <a:endParaRPr lang="en-US" sz="850" dirty="0"/>
          </a:p>
        </p:txBody>
      </p:sp>
      <p:sp>
        <p:nvSpPr>
          <p:cNvPr id="18" name="Shape 16"/>
          <p:cNvSpPr/>
          <p:nvPr/>
        </p:nvSpPr>
        <p:spPr>
          <a:xfrm>
            <a:off x="3584448" y="4507992"/>
            <a:ext cx="841248" cy="256032"/>
          </a:xfrm>
          <a:prstGeom prst="roundRect">
            <a:avLst>
              <a:gd name="adj" fmla="val 42857"/>
            </a:avLst>
          </a:prstGeom>
          <a:solidFill>
            <a:srgbClr val="EEF2F6"/>
          </a:solidFill>
          <a:ln w="3810">
            <a:solidFill>
              <a:srgbClr val="EEF2F6"/>
            </a:solidFill>
            <a:prstDash val="solid"/>
          </a:ln>
        </p:spPr>
      </p:sp>
      <p:sp>
        <p:nvSpPr>
          <p:cNvPr id="19" name="Text 17"/>
          <p:cNvSpPr/>
          <p:nvPr/>
        </p:nvSpPr>
        <p:spPr>
          <a:xfrm>
            <a:off x="3639312" y="4521708"/>
            <a:ext cx="731520"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52238"/>
                </a:solidFill>
                <a:latin typeface="Aptos" pitchFamily="34" charset="0"/>
                <a:ea typeface="Aptos" pitchFamily="34" charset="-122"/>
                <a:cs typeface="Aptos" pitchFamily="34" charset="-120"/>
              </a:rPr>
              <a:t>TRACE ID</a:t>
            </a:r>
            <a:endParaRPr lang="en-US" sz="850" dirty="0"/>
          </a:p>
        </p:txBody>
      </p:sp>
      <p:sp>
        <p:nvSpPr>
          <p:cNvPr id="20" name="Text 18"/>
          <p:cNvSpPr/>
          <p:nvPr/>
        </p:nvSpPr>
        <p:spPr>
          <a:xfrm>
            <a:off x="896112" y="4983480"/>
            <a:ext cx="5394960" cy="219456"/>
          </a:xfrm>
          <a:prstGeom prst="rect">
            <a:avLst/>
          </a:prstGeom>
          <a:noFill/>
          <a:ln/>
        </p:spPr>
        <p:txBody>
          <a:bodyPr wrap="square" lIns="0" tIns="0" rIns="0" bIns="0" rtlCol="0" anchor="ctr">
            <a:normAutofit/>
          </a:bodyPr>
          <a:lstStyle/>
          <a:p>
            <a:pPr algn="l" indent="0" marL="0">
              <a:buNone/>
            </a:pPr>
            <a:r>
              <a:rPr lang="en-US" sz="900" i="1" dirty="0">
                <a:solidFill>
                  <a:srgbClr val="59697D"/>
                </a:solidFill>
                <a:latin typeface="Aptos" pitchFamily="34" charset="0"/>
                <a:ea typeface="Aptos" pitchFamily="34" charset="-122"/>
                <a:cs typeface="Aptos" pitchFamily="34" charset="-120"/>
              </a:rPr>
              <a:t>Evidence panel exposes source excerpt and file name.</a:t>
            </a:r>
            <a:endParaRPr lang="en-US" sz="900" dirty="0"/>
          </a:p>
        </p:txBody>
      </p:sp>
      <p:sp>
        <p:nvSpPr>
          <p:cNvPr id="21" name="Shape 19"/>
          <p:cNvSpPr/>
          <p:nvPr/>
        </p:nvSpPr>
        <p:spPr>
          <a:xfrm>
            <a:off x="896112" y="5321808"/>
            <a:ext cx="1874520" cy="265176"/>
          </a:xfrm>
          <a:prstGeom prst="roundRect">
            <a:avLst>
              <a:gd name="adj" fmla="val 41379"/>
            </a:avLst>
          </a:prstGeom>
          <a:solidFill>
            <a:srgbClr val="198C72"/>
          </a:solidFill>
          <a:ln w="5080">
            <a:solidFill>
              <a:srgbClr val="198C72"/>
            </a:solidFill>
            <a:prstDash val="solid"/>
          </a:ln>
        </p:spPr>
      </p:sp>
      <p:sp>
        <p:nvSpPr>
          <p:cNvPr id="22" name="Text 20"/>
          <p:cNvSpPr/>
          <p:nvPr/>
        </p:nvSpPr>
        <p:spPr>
          <a:xfrm>
            <a:off x="987552" y="5358384"/>
            <a:ext cx="169164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Approve answer</a:t>
            </a:r>
            <a:endParaRPr lang="en-US" sz="900" dirty="0"/>
          </a:p>
        </p:txBody>
      </p:sp>
      <p:sp>
        <p:nvSpPr>
          <p:cNvPr id="23" name="Shape 21"/>
          <p:cNvSpPr/>
          <p:nvPr/>
        </p:nvSpPr>
        <p:spPr>
          <a:xfrm>
            <a:off x="2926080" y="5321808"/>
            <a:ext cx="1609344" cy="265176"/>
          </a:xfrm>
          <a:prstGeom prst="roundRect">
            <a:avLst>
              <a:gd name="adj" fmla="val 41379"/>
            </a:avLst>
          </a:prstGeom>
          <a:solidFill>
            <a:srgbClr val="FFF3D6"/>
          </a:solidFill>
          <a:ln w="5080">
            <a:solidFill>
              <a:srgbClr val="FFF3D6"/>
            </a:solidFill>
            <a:prstDash val="solid"/>
          </a:ln>
        </p:spPr>
      </p:sp>
      <p:sp>
        <p:nvSpPr>
          <p:cNvPr id="24" name="Text 22"/>
          <p:cNvSpPr/>
          <p:nvPr/>
        </p:nvSpPr>
        <p:spPr>
          <a:xfrm>
            <a:off x="2999232" y="5358384"/>
            <a:ext cx="1463040" cy="182880"/>
          </a:xfrm>
          <a:prstGeom prst="rect">
            <a:avLst/>
          </a:prstGeom>
          <a:noFill/>
          <a:ln/>
        </p:spPr>
        <p:txBody>
          <a:bodyPr wrap="square" lIns="0" tIns="0" rIns="0" bIns="0" rtlCol="0" anchor="ctr">
            <a:normAutofit/>
          </a:bodyPr>
          <a:lstStyle/>
          <a:p>
            <a:pPr algn="ctr" indent="0" marL="0">
              <a:buNone/>
            </a:pPr>
            <a:r>
              <a:rPr lang="en-US" sz="900" b="1" dirty="0">
                <a:solidFill>
                  <a:srgbClr val="90630A"/>
                </a:solidFill>
                <a:latin typeface="Aptos" pitchFamily="34" charset="0"/>
                <a:ea typeface="Aptos" pitchFamily="34" charset="-122"/>
                <a:cs typeface="Aptos" pitchFamily="34" charset="-120"/>
              </a:rPr>
              <a:t>Needs review</a:t>
            </a:r>
            <a:endParaRPr lang="en-US" sz="900" dirty="0"/>
          </a:p>
        </p:txBody>
      </p:sp>
      <p:sp>
        <p:nvSpPr>
          <p:cNvPr id="25" name="Shape 23"/>
          <p:cNvSpPr/>
          <p:nvPr/>
        </p:nvSpPr>
        <p:spPr>
          <a:xfrm>
            <a:off x="7388352" y="1737360"/>
            <a:ext cx="4133088" cy="3977640"/>
          </a:xfrm>
          <a:prstGeom prst="roundRect">
            <a:avLst>
              <a:gd name="adj" fmla="val 2759"/>
            </a:avLst>
          </a:prstGeom>
          <a:solidFill>
            <a:srgbClr val="0B1220"/>
          </a:solidFill>
          <a:ln w="7620">
            <a:solidFill>
              <a:srgbClr val="0B1220"/>
            </a:solidFill>
            <a:prstDash val="solid"/>
          </a:ln>
        </p:spPr>
      </p:sp>
      <p:sp>
        <p:nvSpPr>
          <p:cNvPr id="26" name="Text 24"/>
          <p:cNvSpPr/>
          <p:nvPr/>
        </p:nvSpPr>
        <p:spPr>
          <a:xfrm>
            <a:off x="7699248" y="2029968"/>
            <a:ext cx="3383280" cy="219456"/>
          </a:xfrm>
          <a:prstGeom prst="rect">
            <a:avLst/>
          </a:prstGeom>
          <a:noFill/>
          <a:ln/>
        </p:spPr>
        <p:txBody>
          <a:bodyPr wrap="square" lIns="0" tIns="0" rIns="0" bIns="0" rtlCol="0" anchor="ctr">
            <a:normAutofit/>
          </a:bodyPr>
          <a:lstStyle/>
          <a:p>
            <a:pPr algn="l" indent="0" marL="0">
              <a:buNone/>
            </a:pPr>
            <a:r>
              <a:rPr lang="en-US" sz="1000" b="1" spc="100" kern="0" dirty="0">
                <a:solidFill>
                  <a:srgbClr val="3ABFF8"/>
                </a:solidFill>
                <a:latin typeface="Aptos" pitchFamily="34" charset="0"/>
                <a:ea typeface="Aptos" pitchFamily="34" charset="-122"/>
                <a:cs typeface="Aptos" pitchFamily="34" charset="-120"/>
              </a:rPr>
              <a:t>FASTAPI  /  OPENAPI</a:t>
            </a:r>
            <a:endParaRPr lang="en-US" sz="1000" dirty="0"/>
          </a:p>
        </p:txBody>
      </p:sp>
      <p:sp>
        <p:nvSpPr>
          <p:cNvPr id="27" name="Shape 25"/>
          <p:cNvSpPr/>
          <p:nvPr/>
        </p:nvSpPr>
        <p:spPr>
          <a:xfrm>
            <a:off x="7699248" y="2496312"/>
            <a:ext cx="914400" cy="320040"/>
          </a:xfrm>
          <a:prstGeom prst="roundRect">
            <a:avLst>
              <a:gd name="adj" fmla="val 34286"/>
            </a:avLst>
          </a:prstGeom>
          <a:solidFill>
            <a:srgbClr val="123D45"/>
          </a:solidFill>
          <a:ln w="3810">
            <a:solidFill>
              <a:srgbClr val="123D45"/>
            </a:solidFill>
            <a:prstDash val="solid"/>
          </a:ln>
        </p:spPr>
      </p:sp>
      <p:sp>
        <p:nvSpPr>
          <p:cNvPr id="28" name="Text 26"/>
          <p:cNvSpPr/>
          <p:nvPr/>
        </p:nvSpPr>
        <p:spPr>
          <a:xfrm>
            <a:off x="7790688" y="2551176"/>
            <a:ext cx="731520" cy="192024"/>
          </a:xfrm>
          <a:prstGeom prst="rect">
            <a:avLst/>
          </a:prstGeom>
          <a:noFill/>
          <a:ln/>
        </p:spPr>
        <p:txBody>
          <a:bodyPr wrap="square" lIns="0" tIns="0" rIns="0" bIns="0" rtlCol="0" anchor="ctr">
            <a:normAutofit/>
          </a:bodyPr>
          <a:lstStyle/>
          <a:p>
            <a:pPr algn="ctr" indent="0" marL="0">
              <a:buNone/>
            </a:pPr>
            <a:r>
              <a:rPr lang="en-US" sz="1000" b="1" dirty="0">
                <a:solidFill>
                  <a:srgbClr val="8BEADC"/>
                </a:solidFill>
                <a:latin typeface="Aptos" pitchFamily="34" charset="0"/>
                <a:ea typeface="Aptos" pitchFamily="34" charset="-122"/>
                <a:cs typeface="Aptos" pitchFamily="34" charset="-120"/>
              </a:rPr>
              <a:t>POST</a:t>
            </a:r>
            <a:endParaRPr lang="en-US" sz="1000" dirty="0"/>
          </a:p>
        </p:txBody>
      </p:sp>
      <p:sp>
        <p:nvSpPr>
          <p:cNvPr id="29" name="Text 27"/>
          <p:cNvSpPr/>
          <p:nvPr/>
        </p:nvSpPr>
        <p:spPr>
          <a:xfrm>
            <a:off x="8796528" y="2523744"/>
            <a:ext cx="1143000" cy="2286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/ask</a:t>
            </a:r>
            <a:endParaRPr lang="en-US" sz="1400" dirty="0"/>
          </a:p>
        </p:txBody>
      </p:sp>
      <p:sp>
        <p:nvSpPr>
          <p:cNvPr id="30" name="Text 28"/>
          <p:cNvSpPr/>
          <p:nvPr/>
        </p:nvSpPr>
        <p:spPr>
          <a:xfrm>
            <a:off x="9829800" y="2542032"/>
            <a:ext cx="1371600" cy="192024"/>
          </a:xfrm>
          <a:prstGeom prst="rect">
            <a:avLst/>
          </a:prstGeom>
          <a:noFill/>
          <a:ln/>
        </p:spPr>
        <p:txBody>
          <a:bodyPr wrap="square" lIns="0" tIns="0" rIns="0" bIns="0" rtlCol="0" anchor="ctr">
            <a:normAutofit/>
          </a:bodyPr>
          <a:lstStyle/>
          <a:p>
            <a:pPr algn="l" indent="0" marL="0">
              <a:buNone/>
            </a:pPr>
            <a:r>
              <a:rPr lang="en-US" sz="900" dirty="0">
                <a:solidFill>
                  <a:srgbClr val="A6B7CC"/>
                </a:solidFill>
                <a:latin typeface="Aptos" pitchFamily="34" charset="0"/>
                <a:ea typeface="Aptos" pitchFamily="34" charset="-122"/>
                <a:cs typeface="Aptos" pitchFamily="34" charset="-120"/>
              </a:rPr>
              <a:t>question + top_k</a:t>
            </a:r>
            <a:endParaRPr lang="en-US" sz="900" dirty="0"/>
          </a:p>
        </p:txBody>
      </p:sp>
      <p:sp>
        <p:nvSpPr>
          <p:cNvPr id="31" name="Shape 29"/>
          <p:cNvSpPr/>
          <p:nvPr/>
        </p:nvSpPr>
        <p:spPr>
          <a:xfrm>
            <a:off x="7699248" y="3035808"/>
            <a:ext cx="3456432" cy="0"/>
          </a:xfrm>
          <a:prstGeom prst="line">
            <a:avLst/>
          </a:prstGeom>
          <a:noFill/>
          <a:ln w="10160">
            <a:solidFill>
              <a:srgbClr val="2D405B"/>
            </a:solidFill>
            <a:prstDash val="solid"/>
          </a:ln>
        </p:spPr>
      </p:sp>
      <p:sp>
        <p:nvSpPr>
          <p:cNvPr id="32" name="Text 30"/>
          <p:cNvSpPr/>
          <p:nvPr/>
        </p:nvSpPr>
        <p:spPr>
          <a:xfrm>
            <a:off x="7699248" y="3246120"/>
            <a:ext cx="1920240" cy="182880"/>
          </a:xfrm>
          <a:prstGeom prst="rect">
            <a:avLst/>
          </a:prstGeom>
          <a:noFill/>
          <a:ln/>
        </p:spPr>
        <p:txBody>
          <a:bodyPr wrap="square" lIns="0" tIns="0" rIns="0" bIns="0" rtlCol="0" anchor="ctr">
            <a:normAutofit/>
          </a:bodyPr>
          <a:lstStyle/>
          <a:p>
            <a:pPr algn="l" indent="0" marL="0">
              <a:buNone/>
            </a:pPr>
            <a:r>
              <a:rPr lang="en-US" sz="800" b="1" spc="80" kern="0" dirty="0">
                <a:solidFill>
                  <a:srgbClr val="05BFA8"/>
                </a:solidFill>
                <a:latin typeface="Aptos" pitchFamily="34" charset="0"/>
                <a:ea typeface="Aptos" pitchFamily="34" charset="-122"/>
                <a:cs typeface="Aptos" pitchFamily="34" charset="-120"/>
              </a:rPr>
              <a:t>RESPONSE CONTRACT</a:t>
            </a:r>
            <a:endParaRPr lang="en-US" sz="800" dirty="0"/>
          </a:p>
        </p:txBody>
      </p:sp>
      <p:sp>
        <p:nvSpPr>
          <p:cNvPr id="33" name="Shape 31"/>
          <p:cNvSpPr/>
          <p:nvPr/>
        </p:nvSpPr>
        <p:spPr>
          <a:xfrm>
            <a:off x="7744968" y="3621024"/>
            <a:ext cx="109728" cy="109728"/>
          </a:xfrm>
          <a:prstGeom prst="ellipse">
            <a:avLst/>
          </a:prstGeom>
          <a:solidFill>
            <a:srgbClr val="3ABFF8"/>
          </a:solidFill>
          <a:ln w="10160">
            <a:solidFill>
              <a:srgbClr val="3ABFF8"/>
            </a:solidFill>
            <a:prstDash val="solid"/>
          </a:ln>
        </p:spPr>
      </p:sp>
      <p:sp>
        <p:nvSpPr>
          <p:cNvPr id="34" name="Text 32"/>
          <p:cNvSpPr/>
          <p:nvPr/>
        </p:nvSpPr>
        <p:spPr>
          <a:xfrm>
            <a:off x="7973568" y="3575304"/>
            <a:ext cx="2834640" cy="228600"/>
          </a:xfrm>
          <a:prstGeom prst="rect">
            <a:avLst/>
          </a:prstGeom>
          <a:noFill/>
          <a:ln/>
        </p:spPr>
        <p:txBody>
          <a:bodyPr wrap="square" lIns="0" tIns="0" rIns="0" bIns="0" rtlCol="0" anchor="ctr">
            <a:normAutofit/>
          </a:bodyPr>
          <a:lstStyle/>
          <a:p>
            <a:pPr algn="l" indent="0" marL="0">
              <a:buNone/>
            </a:pPr>
            <a:r>
              <a:rPr lang="en-US" sz="1000" dirty="0">
                <a:solidFill>
                  <a:srgbClr val="FFFFFF"/>
                </a:solidFill>
                <a:latin typeface="Aptos" pitchFamily="34" charset="0"/>
                <a:ea typeface="Aptos" pitchFamily="34" charset="-122"/>
                <a:cs typeface="Aptos" pitchFamily="34" charset="-120"/>
              </a:rPr>
              <a:t>answer + citations</a:t>
            </a:r>
            <a:endParaRPr lang="en-US" sz="1000" dirty="0"/>
          </a:p>
        </p:txBody>
      </p:sp>
      <p:sp>
        <p:nvSpPr>
          <p:cNvPr id="35" name="Shape 33"/>
          <p:cNvSpPr/>
          <p:nvPr/>
        </p:nvSpPr>
        <p:spPr>
          <a:xfrm>
            <a:off x="7744968" y="3968496"/>
            <a:ext cx="109728" cy="109728"/>
          </a:xfrm>
          <a:prstGeom prst="ellipse">
            <a:avLst/>
          </a:prstGeom>
          <a:solidFill>
            <a:srgbClr val="05BFA8"/>
          </a:solidFill>
          <a:ln w="10160">
            <a:solidFill>
              <a:srgbClr val="05BFA8"/>
            </a:solidFill>
            <a:prstDash val="solid"/>
          </a:ln>
        </p:spPr>
      </p:sp>
      <p:sp>
        <p:nvSpPr>
          <p:cNvPr id="36" name="Text 34"/>
          <p:cNvSpPr/>
          <p:nvPr/>
        </p:nvSpPr>
        <p:spPr>
          <a:xfrm>
            <a:off x="7973568" y="3922776"/>
            <a:ext cx="2834640" cy="228600"/>
          </a:xfrm>
          <a:prstGeom prst="rect">
            <a:avLst/>
          </a:prstGeom>
          <a:noFill/>
          <a:ln/>
        </p:spPr>
        <p:txBody>
          <a:bodyPr wrap="square" lIns="0" tIns="0" rIns="0" bIns="0" rtlCol="0" anchor="ctr">
            <a:normAutofit/>
          </a:bodyPr>
          <a:lstStyle/>
          <a:p>
            <a:pPr algn="l" indent="0" marL="0">
              <a:buNone/>
            </a:pPr>
            <a:r>
              <a:rPr lang="en-US" sz="1000" dirty="0">
                <a:solidFill>
                  <a:srgbClr val="FFFFFF"/>
                </a:solidFill>
                <a:latin typeface="Aptos" pitchFamily="34" charset="0"/>
                <a:ea typeface="Aptos" pitchFamily="34" charset="-122"/>
                <a:cs typeface="Aptos" pitchFamily="34" charset="-120"/>
              </a:rPr>
              <a:t>sources[] + excerpts</a:t>
            </a:r>
            <a:endParaRPr lang="en-US" sz="1000" dirty="0"/>
          </a:p>
        </p:txBody>
      </p:sp>
      <p:sp>
        <p:nvSpPr>
          <p:cNvPr id="37" name="Shape 35"/>
          <p:cNvSpPr/>
          <p:nvPr/>
        </p:nvSpPr>
        <p:spPr>
          <a:xfrm>
            <a:off x="7744968" y="4315968"/>
            <a:ext cx="109728" cy="109728"/>
          </a:xfrm>
          <a:prstGeom prst="ellipse">
            <a:avLst/>
          </a:prstGeom>
          <a:solidFill>
            <a:srgbClr val="F4B942"/>
          </a:solidFill>
          <a:ln w="10160">
            <a:solidFill>
              <a:srgbClr val="F4B942"/>
            </a:solidFill>
            <a:prstDash val="solid"/>
          </a:ln>
        </p:spPr>
      </p:sp>
      <p:sp>
        <p:nvSpPr>
          <p:cNvPr id="38" name="Text 36"/>
          <p:cNvSpPr/>
          <p:nvPr/>
        </p:nvSpPr>
        <p:spPr>
          <a:xfrm>
            <a:off x="7973568" y="4270248"/>
            <a:ext cx="2834640" cy="228600"/>
          </a:xfrm>
          <a:prstGeom prst="rect">
            <a:avLst/>
          </a:prstGeom>
          <a:noFill/>
          <a:ln/>
        </p:spPr>
        <p:txBody>
          <a:bodyPr wrap="square" lIns="0" tIns="0" rIns="0" bIns="0" rtlCol="0" anchor="ctr">
            <a:normAutofit/>
          </a:bodyPr>
          <a:lstStyle/>
          <a:p>
            <a:pPr algn="l" indent="0" marL="0">
              <a:buNone/>
            </a:pPr>
            <a:r>
              <a:rPr lang="en-US" sz="1000" dirty="0">
                <a:solidFill>
                  <a:srgbClr val="FFFFFF"/>
                </a:solidFill>
                <a:latin typeface="Aptos" pitchFamily="34" charset="0"/>
                <a:ea typeface="Aptos" pitchFamily="34" charset="-122"/>
                <a:cs typeface="Aptos" pitchFamily="34" charset="-120"/>
              </a:rPr>
              <a:t>validation + trace_id</a:t>
            </a:r>
            <a:endParaRPr lang="en-US" sz="1000" dirty="0"/>
          </a:p>
        </p:txBody>
      </p:sp>
      <p:sp>
        <p:nvSpPr>
          <p:cNvPr id="39" name="Shape 37"/>
          <p:cNvSpPr/>
          <p:nvPr/>
        </p:nvSpPr>
        <p:spPr>
          <a:xfrm>
            <a:off x="7744968" y="4663440"/>
            <a:ext cx="109728" cy="109728"/>
          </a:xfrm>
          <a:prstGeom prst="ellipse">
            <a:avLst/>
          </a:prstGeom>
          <a:solidFill>
            <a:srgbClr val="198C72"/>
          </a:solidFill>
          <a:ln w="10160">
            <a:solidFill>
              <a:srgbClr val="198C72"/>
            </a:solidFill>
            <a:prstDash val="solid"/>
          </a:ln>
        </p:spPr>
      </p:sp>
      <p:sp>
        <p:nvSpPr>
          <p:cNvPr id="40" name="Text 38"/>
          <p:cNvSpPr/>
          <p:nvPr/>
        </p:nvSpPr>
        <p:spPr>
          <a:xfrm>
            <a:off x="7973568" y="4617720"/>
            <a:ext cx="2834640" cy="228600"/>
          </a:xfrm>
          <a:prstGeom prst="rect">
            <a:avLst/>
          </a:prstGeom>
          <a:noFill/>
          <a:ln/>
        </p:spPr>
        <p:txBody>
          <a:bodyPr wrap="square" lIns="0" tIns="0" rIns="0" bIns="0" rtlCol="0" anchor="ctr">
            <a:normAutofit/>
          </a:bodyPr>
          <a:lstStyle/>
          <a:p>
            <a:pPr algn="l" indent="0" marL="0">
              <a:buNone/>
            </a:pPr>
            <a:r>
              <a:rPr lang="en-US" sz="1000" dirty="0">
                <a:solidFill>
                  <a:srgbClr val="FFFFFF"/>
                </a:solidFill>
                <a:latin typeface="Aptos" pitchFamily="34" charset="0"/>
                <a:ea typeface="Aptos" pitchFamily="34" charset="-122"/>
                <a:cs typeface="Aptos" pitchFamily="34" charset="-120"/>
              </a:rPr>
              <a:t>latency_ms + retry_count</a:t>
            </a:r>
            <a:endParaRPr lang="en-US" sz="1000" dirty="0"/>
          </a:p>
        </p:txBody>
      </p:sp>
      <p:sp>
        <p:nvSpPr>
          <p:cNvPr id="41" name="Shape 39"/>
          <p:cNvSpPr/>
          <p:nvPr/>
        </p:nvSpPr>
        <p:spPr>
          <a:xfrm>
            <a:off x="7699248" y="5138928"/>
            <a:ext cx="3456432" cy="384048"/>
          </a:xfrm>
          <a:prstGeom prst="roundRect">
            <a:avLst>
              <a:gd name="adj" fmla="val 28571"/>
            </a:avLst>
          </a:prstGeom>
          <a:solidFill>
            <a:srgbClr val="1A2B44"/>
          </a:solidFill>
          <a:ln w="6350">
            <a:solidFill>
              <a:srgbClr val="314862"/>
            </a:solidFill>
            <a:prstDash val="solid"/>
          </a:ln>
        </p:spPr>
      </p:sp>
      <p:sp>
        <p:nvSpPr>
          <p:cNvPr id="42" name="Text 40"/>
          <p:cNvSpPr/>
          <p:nvPr/>
        </p:nvSpPr>
        <p:spPr>
          <a:xfrm>
            <a:off x="7845552" y="5212080"/>
            <a:ext cx="3163824" cy="210312"/>
          </a:xfrm>
          <a:prstGeom prst="rect">
            <a:avLst/>
          </a:prstGeom>
          <a:noFill/>
          <a:ln/>
        </p:spPr>
        <p:txBody>
          <a:bodyPr wrap="square" lIns="0" tIns="0" rIns="0" bIns="0" rtlCol="0" anchor="ctr">
            <a:normAutofit/>
          </a:bodyPr>
          <a:lstStyle/>
          <a:p>
            <a:pPr algn="l" indent="0" marL="0">
              <a:buNone/>
            </a:pPr>
            <a:r>
              <a:rPr lang="en-US" sz="1000" b="1" dirty="0">
                <a:solidFill>
                  <a:srgbClr val="D0DBEA"/>
                </a:solidFill>
                <a:latin typeface="Aptos" pitchFamily="34" charset="0"/>
                <a:ea typeface="Aptos" pitchFamily="34" charset="-122"/>
                <a:cs typeface="Aptos" pitchFamily="34" charset="-120"/>
              </a:rPr>
              <a:t>GET /health   →   status: ok</a:t>
            </a:r>
            <a:endParaRPr lang="en-US" sz="100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09 / TRUST, REVIEW &amp; GOVERNANCE</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Make the answer inspectable—and the remaining risks explicit</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Human review adds accountability; production security still requires enterprise integration.</a:t>
            </a:r>
            <a:endParaRPr lang="en-US" sz="1100" dirty="0"/>
          </a:p>
        </p:txBody>
      </p:sp>
      <p:sp>
        <p:nvSpPr>
          <p:cNvPr id="5" name="Shape 3"/>
          <p:cNvSpPr/>
          <p:nvPr/>
        </p:nvSpPr>
        <p:spPr>
          <a:xfrm>
            <a:off x="621792" y="1737360"/>
            <a:ext cx="5321808" cy="3611880"/>
          </a:xfrm>
          <a:prstGeom prst="roundRect">
            <a:avLst>
              <a:gd name="adj" fmla="val 3038"/>
            </a:avLst>
          </a:prstGeom>
          <a:solidFill>
            <a:srgbClr val="FFFFFF"/>
          </a:solidFill>
          <a:ln w="10160">
            <a:solidFill>
              <a:srgbClr val="DEE6EF"/>
            </a:solidFill>
            <a:prstDash val="solid"/>
          </a:ln>
        </p:spPr>
      </p:sp>
      <p:sp>
        <p:nvSpPr>
          <p:cNvPr id="6" name="Text 4"/>
          <p:cNvSpPr/>
          <p:nvPr/>
        </p:nvSpPr>
        <p:spPr>
          <a:xfrm>
            <a:off x="896112" y="1993392"/>
            <a:ext cx="2926080" cy="201168"/>
          </a:xfrm>
          <a:prstGeom prst="rect">
            <a:avLst/>
          </a:prstGeom>
          <a:noFill/>
          <a:ln/>
        </p:spPr>
        <p:txBody>
          <a:bodyPr wrap="square" lIns="0" tIns="0" rIns="0" bIns="0" rtlCol="0" anchor="ctr">
            <a:normAutofit/>
          </a:bodyPr>
          <a:lstStyle/>
          <a:p>
            <a:pPr algn="l" indent="0" marL="0">
              <a:buNone/>
            </a:pPr>
            <a:r>
              <a:rPr lang="en-US" sz="900" b="1" spc="80" kern="0" dirty="0">
                <a:solidFill>
                  <a:srgbClr val="05BFA8"/>
                </a:solidFill>
                <a:latin typeface="Aptos" pitchFamily="34" charset="0"/>
                <a:ea typeface="Aptos" pitchFamily="34" charset="-122"/>
                <a:cs typeface="Aptos" pitchFamily="34" charset="-120"/>
              </a:rPr>
              <a:t>IMPLEMENTED IN THE PROTOTYPE</a:t>
            </a:r>
            <a:endParaRPr lang="en-US" sz="900" dirty="0"/>
          </a:p>
        </p:txBody>
      </p:sp>
      <p:sp>
        <p:nvSpPr>
          <p:cNvPr id="7" name="Shape 5"/>
          <p:cNvSpPr/>
          <p:nvPr/>
        </p:nvSpPr>
        <p:spPr>
          <a:xfrm>
            <a:off x="914400" y="2414016"/>
            <a:ext cx="164592" cy="164592"/>
          </a:xfrm>
          <a:prstGeom prst="ellipse">
            <a:avLst/>
          </a:prstGeom>
          <a:solidFill>
            <a:srgbClr val="E2F6EF"/>
          </a:solidFill>
          <a:ln w="10160">
            <a:solidFill>
              <a:srgbClr val="E2F6EF"/>
            </a:solidFill>
            <a:prstDash val="solid"/>
          </a:ln>
        </p:spPr>
      </p:sp>
      <p:sp>
        <p:nvSpPr>
          <p:cNvPr id="8" name="Text 6"/>
          <p:cNvSpPr/>
          <p:nvPr/>
        </p:nvSpPr>
        <p:spPr>
          <a:xfrm>
            <a:off x="914400" y="240487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198C72"/>
                </a:solidFill>
                <a:latin typeface="Aptos" pitchFamily="34" charset="0"/>
                <a:ea typeface="Aptos" pitchFamily="34" charset="-122"/>
                <a:cs typeface="Aptos" pitchFamily="34" charset="-120"/>
              </a:rPr>
              <a:t>✓</a:t>
            </a:r>
            <a:endParaRPr lang="en-US" sz="1000" dirty="0"/>
          </a:p>
        </p:txBody>
      </p:sp>
      <p:sp>
        <p:nvSpPr>
          <p:cNvPr id="9" name="Text 7"/>
          <p:cNvSpPr/>
          <p:nvPr/>
        </p:nvSpPr>
        <p:spPr>
          <a:xfrm>
            <a:off x="1207008" y="2368296"/>
            <a:ext cx="4315968" cy="310896"/>
          </a:xfrm>
          <a:prstGeom prst="rect">
            <a:avLst/>
          </a:prstGeom>
          <a:noFill/>
          <a:ln/>
        </p:spPr>
        <p:txBody>
          <a:bodyPr wrap="square" lIns="0" tIns="0" rIns="0" bIns="0" rtlCol="0" anchor="ctr">
            <a:normAutofit/>
          </a:bodyPr>
          <a:lstStyle/>
          <a:p>
            <a:pPr algn="l" indent="0" marL="0">
              <a:buNone/>
            </a:pPr>
            <a:r>
              <a:rPr lang="en-US" sz="1000" dirty="0">
                <a:solidFill>
                  <a:srgbClr val="152238"/>
                </a:solidFill>
                <a:latin typeface="Aptos" pitchFamily="34" charset="0"/>
                <a:ea typeface="Aptos" pitchFamily="34" charset="-122"/>
                <a:cs typeface="Aptos" pitchFamily="34" charset="-120"/>
              </a:rPr>
              <a:t>Citations and evidence excerpts visible in the UI</a:t>
            </a:r>
            <a:endParaRPr lang="en-US" sz="1000" dirty="0"/>
          </a:p>
        </p:txBody>
      </p:sp>
      <p:sp>
        <p:nvSpPr>
          <p:cNvPr id="10" name="Shape 8"/>
          <p:cNvSpPr/>
          <p:nvPr/>
        </p:nvSpPr>
        <p:spPr>
          <a:xfrm>
            <a:off x="914400" y="2916936"/>
            <a:ext cx="164592" cy="164592"/>
          </a:xfrm>
          <a:prstGeom prst="ellipse">
            <a:avLst/>
          </a:prstGeom>
          <a:solidFill>
            <a:srgbClr val="E2F6EF"/>
          </a:solidFill>
          <a:ln w="10160">
            <a:solidFill>
              <a:srgbClr val="E2F6EF"/>
            </a:solidFill>
            <a:prstDash val="solid"/>
          </a:ln>
        </p:spPr>
      </p:sp>
      <p:sp>
        <p:nvSpPr>
          <p:cNvPr id="11" name="Text 9"/>
          <p:cNvSpPr/>
          <p:nvPr/>
        </p:nvSpPr>
        <p:spPr>
          <a:xfrm>
            <a:off x="914400" y="290779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198C72"/>
                </a:solidFill>
                <a:latin typeface="Aptos" pitchFamily="34" charset="0"/>
                <a:ea typeface="Aptos" pitchFamily="34" charset="-122"/>
                <a:cs typeface="Aptos" pitchFamily="34" charset="-120"/>
              </a:rPr>
              <a:t>✓</a:t>
            </a:r>
            <a:endParaRPr lang="en-US" sz="1000" dirty="0"/>
          </a:p>
        </p:txBody>
      </p:sp>
      <p:sp>
        <p:nvSpPr>
          <p:cNvPr id="12" name="Text 10"/>
          <p:cNvSpPr/>
          <p:nvPr/>
        </p:nvSpPr>
        <p:spPr>
          <a:xfrm>
            <a:off x="1207008" y="2871216"/>
            <a:ext cx="4315968" cy="310896"/>
          </a:xfrm>
          <a:prstGeom prst="rect">
            <a:avLst/>
          </a:prstGeom>
          <a:noFill/>
          <a:ln/>
        </p:spPr>
        <p:txBody>
          <a:bodyPr wrap="square" lIns="0" tIns="0" rIns="0" bIns="0" rtlCol="0" anchor="ctr">
            <a:normAutofit/>
          </a:bodyPr>
          <a:lstStyle/>
          <a:p>
            <a:pPr algn="l" indent="0" marL="0">
              <a:buNone/>
            </a:pPr>
            <a:r>
              <a:rPr lang="en-US" sz="1000" dirty="0">
                <a:solidFill>
                  <a:srgbClr val="152238"/>
                </a:solidFill>
                <a:latin typeface="Aptos" pitchFamily="34" charset="0"/>
                <a:ea typeface="Aptos" pitchFamily="34" charset="-122"/>
                <a:cs typeface="Aptos" pitchFamily="34" charset="-120"/>
              </a:rPr>
              <a:t>Structural validation and bounded retry</a:t>
            </a:r>
            <a:endParaRPr lang="en-US" sz="1000" dirty="0"/>
          </a:p>
        </p:txBody>
      </p:sp>
      <p:sp>
        <p:nvSpPr>
          <p:cNvPr id="13" name="Shape 11"/>
          <p:cNvSpPr/>
          <p:nvPr/>
        </p:nvSpPr>
        <p:spPr>
          <a:xfrm>
            <a:off x="914400" y="3419856"/>
            <a:ext cx="164592" cy="164592"/>
          </a:xfrm>
          <a:prstGeom prst="ellipse">
            <a:avLst/>
          </a:prstGeom>
          <a:solidFill>
            <a:srgbClr val="E2F6EF"/>
          </a:solidFill>
          <a:ln w="10160">
            <a:solidFill>
              <a:srgbClr val="E2F6EF"/>
            </a:solidFill>
            <a:prstDash val="solid"/>
          </a:ln>
        </p:spPr>
      </p:sp>
      <p:sp>
        <p:nvSpPr>
          <p:cNvPr id="14" name="Text 12"/>
          <p:cNvSpPr/>
          <p:nvPr/>
        </p:nvSpPr>
        <p:spPr>
          <a:xfrm>
            <a:off x="914400" y="341071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198C72"/>
                </a:solidFill>
                <a:latin typeface="Aptos" pitchFamily="34" charset="0"/>
                <a:ea typeface="Aptos" pitchFamily="34" charset="-122"/>
                <a:cs typeface="Aptos" pitchFamily="34" charset="-120"/>
              </a:rPr>
              <a:t>✓</a:t>
            </a:r>
            <a:endParaRPr lang="en-US" sz="1000" dirty="0"/>
          </a:p>
        </p:txBody>
      </p:sp>
      <p:sp>
        <p:nvSpPr>
          <p:cNvPr id="15" name="Text 13"/>
          <p:cNvSpPr/>
          <p:nvPr/>
        </p:nvSpPr>
        <p:spPr>
          <a:xfrm>
            <a:off x="1207008" y="3374136"/>
            <a:ext cx="4315968" cy="310896"/>
          </a:xfrm>
          <a:prstGeom prst="rect">
            <a:avLst/>
          </a:prstGeom>
          <a:noFill/>
          <a:ln/>
        </p:spPr>
        <p:txBody>
          <a:bodyPr wrap="square" lIns="0" tIns="0" rIns="0" bIns="0" rtlCol="0" anchor="ctr">
            <a:normAutofit/>
          </a:bodyPr>
          <a:lstStyle/>
          <a:p>
            <a:pPr algn="l" indent="0" marL="0">
              <a:buNone/>
            </a:pPr>
            <a:r>
              <a:rPr lang="en-US" sz="1000" dirty="0">
                <a:solidFill>
                  <a:srgbClr val="152238"/>
                </a:solidFill>
                <a:latin typeface="Aptos" pitchFamily="34" charset="0"/>
                <a:ea typeface="Aptos" pitchFamily="34" charset="-122"/>
                <a:cs typeface="Aptos" pitchFamily="34" charset="-120"/>
              </a:rPr>
              <a:t>Trace IDs and local JSONL observability logs</a:t>
            </a:r>
            <a:endParaRPr lang="en-US" sz="1000" dirty="0"/>
          </a:p>
        </p:txBody>
      </p:sp>
      <p:sp>
        <p:nvSpPr>
          <p:cNvPr id="16" name="Shape 14"/>
          <p:cNvSpPr/>
          <p:nvPr/>
        </p:nvSpPr>
        <p:spPr>
          <a:xfrm>
            <a:off x="914400" y="3922776"/>
            <a:ext cx="164592" cy="164592"/>
          </a:xfrm>
          <a:prstGeom prst="ellipse">
            <a:avLst/>
          </a:prstGeom>
          <a:solidFill>
            <a:srgbClr val="E2F6EF"/>
          </a:solidFill>
          <a:ln w="10160">
            <a:solidFill>
              <a:srgbClr val="E2F6EF"/>
            </a:solidFill>
            <a:prstDash val="solid"/>
          </a:ln>
        </p:spPr>
      </p:sp>
      <p:sp>
        <p:nvSpPr>
          <p:cNvPr id="17" name="Text 15"/>
          <p:cNvSpPr/>
          <p:nvPr/>
        </p:nvSpPr>
        <p:spPr>
          <a:xfrm>
            <a:off x="914400" y="391363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198C72"/>
                </a:solidFill>
                <a:latin typeface="Aptos" pitchFamily="34" charset="0"/>
                <a:ea typeface="Aptos" pitchFamily="34" charset="-122"/>
                <a:cs typeface="Aptos" pitchFamily="34" charset="-120"/>
              </a:rPr>
              <a:t>✓</a:t>
            </a:r>
            <a:endParaRPr lang="en-US" sz="1000" dirty="0"/>
          </a:p>
        </p:txBody>
      </p:sp>
      <p:sp>
        <p:nvSpPr>
          <p:cNvPr id="18" name="Text 16"/>
          <p:cNvSpPr/>
          <p:nvPr/>
        </p:nvSpPr>
        <p:spPr>
          <a:xfrm>
            <a:off x="1207008" y="3877056"/>
            <a:ext cx="4315968" cy="310896"/>
          </a:xfrm>
          <a:prstGeom prst="rect">
            <a:avLst/>
          </a:prstGeom>
          <a:noFill/>
          <a:ln/>
        </p:spPr>
        <p:txBody>
          <a:bodyPr wrap="square" lIns="0" tIns="0" rIns="0" bIns="0" rtlCol="0" anchor="ctr">
            <a:normAutofit/>
          </a:bodyPr>
          <a:lstStyle/>
          <a:p>
            <a:pPr algn="l" indent="0" marL="0">
              <a:buNone/>
            </a:pPr>
            <a:r>
              <a:rPr lang="en-US" sz="1000" dirty="0">
                <a:solidFill>
                  <a:srgbClr val="152238"/>
                </a:solidFill>
                <a:latin typeface="Aptos" pitchFamily="34" charset="0"/>
                <a:ea typeface="Aptos" pitchFamily="34" charset="-122"/>
                <a:cs typeface="Aptos" pitchFamily="34" charset="-120"/>
              </a:rPr>
              <a:t>Human decision: approved / needs_review</a:t>
            </a:r>
            <a:endParaRPr lang="en-US" sz="1000" dirty="0"/>
          </a:p>
        </p:txBody>
      </p:sp>
      <p:sp>
        <p:nvSpPr>
          <p:cNvPr id="19" name="Shape 17"/>
          <p:cNvSpPr/>
          <p:nvPr/>
        </p:nvSpPr>
        <p:spPr>
          <a:xfrm>
            <a:off x="914400" y="4425696"/>
            <a:ext cx="164592" cy="164592"/>
          </a:xfrm>
          <a:prstGeom prst="ellipse">
            <a:avLst/>
          </a:prstGeom>
          <a:solidFill>
            <a:srgbClr val="E2F6EF"/>
          </a:solidFill>
          <a:ln w="10160">
            <a:solidFill>
              <a:srgbClr val="E2F6EF"/>
            </a:solidFill>
            <a:prstDash val="solid"/>
          </a:ln>
        </p:spPr>
      </p:sp>
      <p:sp>
        <p:nvSpPr>
          <p:cNvPr id="20" name="Text 18"/>
          <p:cNvSpPr/>
          <p:nvPr/>
        </p:nvSpPr>
        <p:spPr>
          <a:xfrm>
            <a:off x="914400" y="441655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198C72"/>
                </a:solidFill>
                <a:latin typeface="Aptos" pitchFamily="34" charset="0"/>
                <a:ea typeface="Aptos" pitchFamily="34" charset="-122"/>
                <a:cs typeface="Aptos" pitchFamily="34" charset="-120"/>
              </a:rPr>
              <a:t>✓</a:t>
            </a:r>
            <a:endParaRPr lang="en-US" sz="1000" dirty="0"/>
          </a:p>
        </p:txBody>
      </p:sp>
      <p:sp>
        <p:nvSpPr>
          <p:cNvPr id="21" name="Text 19"/>
          <p:cNvSpPr/>
          <p:nvPr/>
        </p:nvSpPr>
        <p:spPr>
          <a:xfrm>
            <a:off x="1207008" y="4379976"/>
            <a:ext cx="4315968" cy="310896"/>
          </a:xfrm>
          <a:prstGeom prst="rect">
            <a:avLst/>
          </a:prstGeom>
          <a:noFill/>
          <a:ln/>
        </p:spPr>
        <p:txBody>
          <a:bodyPr wrap="square" lIns="0" tIns="0" rIns="0" bIns="0" rtlCol="0" anchor="ctr">
            <a:normAutofit/>
          </a:bodyPr>
          <a:lstStyle/>
          <a:p>
            <a:pPr algn="l" indent="0" marL="0">
              <a:buNone/>
            </a:pPr>
            <a:r>
              <a:rPr lang="en-US" sz="1000" dirty="0">
                <a:solidFill>
                  <a:srgbClr val="152238"/>
                </a:solidFill>
                <a:latin typeface="Aptos" pitchFamily="34" charset="0"/>
                <a:ea typeface="Aptos" pitchFamily="34" charset="-122"/>
                <a:cs typeface="Aptos" pitchFamily="34" charset="-120"/>
              </a:rPr>
              <a:t>Reviewer comment and UTC timestamp persisted</a:t>
            </a:r>
            <a:endParaRPr lang="en-US" sz="1000" dirty="0"/>
          </a:p>
        </p:txBody>
      </p:sp>
      <p:sp>
        <p:nvSpPr>
          <p:cNvPr id="22" name="Shape 20"/>
          <p:cNvSpPr/>
          <p:nvPr/>
        </p:nvSpPr>
        <p:spPr>
          <a:xfrm>
            <a:off x="6236208" y="1737360"/>
            <a:ext cx="5303520" cy="3611880"/>
          </a:xfrm>
          <a:prstGeom prst="roundRect">
            <a:avLst>
              <a:gd name="adj" fmla="val 3038"/>
            </a:avLst>
          </a:prstGeom>
          <a:solidFill>
            <a:srgbClr val="0B1220"/>
          </a:solidFill>
          <a:ln w="8890">
            <a:solidFill>
              <a:srgbClr val="0B1220"/>
            </a:solidFill>
            <a:prstDash val="solid"/>
          </a:ln>
        </p:spPr>
      </p:sp>
      <p:sp>
        <p:nvSpPr>
          <p:cNvPr id="23" name="Text 21"/>
          <p:cNvSpPr/>
          <p:nvPr/>
        </p:nvSpPr>
        <p:spPr>
          <a:xfrm>
            <a:off x="6510528" y="1993392"/>
            <a:ext cx="4023360" cy="201168"/>
          </a:xfrm>
          <a:prstGeom prst="rect">
            <a:avLst/>
          </a:prstGeom>
          <a:noFill/>
          <a:ln/>
        </p:spPr>
        <p:txBody>
          <a:bodyPr wrap="square" lIns="0" tIns="0" rIns="0" bIns="0" rtlCol="0" anchor="ctr">
            <a:normAutofit/>
          </a:bodyPr>
          <a:lstStyle/>
          <a:p>
            <a:pPr algn="l" indent="0" marL="0">
              <a:buNone/>
            </a:pPr>
            <a:r>
              <a:rPr lang="en-US" sz="900" b="1" spc="70" kern="0" dirty="0">
                <a:solidFill>
                  <a:srgbClr val="F4B942"/>
                </a:solidFill>
                <a:latin typeface="Aptos" pitchFamily="34" charset="0"/>
                <a:ea typeface="Aptos" pitchFamily="34" charset="-122"/>
                <a:cs typeface="Aptos" pitchFamily="34" charset="-120"/>
              </a:rPr>
              <a:t>REQUIRED BEFORE REAL ENTERPRISE DATA</a:t>
            </a:r>
            <a:endParaRPr lang="en-US" sz="900" dirty="0"/>
          </a:p>
        </p:txBody>
      </p:sp>
      <p:sp>
        <p:nvSpPr>
          <p:cNvPr id="24" name="Shape 22"/>
          <p:cNvSpPr/>
          <p:nvPr/>
        </p:nvSpPr>
        <p:spPr>
          <a:xfrm>
            <a:off x="6537960" y="2414016"/>
            <a:ext cx="164592" cy="164592"/>
          </a:xfrm>
          <a:prstGeom prst="ellipse">
            <a:avLst/>
          </a:prstGeom>
          <a:solidFill>
            <a:srgbClr val="4A2C38"/>
          </a:solidFill>
          <a:ln w="10160">
            <a:solidFill>
              <a:srgbClr val="4A2C38"/>
            </a:solidFill>
            <a:prstDash val="solid"/>
          </a:ln>
        </p:spPr>
      </p:sp>
      <p:sp>
        <p:nvSpPr>
          <p:cNvPr id="25" name="Text 23"/>
          <p:cNvSpPr/>
          <p:nvPr/>
        </p:nvSpPr>
        <p:spPr>
          <a:xfrm>
            <a:off x="6537960" y="240487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FFB8BE"/>
                </a:solidFill>
                <a:latin typeface="Aptos" pitchFamily="34" charset="0"/>
                <a:ea typeface="Aptos" pitchFamily="34" charset="-122"/>
                <a:cs typeface="Aptos" pitchFamily="34" charset="-120"/>
              </a:rPr>
              <a:t>!</a:t>
            </a:r>
            <a:endParaRPr lang="en-US" sz="1000" dirty="0"/>
          </a:p>
        </p:txBody>
      </p:sp>
      <p:sp>
        <p:nvSpPr>
          <p:cNvPr id="26" name="Text 24"/>
          <p:cNvSpPr/>
          <p:nvPr/>
        </p:nvSpPr>
        <p:spPr>
          <a:xfrm>
            <a:off x="6830568" y="2368296"/>
            <a:ext cx="4370832" cy="310896"/>
          </a:xfrm>
          <a:prstGeom prst="rect">
            <a:avLst/>
          </a:prstGeom>
          <a:noFill/>
          <a:ln/>
        </p:spPr>
        <p:txBody>
          <a:bodyPr wrap="square" lIns="0" tIns="0" rIns="0" bIns="0" rtlCol="0" anchor="ctr">
            <a:normAutofit/>
          </a:bodyPr>
          <a:lstStyle/>
          <a:p>
            <a:pPr algn="l" indent="0" marL="0">
              <a:buNone/>
            </a:pPr>
            <a:r>
              <a:rPr lang="en-US" sz="1000" dirty="0">
                <a:solidFill>
                  <a:srgbClr val="E0E8F3"/>
                </a:solidFill>
                <a:latin typeface="Aptos" pitchFamily="34" charset="0"/>
                <a:ea typeface="Aptos" pitchFamily="34" charset="-122"/>
                <a:cs typeface="Aptos" pitchFamily="34" charset="-120"/>
              </a:rPr>
              <a:t>SSO / RBAC and reviewer authorization</a:t>
            </a:r>
            <a:endParaRPr lang="en-US" sz="1000" dirty="0"/>
          </a:p>
        </p:txBody>
      </p:sp>
      <p:sp>
        <p:nvSpPr>
          <p:cNvPr id="27" name="Shape 25"/>
          <p:cNvSpPr/>
          <p:nvPr/>
        </p:nvSpPr>
        <p:spPr>
          <a:xfrm>
            <a:off x="6537960" y="2916936"/>
            <a:ext cx="164592" cy="164592"/>
          </a:xfrm>
          <a:prstGeom prst="ellipse">
            <a:avLst/>
          </a:prstGeom>
          <a:solidFill>
            <a:srgbClr val="4A2C38"/>
          </a:solidFill>
          <a:ln w="10160">
            <a:solidFill>
              <a:srgbClr val="4A2C38"/>
            </a:solidFill>
            <a:prstDash val="solid"/>
          </a:ln>
        </p:spPr>
      </p:sp>
      <p:sp>
        <p:nvSpPr>
          <p:cNvPr id="28" name="Text 26"/>
          <p:cNvSpPr/>
          <p:nvPr/>
        </p:nvSpPr>
        <p:spPr>
          <a:xfrm>
            <a:off x="6537960" y="290779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FFB8BE"/>
                </a:solidFill>
                <a:latin typeface="Aptos" pitchFamily="34" charset="0"/>
                <a:ea typeface="Aptos" pitchFamily="34" charset="-122"/>
                <a:cs typeface="Aptos" pitchFamily="34" charset="-120"/>
              </a:rPr>
              <a:t>!</a:t>
            </a:r>
            <a:endParaRPr lang="en-US" sz="1000" dirty="0"/>
          </a:p>
        </p:txBody>
      </p:sp>
      <p:sp>
        <p:nvSpPr>
          <p:cNvPr id="29" name="Text 27"/>
          <p:cNvSpPr/>
          <p:nvPr/>
        </p:nvSpPr>
        <p:spPr>
          <a:xfrm>
            <a:off x="6830568" y="2871216"/>
            <a:ext cx="4370832" cy="310896"/>
          </a:xfrm>
          <a:prstGeom prst="rect">
            <a:avLst/>
          </a:prstGeom>
          <a:noFill/>
          <a:ln/>
        </p:spPr>
        <p:txBody>
          <a:bodyPr wrap="square" lIns="0" tIns="0" rIns="0" bIns="0" rtlCol="0" anchor="ctr">
            <a:normAutofit/>
          </a:bodyPr>
          <a:lstStyle/>
          <a:p>
            <a:pPr algn="l" indent="0" marL="0">
              <a:buNone/>
            </a:pPr>
            <a:r>
              <a:rPr lang="en-US" sz="1000" dirty="0">
                <a:solidFill>
                  <a:srgbClr val="E0E8F3"/>
                </a:solidFill>
                <a:latin typeface="Aptos" pitchFamily="34" charset="0"/>
                <a:ea typeface="Aptos" pitchFamily="34" charset="-122"/>
                <a:cs typeface="Aptos" pitchFamily="34" charset="-120"/>
              </a:rPr>
              <a:t>Filter document ACLs before retrieval</a:t>
            </a:r>
            <a:endParaRPr lang="en-US" sz="1000" dirty="0"/>
          </a:p>
        </p:txBody>
      </p:sp>
      <p:sp>
        <p:nvSpPr>
          <p:cNvPr id="30" name="Shape 28"/>
          <p:cNvSpPr/>
          <p:nvPr/>
        </p:nvSpPr>
        <p:spPr>
          <a:xfrm>
            <a:off x="6537960" y="3419856"/>
            <a:ext cx="164592" cy="164592"/>
          </a:xfrm>
          <a:prstGeom prst="ellipse">
            <a:avLst/>
          </a:prstGeom>
          <a:solidFill>
            <a:srgbClr val="4A2C38"/>
          </a:solidFill>
          <a:ln w="10160">
            <a:solidFill>
              <a:srgbClr val="4A2C38"/>
            </a:solidFill>
            <a:prstDash val="solid"/>
          </a:ln>
        </p:spPr>
      </p:sp>
      <p:sp>
        <p:nvSpPr>
          <p:cNvPr id="31" name="Text 29"/>
          <p:cNvSpPr/>
          <p:nvPr/>
        </p:nvSpPr>
        <p:spPr>
          <a:xfrm>
            <a:off x="6537960" y="341071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FFB8BE"/>
                </a:solidFill>
                <a:latin typeface="Aptos" pitchFamily="34" charset="0"/>
                <a:ea typeface="Aptos" pitchFamily="34" charset="-122"/>
                <a:cs typeface="Aptos" pitchFamily="34" charset="-120"/>
              </a:rPr>
              <a:t>!</a:t>
            </a:r>
            <a:endParaRPr lang="en-US" sz="1000" dirty="0"/>
          </a:p>
        </p:txBody>
      </p:sp>
      <p:sp>
        <p:nvSpPr>
          <p:cNvPr id="32" name="Text 30"/>
          <p:cNvSpPr/>
          <p:nvPr/>
        </p:nvSpPr>
        <p:spPr>
          <a:xfrm>
            <a:off x="6830568" y="3374136"/>
            <a:ext cx="4370832" cy="310896"/>
          </a:xfrm>
          <a:prstGeom prst="rect">
            <a:avLst/>
          </a:prstGeom>
          <a:noFill/>
          <a:ln/>
        </p:spPr>
        <p:txBody>
          <a:bodyPr wrap="square" lIns="0" tIns="0" rIns="0" bIns="0" rtlCol="0" anchor="ctr">
            <a:normAutofit/>
          </a:bodyPr>
          <a:lstStyle/>
          <a:p>
            <a:pPr algn="l" indent="0" marL="0">
              <a:buNone/>
            </a:pPr>
            <a:r>
              <a:rPr lang="en-US" sz="1000" dirty="0">
                <a:solidFill>
                  <a:srgbClr val="E0E8F3"/>
                </a:solidFill>
                <a:latin typeface="Aptos" pitchFamily="34" charset="0"/>
                <a:ea typeface="Aptos" pitchFamily="34" charset="-122"/>
                <a:cs typeface="Aptos" pitchFamily="34" charset="-120"/>
              </a:rPr>
              <a:t>Approved private endpoints and data residency</a:t>
            </a:r>
            <a:endParaRPr lang="en-US" sz="1000" dirty="0"/>
          </a:p>
        </p:txBody>
      </p:sp>
      <p:sp>
        <p:nvSpPr>
          <p:cNvPr id="33" name="Shape 31"/>
          <p:cNvSpPr/>
          <p:nvPr/>
        </p:nvSpPr>
        <p:spPr>
          <a:xfrm>
            <a:off x="6537960" y="3922776"/>
            <a:ext cx="164592" cy="164592"/>
          </a:xfrm>
          <a:prstGeom prst="ellipse">
            <a:avLst/>
          </a:prstGeom>
          <a:solidFill>
            <a:srgbClr val="4A2C38"/>
          </a:solidFill>
          <a:ln w="10160">
            <a:solidFill>
              <a:srgbClr val="4A2C38"/>
            </a:solidFill>
            <a:prstDash val="solid"/>
          </a:ln>
        </p:spPr>
      </p:sp>
      <p:sp>
        <p:nvSpPr>
          <p:cNvPr id="34" name="Text 32"/>
          <p:cNvSpPr/>
          <p:nvPr/>
        </p:nvSpPr>
        <p:spPr>
          <a:xfrm>
            <a:off x="6537960" y="391363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FFB8BE"/>
                </a:solidFill>
                <a:latin typeface="Aptos" pitchFamily="34" charset="0"/>
                <a:ea typeface="Aptos" pitchFamily="34" charset="-122"/>
                <a:cs typeface="Aptos" pitchFamily="34" charset="-120"/>
              </a:rPr>
              <a:t>!</a:t>
            </a:r>
            <a:endParaRPr lang="en-US" sz="1000" dirty="0"/>
          </a:p>
        </p:txBody>
      </p:sp>
      <p:sp>
        <p:nvSpPr>
          <p:cNvPr id="35" name="Text 33"/>
          <p:cNvSpPr/>
          <p:nvPr/>
        </p:nvSpPr>
        <p:spPr>
          <a:xfrm>
            <a:off x="6830568" y="3877056"/>
            <a:ext cx="4370832" cy="310896"/>
          </a:xfrm>
          <a:prstGeom prst="rect">
            <a:avLst/>
          </a:prstGeom>
          <a:noFill/>
          <a:ln/>
        </p:spPr>
        <p:txBody>
          <a:bodyPr wrap="square" lIns="0" tIns="0" rIns="0" bIns="0" rtlCol="0" anchor="ctr">
            <a:normAutofit/>
          </a:bodyPr>
          <a:lstStyle/>
          <a:p>
            <a:pPr algn="l" indent="0" marL="0">
              <a:buNone/>
            </a:pPr>
            <a:r>
              <a:rPr lang="en-US" sz="1000" dirty="0">
                <a:solidFill>
                  <a:srgbClr val="E0E8F3"/>
                </a:solidFill>
                <a:latin typeface="Aptos" pitchFamily="34" charset="0"/>
                <a:ea typeface="Aptos" pitchFamily="34" charset="-122"/>
                <a:cs typeface="Aptos" pitchFamily="34" charset="-120"/>
              </a:rPr>
              <a:t>Vault-based secrets, encryption and retention</a:t>
            </a:r>
            <a:endParaRPr lang="en-US" sz="1000" dirty="0"/>
          </a:p>
        </p:txBody>
      </p:sp>
      <p:sp>
        <p:nvSpPr>
          <p:cNvPr id="36" name="Shape 34"/>
          <p:cNvSpPr/>
          <p:nvPr/>
        </p:nvSpPr>
        <p:spPr>
          <a:xfrm>
            <a:off x="6537960" y="4425696"/>
            <a:ext cx="164592" cy="164592"/>
          </a:xfrm>
          <a:prstGeom prst="ellipse">
            <a:avLst/>
          </a:prstGeom>
          <a:solidFill>
            <a:srgbClr val="4A2C38"/>
          </a:solidFill>
          <a:ln w="10160">
            <a:solidFill>
              <a:srgbClr val="4A2C38"/>
            </a:solidFill>
            <a:prstDash val="solid"/>
          </a:ln>
        </p:spPr>
      </p:sp>
      <p:sp>
        <p:nvSpPr>
          <p:cNvPr id="37" name="Text 35"/>
          <p:cNvSpPr/>
          <p:nvPr/>
        </p:nvSpPr>
        <p:spPr>
          <a:xfrm>
            <a:off x="6537960" y="4416552"/>
            <a:ext cx="164592" cy="164592"/>
          </a:xfrm>
          <a:prstGeom prst="rect">
            <a:avLst/>
          </a:prstGeom>
          <a:noFill/>
          <a:ln/>
        </p:spPr>
        <p:txBody>
          <a:bodyPr wrap="square" lIns="0" tIns="0" rIns="0" bIns="0" rtlCol="0" anchor="ctr">
            <a:normAutofit/>
          </a:bodyPr>
          <a:lstStyle/>
          <a:p>
            <a:pPr algn="ctr" indent="0" marL="0">
              <a:buNone/>
            </a:pPr>
            <a:r>
              <a:rPr lang="en-US" sz="1000" b="1" dirty="0">
                <a:solidFill>
                  <a:srgbClr val="FFB8BE"/>
                </a:solidFill>
                <a:latin typeface="Aptos" pitchFamily="34" charset="0"/>
                <a:ea typeface="Aptos" pitchFamily="34" charset="-122"/>
                <a:cs typeface="Aptos" pitchFamily="34" charset="-120"/>
              </a:rPr>
              <a:t>!</a:t>
            </a:r>
            <a:endParaRPr lang="en-US" sz="1000" dirty="0"/>
          </a:p>
        </p:txBody>
      </p:sp>
      <p:sp>
        <p:nvSpPr>
          <p:cNvPr id="38" name="Text 36"/>
          <p:cNvSpPr/>
          <p:nvPr/>
        </p:nvSpPr>
        <p:spPr>
          <a:xfrm>
            <a:off x="6830568" y="4379976"/>
            <a:ext cx="4370832" cy="310896"/>
          </a:xfrm>
          <a:prstGeom prst="rect">
            <a:avLst/>
          </a:prstGeom>
          <a:noFill/>
          <a:ln/>
        </p:spPr>
        <p:txBody>
          <a:bodyPr wrap="square" lIns="0" tIns="0" rIns="0" bIns="0" rtlCol="0" anchor="ctr">
            <a:normAutofit/>
          </a:bodyPr>
          <a:lstStyle/>
          <a:p>
            <a:pPr algn="l" indent="0" marL="0">
              <a:buNone/>
            </a:pPr>
            <a:r>
              <a:rPr lang="en-US" sz="1000" dirty="0">
                <a:solidFill>
                  <a:srgbClr val="E0E8F3"/>
                </a:solidFill>
                <a:latin typeface="Aptos" pitchFamily="34" charset="0"/>
                <a:ea typeface="Aptos" pitchFamily="34" charset="-122"/>
                <a:cs typeface="Aptos" pitchFamily="34" charset="-120"/>
              </a:rPr>
              <a:t>Prompt-injection, ACL-leakage and semantic-grounding tests</a:t>
            </a:r>
            <a:endParaRPr lang="en-US" sz="1000" dirty="0"/>
          </a:p>
        </p:txBody>
      </p:sp>
      <p:sp>
        <p:nvSpPr>
          <p:cNvPr id="39" name="Shape 37"/>
          <p:cNvSpPr/>
          <p:nvPr/>
        </p:nvSpPr>
        <p:spPr>
          <a:xfrm>
            <a:off x="658368" y="5577840"/>
            <a:ext cx="10863072" cy="530352"/>
          </a:xfrm>
          <a:prstGeom prst="roundRect">
            <a:avLst>
              <a:gd name="adj" fmla="val 20690"/>
            </a:avLst>
          </a:prstGeom>
          <a:solidFill>
            <a:srgbClr val="E8EDF4"/>
          </a:solidFill>
          <a:ln w="5080">
            <a:solidFill>
              <a:srgbClr val="E0E7EF"/>
            </a:solidFill>
            <a:prstDash val="solid"/>
          </a:ln>
        </p:spPr>
      </p:sp>
      <p:sp>
        <p:nvSpPr>
          <p:cNvPr id="40" name="Text 38"/>
          <p:cNvSpPr/>
          <p:nvPr/>
        </p:nvSpPr>
        <p:spPr>
          <a:xfrm>
            <a:off x="877824" y="5733288"/>
            <a:ext cx="1024128" cy="164592"/>
          </a:xfrm>
          <a:prstGeom prst="rect">
            <a:avLst/>
          </a:prstGeom>
          <a:noFill/>
          <a:ln/>
        </p:spPr>
        <p:txBody>
          <a:bodyPr wrap="square" lIns="0" tIns="0" rIns="0" bIns="0" rtlCol="0" anchor="ctr">
            <a:normAutofit/>
          </a:bodyPr>
          <a:lstStyle/>
          <a:p>
            <a:pPr algn="l" indent="0" marL="0">
              <a:buNone/>
            </a:pPr>
            <a:r>
              <a:rPr lang="en-US" sz="800" b="1" spc="80" kern="0" dirty="0">
                <a:solidFill>
                  <a:srgbClr val="05BFA8"/>
                </a:solidFill>
                <a:latin typeface="Aptos" pitchFamily="34" charset="0"/>
                <a:ea typeface="Aptos" pitchFamily="34" charset="-122"/>
                <a:cs typeface="Aptos" pitchFamily="34" charset="-120"/>
              </a:rPr>
              <a:t>AUDIT EVENT</a:t>
            </a:r>
            <a:endParaRPr lang="en-US" sz="800" dirty="0"/>
          </a:p>
        </p:txBody>
      </p:sp>
      <p:sp>
        <p:nvSpPr>
          <p:cNvPr id="41" name="Text 39"/>
          <p:cNvSpPr/>
          <p:nvPr/>
        </p:nvSpPr>
        <p:spPr>
          <a:xfrm>
            <a:off x="2084832" y="5669280"/>
            <a:ext cx="5029200" cy="256032"/>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trace_id  •  decision  •  comment  •  timestamp (UTC)</a:t>
            </a:r>
            <a:endParaRPr lang="en-US" sz="1000" dirty="0"/>
          </a:p>
        </p:txBody>
      </p:sp>
      <p:sp>
        <p:nvSpPr>
          <p:cNvPr id="42" name="Text 40"/>
          <p:cNvSpPr/>
          <p:nvPr/>
        </p:nvSpPr>
        <p:spPr>
          <a:xfrm>
            <a:off x="8046720" y="5669280"/>
            <a:ext cx="3063240" cy="256032"/>
          </a:xfrm>
          <a:prstGeom prst="rect">
            <a:avLst/>
          </a:prstGeom>
          <a:noFill/>
          <a:ln/>
        </p:spPr>
        <p:txBody>
          <a:bodyPr wrap="square" lIns="0" tIns="0" rIns="0" bIns="0" rtlCol="0" anchor="ctr">
            <a:normAutofit/>
          </a:bodyPr>
          <a:lstStyle/>
          <a:p>
            <a:pPr algn="r" indent="0" marL="0">
              <a:buNone/>
            </a:pPr>
            <a:r>
              <a:rPr lang="en-US" sz="900" dirty="0">
                <a:solidFill>
                  <a:srgbClr val="59697D"/>
                </a:solidFill>
                <a:latin typeface="Aptos" pitchFamily="34" charset="0"/>
                <a:ea typeface="Aptos" pitchFamily="34" charset="-122"/>
                <a:cs typeface="Aptos" pitchFamily="34" charset="-120"/>
              </a:rPr>
              <a:t>Append-only local JSONL log</a:t>
            </a:r>
            <a:endParaRPr lang="en-US" sz="90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20040"/>
            <a:ext cx="9601200" cy="182880"/>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10 / PROTOTYPE VERIFICATION</a:t>
            </a:r>
            <a:endParaRPr lang="en-US" sz="900" dirty="0"/>
          </a:p>
        </p:txBody>
      </p:sp>
      <p:sp>
        <p:nvSpPr>
          <p:cNvPr id="3" name="Text 1"/>
          <p:cNvSpPr/>
          <p:nvPr/>
        </p:nvSpPr>
        <p:spPr>
          <a:xfrm>
            <a:off x="566928" y="594360"/>
            <a:ext cx="10972800" cy="475488"/>
          </a:xfrm>
          <a:prstGeom prst="rect">
            <a:avLst/>
          </a:prstGeom>
          <a:noFill/>
          <a:ln/>
        </p:spPr>
        <p:txBody>
          <a:bodyPr wrap="square" lIns="0" tIns="0" rIns="0" bIns="0" rtlCol="0" anchor="ctr">
            <a:normAutofit/>
          </a:bodyPr>
          <a:lstStyle/>
          <a:p>
            <a:pPr algn="l" indent="0" marL="0">
              <a:buNone/>
            </a:pPr>
            <a:r>
              <a:rPr lang="en-US" sz="2600" b="1" dirty="0">
                <a:solidFill>
                  <a:srgbClr val="152238"/>
                </a:solidFill>
                <a:latin typeface="Aptos Display" pitchFamily="34" charset="0"/>
                <a:ea typeface="Aptos Display" pitchFamily="34" charset="-122"/>
                <a:cs typeface="Aptos Display" pitchFamily="34" charset="-120"/>
              </a:rPr>
              <a:t>The key integration paths have been exercised</a:t>
            </a:r>
            <a:endParaRPr lang="en-US" sz="2600" dirty="0"/>
          </a:p>
        </p:txBody>
      </p:sp>
      <p:sp>
        <p:nvSpPr>
          <p:cNvPr id="4" name="Text 2"/>
          <p:cNvSpPr/>
          <p:nvPr/>
        </p:nvSpPr>
        <p:spPr>
          <a:xfrm>
            <a:off x="585216" y="1115568"/>
            <a:ext cx="10927080" cy="310896"/>
          </a:xfrm>
          <a:prstGeom prst="rect">
            <a:avLst/>
          </a:prstGeom>
          <a:noFill/>
          <a:ln/>
        </p:spPr>
        <p:txBody>
          <a:bodyPr wrap="square" lIns="0" tIns="0" rIns="0" bIns="0" rtlCol="0" anchor="ctr">
            <a:normAutofit/>
          </a:bodyPr>
          <a:lstStyle/>
          <a:p>
            <a:pPr algn="l" indent="0" marL="0">
              <a:buNone/>
            </a:pPr>
            <a:r>
              <a:rPr lang="en-US" sz="1100" dirty="0">
                <a:solidFill>
                  <a:srgbClr val="59697D"/>
                </a:solidFill>
                <a:latin typeface="Aptos" pitchFamily="34" charset="0"/>
                <a:ea typeface="Aptos" pitchFamily="34" charset="-122"/>
                <a:cs typeface="Aptos" pitchFamily="34" charset="-120"/>
              </a:rPr>
              <a:t>Current evidence is encouraging, but the automated evaluation is a small smoke suite—not a semantic-accuracy benchmark.</a:t>
            </a:r>
            <a:endParaRPr lang="en-US" sz="1100" dirty="0"/>
          </a:p>
        </p:txBody>
      </p:sp>
      <p:sp>
        <p:nvSpPr>
          <p:cNvPr id="5" name="Shape 3"/>
          <p:cNvSpPr/>
          <p:nvPr/>
        </p:nvSpPr>
        <p:spPr>
          <a:xfrm>
            <a:off x="658368" y="1828800"/>
            <a:ext cx="2359152" cy="1481328"/>
          </a:xfrm>
          <a:prstGeom prst="roundRect">
            <a:avLst>
              <a:gd name="adj" fmla="val 7407"/>
            </a:avLst>
          </a:prstGeom>
          <a:solidFill>
            <a:srgbClr val="FFFFFF"/>
          </a:solidFill>
          <a:ln w="10160">
            <a:solidFill>
              <a:srgbClr val="DEE6EF"/>
            </a:solidFill>
            <a:prstDash val="solid"/>
          </a:ln>
        </p:spPr>
      </p:sp>
      <p:sp>
        <p:nvSpPr>
          <p:cNvPr id="6" name="Shape 4"/>
          <p:cNvSpPr/>
          <p:nvPr/>
        </p:nvSpPr>
        <p:spPr>
          <a:xfrm>
            <a:off x="658368" y="1828800"/>
            <a:ext cx="2359152" cy="54864"/>
          </a:xfrm>
          <a:prstGeom prst="rect">
            <a:avLst>
              <a:gd name="adj" fmla="val 200000"/>
            </a:avLst>
          </a:prstGeom>
          <a:solidFill>
            <a:srgbClr val="05BFA8"/>
          </a:solidFill>
          <a:ln w="12700">
            <a:solidFill>
              <a:srgbClr val="05BFA8"/>
            </a:solidFill>
            <a:prstDash val="solid"/>
          </a:ln>
        </p:spPr>
      </p:sp>
      <p:sp>
        <p:nvSpPr>
          <p:cNvPr id="7" name="Text 5"/>
          <p:cNvSpPr/>
          <p:nvPr/>
        </p:nvSpPr>
        <p:spPr>
          <a:xfrm>
            <a:off x="841248" y="2084832"/>
            <a:ext cx="1965960" cy="512064"/>
          </a:xfrm>
          <a:prstGeom prst="rect">
            <a:avLst/>
          </a:prstGeom>
          <a:noFill/>
          <a:ln/>
        </p:spPr>
        <p:txBody>
          <a:bodyPr wrap="square" lIns="0" tIns="0" rIns="0" bIns="0" rtlCol="0" anchor="ctr">
            <a:normAutofit/>
          </a:bodyPr>
          <a:lstStyle/>
          <a:p>
            <a:pPr algn="l" indent="0" marL="0">
              <a:buNone/>
            </a:pPr>
            <a:r>
              <a:rPr lang="en-US" sz="2500" b="1" dirty="0">
                <a:solidFill>
                  <a:srgbClr val="152238"/>
                </a:solidFill>
                <a:latin typeface="Aptos Display" pitchFamily="34" charset="0"/>
                <a:ea typeface="Aptos Display" pitchFamily="34" charset="-122"/>
                <a:cs typeface="Aptos Display" pitchFamily="34" charset="-120"/>
              </a:rPr>
              <a:t>8 / 8</a:t>
            </a:r>
            <a:endParaRPr lang="en-US" sz="2500" dirty="0"/>
          </a:p>
        </p:txBody>
      </p:sp>
      <p:sp>
        <p:nvSpPr>
          <p:cNvPr id="8" name="Text 6"/>
          <p:cNvSpPr/>
          <p:nvPr/>
        </p:nvSpPr>
        <p:spPr>
          <a:xfrm>
            <a:off x="841248" y="2670048"/>
            <a:ext cx="1965960" cy="182880"/>
          </a:xfrm>
          <a:prstGeom prst="rect">
            <a:avLst/>
          </a:prstGeom>
          <a:noFill/>
          <a:ln/>
        </p:spPr>
        <p:txBody>
          <a:bodyPr wrap="square" lIns="0" tIns="0" rIns="0" bIns="0" rtlCol="0" anchor="ctr">
            <a:normAutofit/>
          </a:bodyPr>
          <a:lstStyle/>
          <a:p>
            <a:pPr algn="l" indent="0" marL="0">
              <a:buNone/>
            </a:pPr>
            <a:r>
              <a:rPr lang="en-US" sz="800" b="1" spc="65" kern="0" dirty="0">
                <a:solidFill>
                  <a:srgbClr val="05BFA8"/>
                </a:solidFill>
                <a:latin typeface="Aptos" pitchFamily="34" charset="0"/>
                <a:ea typeface="Aptos" pitchFamily="34" charset="-122"/>
                <a:cs typeface="Aptos" pitchFamily="34" charset="-120"/>
              </a:rPr>
              <a:t>AUTOMATED TESTS</a:t>
            </a:r>
            <a:endParaRPr lang="en-US" sz="800" dirty="0"/>
          </a:p>
        </p:txBody>
      </p:sp>
      <p:sp>
        <p:nvSpPr>
          <p:cNvPr id="9" name="Text 7"/>
          <p:cNvSpPr/>
          <p:nvPr/>
        </p:nvSpPr>
        <p:spPr>
          <a:xfrm>
            <a:off x="841248" y="2926080"/>
            <a:ext cx="1956816" cy="228600"/>
          </a:xfrm>
          <a:prstGeom prst="rect">
            <a:avLst/>
          </a:prstGeom>
          <a:noFill/>
          <a:ln/>
        </p:spPr>
        <p:txBody>
          <a:bodyPr wrap="square" lIns="0" tIns="0" rIns="0" bIns="0" rtlCol="0" anchor="ctr">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Latest pytest run passed</a:t>
            </a:r>
            <a:endParaRPr lang="en-US" sz="900" dirty="0"/>
          </a:p>
        </p:txBody>
      </p:sp>
      <p:sp>
        <p:nvSpPr>
          <p:cNvPr id="10" name="Shape 8"/>
          <p:cNvSpPr/>
          <p:nvPr/>
        </p:nvSpPr>
        <p:spPr>
          <a:xfrm>
            <a:off x="3493008" y="1828800"/>
            <a:ext cx="2359152" cy="1481328"/>
          </a:xfrm>
          <a:prstGeom prst="roundRect">
            <a:avLst>
              <a:gd name="adj" fmla="val 7407"/>
            </a:avLst>
          </a:prstGeom>
          <a:solidFill>
            <a:srgbClr val="FFFFFF"/>
          </a:solidFill>
          <a:ln w="10160">
            <a:solidFill>
              <a:srgbClr val="DEE6EF"/>
            </a:solidFill>
            <a:prstDash val="solid"/>
          </a:ln>
        </p:spPr>
      </p:sp>
      <p:sp>
        <p:nvSpPr>
          <p:cNvPr id="11" name="Shape 9"/>
          <p:cNvSpPr/>
          <p:nvPr/>
        </p:nvSpPr>
        <p:spPr>
          <a:xfrm>
            <a:off x="3493008" y="1828800"/>
            <a:ext cx="2359152" cy="54864"/>
          </a:xfrm>
          <a:prstGeom prst="rect">
            <a:avLst>
              <a:gd name="adj" fmla="val 200000"/>
            </a:avLst>
          </a:prstGeom>
          <a:solidFill>
            <a:srgbClr val="3ABFF8"/>
          </a:solidFill>
          <a:ln w="12700">
            <a:solidFill>
              <a:srgbClr val="3ABFF8"/>
            </a:solidFill>
            <a:prstDash val="solid"/>
          </a:ln>
        </p:spPr>
      </p:sp>
      <p:sp>
        <p:nvSpPr>
          <p:cNvPr id="12" name="Text 10"/>
          <p:cNvSpPr/>
          <p:nvPr/>
        </p:nvSpPr>
        <p:spPr>
          <a:xfrm>
            <a:off x="3675888" y="2084832"/>
            <a:ext cx="1965960" cy="512064"/>
          </a:xfrm>
          <a:prstGeom prst="rect">
            <a:avLst/>
          </a:prstGeom>
          <a:noFill/>
          <a:ln/>
        </p:spPr>
        <p:txBody>
          <a:bodyPr wrap="square" lIns="0" tIns="0" rIns="0" bIns="0" rtlCol="0" anchor="ctr">
            <a:normAutofit/>
          </a:bodyPr>
          <a:lstStyle/>
          <a:p>
            <a:pPr algn="l" indent="0" marL="0">
              <a:buNone/>
            </a:pPr>
            <a:r>
              <a:rPr lang="en-US" sz="2500" b="1" dirty="0">
                <a:solidFill>
                  <a:srgbClr val="152238"/>
                </a:solidFill>
                <a:latin typeface="Aptos Display" pitchFamily="34" charset="0"/>
                <a:ea typeface="Aptos Display" pitchFamily="34" charset="-122"/>
                <a:cs typeface="Aptos Display" pitchFamily="34" charset="-120"/>
              </a:rPr>
              <a:t>5 / 5</a:t>
            </a:r>
            <a:endParaRPr lang="en-US" sz="2500" dirty="0"/>
          </a:p>
        </p:txBody>
      </p:sp>
      <p:sp>
        <p:nvSpPr>
          <p:cNvPr id="13" name="Text 11"/>
          <p:cNvSpPr/>
          <p:nvPr/>
        </p:nvSpPr>
        <p:spPr>
          <a:xfrm>
            <a:off x="3675888" y="2670048"/>
            <a:ext cx="1965960" cy="182880"/>
          </a:xfrm>
          <a:prstGeom prst="rect">
            <a:avLst/>
          </a:prstGeom>
          <a:noFill/>
          <a:ln/>
        </p:spPr>
        <p:txBody>
          <a:bodyPr wrap="square" lIns="0" tIns="0" rIns="0" bIns="0" rtlCol="0" anchor="ctr">
            <a:normAutofit/>
          </a:bodyPr>
          <a:lstStyle/>
          <a:p>
            <a:pPr algn="l" indent="0" marL="0">
              <a:buNone/>
            </a:pPr>
            <a:r>
              <a:rPr lang="en-US" sz="800" b="1" spc="65" kern="0" dirty="0">
                <a:solidFill>
                  <a:srgbClr val="3ABFF8"/>
                </a:solidFill>
                <a:latin typeface="Aptos" pitchFamily="34" charset="0"/>
                <a:ea typeface="Aptos" pitchFamily="34" charset="-122"/>
                <a:cs typeface="Aptos" pitchFamily="34" charset="-120"/>
              </a:rPr>
              <a:t>EXPECTED-SOURCE HITS</a:t>
            </a:r>
            <a:endParaRPr lang="en-US" sz="800" dirty="0"/>
          </a:p>
        </p:txBody>
      </p:sp>
      <p:sp>
        <p:nvSpPr>
          <p:cNvPr id="14" name="Text 12"/>
          <p:cNvSpPr/>
          <p:nvPr/>
        </p:nvSpPr>
        <p:spPr>
          <a:xfrm>
            <a:off x="3675888" y="2926080"/>
            <a:ext cx="1956816" cy="228600"/>
          </a:xfrm>
          <a:prstGeom prst="rect">
            <a:avLst/>
          </a:prstGeom>
          <a:noFill/>
          <a:ln/>
        </p:spPr>
        <p:txBody>
          <a:bodyPr wrap="square" lIns="0" tIns="0" rIns="0" bIns="0" rtlCol="0" anchor="ctr">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Evaluation smoke set</a:t>
            </a:r>
            <a:endParaRPr lang="en-US" sz="900" dirty="0"/>
          </a:p>
        </p:txBody>
      </p:sp>
      <p:sp>
        <p:nvSpPr>
          <p:cNvPr id="15" name="Shape 13"/>
          <p:cNvSpPr/>
          <p:nvPr/>
        </p:nvSpPr>
        <p:spPr>
          <a:xfrm>
            <a:off x="6327648" y="1828800"/>
            <a:ext cx="2359152" cy="1481328"/>
          </a:xfrm>
          <a:prstGeom prst="roundRect">
            <a:avLst>
              <a:gd name="adj" fmla="val 7407"/>
            </a:avLst>
          </a:prstGeom>
          <a:solidFill>
            <a:srgbClr val="FFFFFF"/>
          </a:solidFill>
          <a:ln w="10160">
            <a:solidFill>
              <a:srgbClr val="DEE6EF"/>
            </a:solidFill>
            <a:prstDash val="solid"/>
          </a:ln>
        </p:spPr>
      </p:sp>
      <p:sp>
        <p:nvSpPr>
          <p:cNvPr id="16" name="Shape 14"/>
          <p:cNvSpPr/>
          <p:nvPr/>
        </p:nvSpPr>
        <p:spPr>
          <a:xfrm>
            <a:off x="6327648" y="1828800"/>
            <a:ext cx="2359152" cy="54864"/>
          </a:xfrm>
          <a:prstGeom prst="rect">
            <a:avLst>
              <a:gd name="adj" fmla="val 200000"/>
            </a:avLst>
          </a:prstGeom>
          <a:solidFill>
            <a:srgbClr val="198C72"/>
          </a:solidFill>
          <a:ln w="12700">
            <a:solidFill>
              <a:srgbClr val="198C72"/>
            </a:solidFill>
            <a:prstDash val="solid"/>
          </a:ln>
        </p:spPr>
      </p:sp>
      <p:sp>
        <p:nvSpPr>
          <p:cNvPr id="17" name="Text 15"/>
          <p:cNvSpPr/>
          <p:nvPr/>
        </p:nvSpPr>
        <p:spPr>
          <a:xfrm>
            <a:off x="6510528" y="2084832"/>
            <a:ext cx="1965960" cy="512064"/>
          </a:xfrm>
          <a:prstGeom prst="rect">
            <a:avLst/>
          </a:prstGeom>
          <a:noFill/>
          <a:ln/>
        </p:spPr>
        <p:txBody>
          <a:bodyPr wrap="square" lIns="0" tIns="0" rIns="0" bIns="0" rtlCol="0" anchor="ctr">
            <a:normAutofit/>
          </a:bodyPr>
          <a:lstStyle/>
          <a:p>
            <a:pPr algn="l" indent="0" marL="0">
              <a:buNone/>
            </a:pPr>
            <a:r>
              <a:rPr lang="en-US" sz="2500" b="1" dirty="0">
                <a:solidFill>
                  <a:srgbClr val="152238"/>
                </a:solidFill>
                <a:latin typeface="Aptos Display" pitchFamily="34" charset="0"/>
                <a:ea typeface="Aptos Display" pitchFamily="34" charset="-122"/>
                <a:cs typeface="Aptos Display" pitchFamily="34" charset="-120"/>
              </a:rPr>
              <a:t>5 / 5</a:t>
            </a:r>
            <a:endParaRPr lang="en-US" sz="2500" dirty="0"/>
          </a:p>
        </p:txBody>
      </p:sp>
      <p:sp>
        <p:nvSpPr>
          <p:cNvPr id="18" name="Text 16"/>
          <p:cNvSpPr/>
          <p:nvPr/>
        </p:nvSpPr>
        <p:spPr>
          <a:xfrm>
            <a:off x="6510528" y="2670048"/>
            <a:ext cx="1965960" cy="182880"/>
          </a:xfrm>
          <a:prstGeom prst="rect">
            <a:avLst/>
          </a:prstGeom>
          <a:noFill/>
          <a:ln/>
        </p:spPr>
        <p:txBody>
          <a:bodyPr wrap="square" lIns="0" tIns="0" rIns="0" bIns="0" rtlCol="0" anchor="ctr">
            <a:normAutofit/>
          </a:bodyPr>
          <a:lstStyle/>
          <a:p>
            <a:pPr algn="l" indent="0" marL="0">
              <a:buNone/>
            </a:pPr>
            <a:r>
              <a:rPr lang="en-US" sz="800" b="1" spc="65" kern="0" dirty="0">
                <a:solidFill>
                  <a:srgbClr val="198C72"/>
                </a:solidFill>
                <a:latin typeface="Aptos" pitchFamily="34" charset="0"/>
                <a:ea typeface="Aptos" pitchFamily="34" charset="-122"/>
                <a:cs typeface="Aptos" pitchFamily="34" charset="-120"/>
              </a:rPr>
              <a:t>CITATION CHECKS</a:t>
            </a:r>
            <a:endParaRPr lang="en-US" sz="800" dirty="0"/>
          </a:p>
        </p:txBody>
      </p:sp>
      <p:sp>
        <p:nvSpPr>
          <p:cNvPr id="19" name="Text 17"/>
          <p:cNvSpPr/>
          <p:nvPr/>
        </p:nvSpPr>
        <p:spPr>
          <a:xfrm>
            <a:off x="6510528" y="2926080"/>
            <a:ext cx="1956816" cy="228600"/>
          </a:xfrm>
          <a:prstGeom prst="rect">
            <a:avLst/>
          </a:prstGeom>
          <a:noFill/>
          <a:ln/>
        </p:spPr>
        <p:txBody>
          <a:bodyPr wrap="square" lIns="0" tIns="0" rIns="0" bIns="0" rtlCol="0" anchor="ctr">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Structural validation passed</a:t>
            </a:r>
            <a:endParaRPr lang="en-US" sz="900" dirty="0"/>
          </a:p>
        </p:txBody>
      </p:sp>
      <p:sp>
        <p:nvSpPr>
          <p:cNvPr id="20" name="Shape 18"/>
          <p:cNvSpPr/>
          <p:nvPr/>
        </p:nvSpPr>
        <p:spPr>
          <a:xfrm>
            <a:off x="9162288" y="1828800"/>
            <a:ext cx="2359152" cy="1481328"/>
          </a:xfrm>
          <a:prstGeom prst="roundRect">
            <a:avLst>
              <a:gd name="adj" fmla="val 7407"/>
            </a:avLst>
          </a:prstGeom>
          <a:solidFill>
            <a:srgbClr val="FFFFFF"/>
          </a:solidFill>
          <a:ln w="10160">
            <a:solidFill>
              <a:srgbClr val="DEE6EF"/>
            </a:solidFill>
            <a:prstDash val="solid"/>
          </a:ln>
        </p:spPr>
      </p:sp>
      <p:sp>
        <p:nvSpPr>
          <p:cNvPr id="21" name="Shape 19"/>
          <p:cNvSpPr/>
          <p:nvPr/>
        </p:nvSpPr>
        <p:spPr>
          <a:xfrm>
            <a:off x="9162288" y="1828800"/>
            <a:ext cx="2359152" cy="54864"/>
          </a:xfrm>
          <a:prstGeom prst="rect">
            <a:avLst>
              <a:gd name="adj" fmla="val 200000"/>
            </a:avLst>
          </a:prstGeom>
          <a:solidFill>
            <a:srgbClr val="F4B942"/>
          </a:solidFill>
          <a:ln w="12700">
            <a:solidFill>
              <a:srgbClr val="F4B942"/>
            </a:solidFill>
            <a:prstDash val="solid"/>
          </a:ln>
        </p:spPr>
      </p:sp>
      <p:sp>
        <p:nvSpPr>
          <p:cNvPr id="22" name="Text 20"/>
          <p:cNvSpPr/>
          <p:nvPr/>
        </p:nvSpPr>
        <p:spPr>
          <a:xfrm>
            <a:off x="9345168" y="2084832"/>
            <a:ext cx="1965960" cy="512064"/>
          </a:xfrm>
          <a:prstGeom prst="rect">
            <a:avLst/>
          </a:prstGeom>
          <a:noFill/>
          <a:ln/>
        </p:spPr>
        <p:txBody>
          <a:bodyPr wrap="square" lIns="0" tIns="0" rIns="0" bIns="0" rtlCol="0" anchor="ctr">
            <a:normAutofit/>
          </a:bodyPr>
          <a:lstStyle/>
          <a:p>
            <a:pPr algn="l" indent="0" marL="0">
              <a:buNone/>
            </a:pPr>
            <a:r>
              <a:rPr lang="en-US" sz="2500" b="1" dirty="0">
                <a:solidFill>
                  <a:srgbClr val="152238"/>
                </a:solidFill>
                <a:latin typeface="Aptos Display" pitchFamily="34" charset="0"/>
                <a:ea typeface="Aptos Display" pitchFamily="34" charset="-122"/>
                <a:cs typeface="Aptos Display" pitchFamily="34" charset="-120"/>
              </a:rPr>
              <a:t>2</a:t>
            </a:r>
            <a:endParaRPr lang="en-US" sz="2500" dirty="0"/>
          </a:p>
        </p:txBody>
      </p:sp>
      <p:sp>
        <p:nvSpPr>
          <p:cNvPr id="23" name="Text 21"/>
          <p:cNvSpPr/>
          <p:nvPr/>
        </p:nvSpPr>
        <p:spPr>
          <a:xfrm>
            <a:off x="9345168" y="2670048"/>
            <a:ext cx="1965960" cy="182880"/>
          </a:xfrm>
          <a:prstGeom prst="rect">
            <a:avLst/>
          </a:prstGeom>
          <a:noFill/>
          <a:ln/>
        </p:spPr>
        <p:txBody>
          <a:bodyPr wrap="square" lIns="0" tIns="0" rIns="0" bIns="0" rtlCol="0" anchor="ctr">
            <a:normAutofit/>
          </a:bodyPr>
          <a:lstStyle/>
          <a:p>
            <a:pPr algn="l" indent="0" marL="0">
              <a:buNone/>
            </a:pPr>
            <a:r>
              <a:rPr lang="en-US" sz="800" b="1" spc="65" kern="0" dirty="0">
                <a:solidFill>
                  <a:srgbClr val="F4B942"/>
                </a:solidFill>
                <a:latin typeface="Aptos" pitchFamily="34" charset="0"/>
                <a:ea typeface="Aptos" pitchFamily="34" charset="-122"/>
                <a:cs typeface="Aptos" pitchFamily="34" charset="-120"/>
              </a:rPr>
              <a:t>INTERFACES</a:t>
            </a:r>
            <a:endParaRPr lang="en-US" sz="800" dirty="0"/>
          </a:p>
        </p:txBody>
      </p:sp>
      <p:sp>
        <p:nvSpPr>
          <p:cNvPr id="24" name="Text 22"/>
          <p:cNvSpPr/>
          <p:nvPr/>
        </p:nvSpPr>
        <p:spPr>
          <a:xfrm>
            <a:off x="9345168" y="2926080"/>
            <a:ext cx="1956816" cy="228600"/>
          </a:xfrm>
          <a:prstGeom prst="rect">
            <a:avLst/>
          </a:prstGeom>
          <a:noFill/>
          <a:ln/>
        </p:spPr>
        <p:txBody>
          <a:bodyPr wrap="square" lIns="0" tIns="0" rIns="0" bIns="0" rtlCol="0" anchor="ctr">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Streamlit + FastAPI</a:t>
            </a:r>
            <a:endParaRPr lang="en-US" sz="900" dirty="0"/>
          </a:p>
        </p:txBody>
      </p:sp>
      <p:sp>
        <p:nvSpPr>
          <p:cNvPr id="25" name="Text 23"/>
          <p:cNvSpPr/>
          <p:nvPr/>
        </p:nvSpPr>
        <p:spPr>
          <a:xfrm>
            <a:off x="685800" y="3703320"/>
            <a:ext cx="237744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05BFA8"/>
                </a:solidFill>
                <a:latin typeface="Aptos" pitchFamily="34" charset="0"/>
                <a:ea typeface="Aptos" pitchFamily="34" charset="-122"/>
                <a:cs typeface="Aptos" pitchFamily="34" charset="-120"/>
              </a:rPr>
              <a:t>LIVE EXAMPLE OUTCOMES</a:t>
            </a:r>
            <a:endParaRPr lang="en-US" sz="900" dirty="0"/>
          </a:p>
        </p:txBody>
      </p:sp>
      <p:sp>
        <p:nvSpPr>
          <p:cNvPr id="26" name="Shape 24"/>
          <p:cNvSpPr/>
          <p:nvPr/>
        </p:nvSpPr>
        <p:spPr>
          <a:xfrm>
            <a:off x="685800" y="4041648"/>
            <a:ext cx="10817352" cy="393192"/>
          </a:xfrm>
          <a:prstGeom prst="roundRect">
            <a:avLst>
              <a:gd name="adj" fmla="val 27907"/>
            </a:avLst>
          </a:prstGeom>
          <a:solidFill>
            <a:srgbClr val="FFFFFF"/>
          </a:solidFill>
          <a:ln w="6350">
            <a:solidFill>
              <a:srgbClr val="DEE6EF"/>
            </a:solidFill>
            <a:prstDash val="solid"/>
          </a:ln>
        </p:spPr>
      </p:sp>
      <p:sp>
        <p:nvSpPr>
          <p:cNvPr id="27" name="Text 25"/>
          <p:cNvSpPr/>
          <p:nvPr/>
        </p:nvSpPr>
        <p:spPr>
          <a:xfrm>
            <a:off x="868680" y="4096512"/>
            <a:ext cx="1828800" cy="210312"/>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Supported question</a:t>
            </a:r>
            <a:endParaRPr lang="en-US" sz="1000" dirty="0"/>
          </a:p>
        </p:txBody>
      </p:sp>
      <p:sp>
        <p:nvSpPr>
          <p:cNvPr id="28" name="Text 26"/>
          <p:cNvSpPr/>
          <p:nvPr/>
        </p:nvSpPr>
        <p:spPr>
          <a:xfrm>
            <a:off x="2743200" y="4096512"/>
            <a:ext cx="6903720" cy="210312"/>
          </a:xfrm>
          <a:prstGeom prst="rect">
            <a:avLst/>
          </a:prstGeom>
          <a:noFill/>
          <a:ln/>
        </p:spPr>
        <p:txBody>
          <a:bodyPr wrap="square" lIns="0" tIns="0" rIns="0" bIns="0" rtlCol="0" anchor="ctr">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Meal limit answer matched the source: INR 1,200/day.</a:t>
            </a:r>
            <a:endParaRPr lang="en-US" sz="900" dirty="0"/>
          </a:p>
        </p:txBody>
      </p:sp>
      <p:sp>
        <p:nvSpPr>
          <p:cNvPr id="29" name="Shape 27"/>
          <p:cNvSpPr/>
          <p:nvPr/>
        </p:nvSpPr>
        <p:spPr>
          <a:xfrm>
            <a:off x="10332720" y="4105656"/>
            <a:ext cx="804672" cy="256032"/>
          </a:xfrm>
          <a:prstGeom prst="roundRect">
            <a:avLst>
              <a:gd name="adj" fmla="val 42857"/>
            </a:avLst>
          </a:prstGeom>
          <a:solidFill>
            <a:srgbClr val="E2F6EF"/>
          </a:solidFill>
          <a:ln w="3810">
            <a:solidFill>
              <a:srgbClr val="E2F6EF"/>
            </a:solidFill>
            <a:prstDash val="solid"/>
          </a:ln>
        </p:spPr>
      </p:sp>
      <p:sp>
        <p:nvSpPr>
          <p:cNvPr id="30" name="Text 28"/>
          <p:cNvSpPr/>
          <p:nvPr/>
        </p:nvSpPr>
        <p:spPr>
          <a:xfrm>
            <a:off x="10387584" y="4119372"/>
            <a:ext cx="694944"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98C72"/>
                </a:solidFill>
                <a:latin typeface="Aptos" pitchFamily="34" charset="0"/>
                <a:ea typeface="Aptos" pitchFamily="34" charset="-122"/>
                <a:cs typeface="Aptos" pitchFamily="34" charset="-120"/>
              </a:rPr>
              <a:t>PASS</a:t>
            </a:r>
            <a:endParaRPr lang="en-US" sz="850" dirty="0"/>
          </a:p>
        </p:txBody>
      </p:sp>
      <p:sp>
        <p:nvSpPr>
          <p:cNvPr id="31" name="Shape 29"/>
          <p:cNvSpPr/>
          <p:nvPr/>
        </p:nvSpPr>
        <p:spPr>
          <a:xfrm>
            <a:off x="685800" y="4544568"/>
            <a:ext cx="10817352" cy="393192"/>
          </a:xfrm>
          <a:prstGeom prst="roundRect">
            <a:avLst>
              <a:gd name="adj" fmla="val 27907"/>
            </a:avLst>
          </a:prstGeom>
          <a:solidFill>
            <a:srgbClr val="FFFFFF"/>
          </a:solidFill>
          <a:ln w="6350">
            <a:solidFill>
              <a:srgbClr val="DEE6EF"/>
            </a:solidFill>
            <a:prstDash val="solid"/>
          </a:ln>
        </p:spPr>
      </p:sp>
      <p:sp>
        <p:nvSpPr>
          <p:cNvPr id="32" name="Text 30"/>
          <p:cNvSpPr/>
          <p:nvPr/>
        </p:nvSpPr>
        <p:spPr>
          <a:xfrm>
            <a:off x="868680" y="4599432"/>
            <a:ext cx="1828800" cy="210312"/>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Unanswerable question</a:t>
            </a:r>
            <a:endParaRPr lang="en-US" sz="1000" dirty="0"/>
          </a:p>
        </p:txBody>
      </p:sp>
      <p:sp>
        <p:nvSpPr>
          <p:cNvPr id="33" name="Text 31"/>
          <p:cNvSpPr/>
          <p:nvPr/>
        </p:nvSpPr>
        <p:spPr>
          <a:xfrm>
            <a:off x="2743200" y="4599432"/>
            <a:ext cx="6903720" cy="210312"/>
          </a:xfrm>
          <a:prstGeom prst="rect">
            <a:avLst/>
          </a:prstGeom>
          <a:noFill/>
          <a:ln/>
        </p:spPr>
        <p:txBody>
          <a:bodyPr wrap="square" lIns="0" tIns="0" rIns="0" bIns="0" rtlCol="0" anchor="ctr">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Annual-leave response acknowledged missing evidence; retry_count = 1.</a:t>
            </a:r>
            <a:endParaRPr lang="en-US" sz="900" dirty="0"/>
          </a:p>
        </p:txBody>
      </p:sp>
      <p:sp>
        <p:nvSpPr>
          <p:cNvPr id="34" name="Shape 32"/>
          <p:cNvSpPr/>
          <p:nvPr/>
        </p:nvSpPr>
        <p:spPr>
          <a:xfrm>
            <a:off x="10332720" y="4608576"/>
            <a:ext cx="804672" cy="256032"/>
          </a:xfrm>
          <a:prstGeom prst="roundRect">
            <a:avLst>
              <a:gd name="adj" fmla="val 42857"/>
            </a:avLst>
          </a:prstGeom>
          <a:solidFill>
            <a:srgbClr val="E2F6EF"/>
          </a:solidFill>
          <a:ln w="3810">
            <a:solidFill>
              <a:srgbClr val="E2F6EF"/>
            </a:solidFill>
            <a:prstDash val="solid"/>
          </a:ln>
        </p:spPr>
      </p:sp>
      <p:sp>
        <p:nvSpPr>
          <p:cNvPr id="35" name="Text 33"/>
          <p:cNvSpPr/>
          <p:nvPr/>
        </p:nvSpPr>
        <p:spPr>
          <a:xfrm>
            <a:off x="10387584" y="4622292"/>
            <a:ext cx="694944"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98C72"/>
                </a:solidFill>
                <a:latin typeface="Aptos" pitchFamily="34" charset="0"/>
                <a:ea typeface="Aptos" pitchFamily="34" charset="-122"/>
                <a:cs typeface="Aptos" pitchFamily="34" charset="-120"/>
              </a:rPr>
              <a:t>PASS</a:t>
            </a:r>
            <a:endParaRPr lang="en-US" sz="850" dirty="0"/>
          </a:p>
        </p:txBody>
      </p:sp>
      <p:sp>
        <p:nvSpPr>
          <p:cNvPr id="36" name="Shape 34"/>
          <p:cNvSpPr/>
          <p:nvPr/>
        </p:nvSpPr>
        <p:spPr>
          <a:xfrm>
            <a:off x="685800" y="5047488"/>
            <a:ext cx="10817352" cy="393192"/>
          </a:xfrm>
          <a:prstGeom prst="roundRect">
            <a:avLst>
              <a:gd name="adj" fmla="val 27907"/>
            </a:avLst>
          </a:prstGeom>
          <a:solidFill>
            <a:srgbClr val="FFFFFF"/>
          </a:solidFill>
          <a:ln w="6350">
            <a:solidFill>
              <a:srgbClr val="DEE6EF"/>
            </a:solidFill>
            <a:prstDash val="solid"/>
          </a:ln>
        </p:spPr>
      </p:sp>
      <p:sp>
        <p:nvSpPr>
          <p:cNvPr id="37" name="Text 35"/>
          <p:cNvSpPr/>
          <p:nvPr/>
        </p:nvSpPr>
        <p:spPr>
          <a:xfrm>
            <a:off x="868680" y="5102352"/>
            <a:ext cx="1828800" cy="210312"/>
          </a:xfrm>
          <a:prstGeom prst="rect">
            <a:avLst/>
          </a:prstGeom>
          <a:noFill/>
          <a:ln/>
        </p:spPr>
        <p:txBody>
          <a:bodyPr wrap="square" lIns="0" tIns="0" rIns="0" bIns="0" rtlCol="0" anchor="ctr">
            <a:normAutofit/>
          </a:bodyPr>
          <a:lstStyle/>
          <a:p>
            <a:pPr algn="l" indent="0" marL="0">
              <a:buNone/>
            </a:pPr>
            <a:r>
              <a:rPr lang="en-US" sz="1000" b="1" dirty="0">
                <a:solidFill>
                  <a:srgbClr val="152238"/>
                </a:solidFill>
                <a:latin typeface="Aptos" pitchFamily="34" charset="0"/>
                <a:ea typeface="Aptos" pitchFamily="34" charset="-122"/>
                <a:cs typeface="Aptos" pitchFamily="34" charset="-120"/>
              </a:rPr>
              <a:t>Human review</a:t>
            </a:r>
            <a:endParaRPr lang="en-US" sz="1000" dirty="0"/>
          </a:p>
        </p:txBody>
      </p:sp>
      <p:sp>
        <p:nvSpPr>
          <p:cNvPr id="38" name="Text 36"/>
          <p:cNvSpPr/>
          <p:nvPr/>
        </p:nvSpPr>
        <p:spPr>
          <a:xfrm>
            <a:off x="2743200" y="5102352"/>
            <a:ext cx="6903720" cy="210312"/>
          </a:xfrm>
          <a:prstGeom prst="rect">
            <a:avLst/>
          </a:prstGeom>
          <a:noFill/>
          <a:ln/>
        </p:spPr>
        <p:txBody>
          <a:bodyPr wrap="square" lIns="0" tIns="0" rIns="0" bIns="0" rtlCol="0" anchor="ctr">
            <a:normAutofit/>
          </a:bodyPr>
          <a:lstStyle/>
          <a:p>
            <a:pPr algn="l" indent="0" marL="0">
              <a:buNone/>
            </a:pPr>
            <a:r>
              <a:rPr lang="en-US" sz="900" dirty="0">
                <a:solidFill>
                  <a:srgbClr val="59697D"/>
                </a:solidFill>
                <a:latin typeface="Aptos" pitchFamily="34" charset="0"/>
                <a:ea typeface="Aptos" pitchFamily="34" charset="-122"/>
                <a:cs typeface="Aptos" pitchFamily="34" charset="-120"/>
              </a:rPr>
              <a:t>Approval and needs-review actions were persisted with trace IDs.</a:t>
            </a:r>
            <a:endParaRPr lang="en-US" sz="900" dirty="0"/>
          </a:p>
        </p:txBody>
      </p:sp>
      <p:sp>
        <p:nvSpPr>
          <p:cNvPr id="39" name="Shape 37"/>
          <p:cNvSpPr/>
          <p:nvPr/>
        </p:nvSpPr>
        <p:spPr>
          <a:xfrm>
            <a:off x="10332720" y="5111496"/>
            <a:ext cx="804672" cy="256032"/>
          </a:xfrm>
          <a:prstGeom prst="roundRect">
            <a:avLst>
              <a:gd name="adj" fmla="val 42857"/>
            </a:avLst>
          </a:prstGeom>
          <a:solidFill>
            <a:srgbClr val="E2F6EF"/>
          </a:solidFill>
          <a:ln w="3810">
            <a:solidFill>
              <a:srgbClr val="E2F6EF"/>
            </a:solidFill>
            <a:prstDash val="solid"/>
          </a:ln>
        </p:spPr>
      </p:sp>
      <p:sp>
        <p:nvSpPr>
          <p:cNvPr id="40" name="Text 38"/>
          <p:cNvSpPr/>
          <p:nvPr/>
        </p:nvSpPr>
        <p:spPr>
          <a:xfrm>
            <a:off x="10387584" y="5125212"/>
            <a:ext cx="694944"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198C72"/>
                </a:solidFill>
                <a:latin typeface="Aptos" pitchFamily="34" charset="0"/>
                <a:ea typeface="Aptos" pitchFamily="34" charset="-122"/>
                <a:cs typeface="Aptos" pitchFamily="34" charset="-120"/>
              </a:rPr>
              <a:t>PASS</a:t>
            </a:r>
            <a:endParaRPr lang="en-US" sz="850" dirty="0"/>
          </a:p>
        </p:txBody>
      </p:sp>
      <p:sp>
        <p:nvSpPr>
          <p:cNvPr id="41" name="Shape 39"/>
          <p:cNvSpPr/>
          <p:nvPr/>
        </p:nvSpPr>
        <p:spPr>
          <a:xfrm>
            <a:off x="685800" y="5715000"/>
            <a:ext cx="10817352" cy="393192"/>
          </a:xfrm>
          <a:prstGeom prst="roundRect">
            <a:avLst>
              <a:gd name="adj" fmla="val 27907"/>
            </a:avLst>
          </a:prstGeom>
          <a:solidFill>
            <a:srgbClr val="FFF3D6"/>
          </a:solidFill>
          <a:ln w="6350">
            <a:solidFill>
              <a:srgbClr val="F3D98D"/>
            </a:solidFill>
            <a:prstDash val="solid"/>
          </a:ln>
        </p:spPr>
      </p:sp>
      <p:sp>
        <p:nvSpPr>
          <p:cNvPr id="42" name="Text 40"/>
          <p:cNvSpPr/>
          <p:nvPr/>
        </p:nvSpPr>
        <p:spPr>
          <a:xfrm>
            <a:off x="868680" y="5797296"/>
            <a:ext cx="1325880" cy="173736"/>
          </a:xfrm>
          <a:prstGeom prst="rect">
            <a:avLst/>
          </a:prstGeom>
          <a:noFill/>
          <a:ln/>
        </p:spPr>
        <p:txBody>
          <a:bodyPr wrap="square" lIns="0" tIns="0" rIns="0" bIns="0" rtlCol="0" anchor="ctr">
            <a:normAutofit/>
          </a:bodyPr>
          <a:lstStyle/>
          <a:p>
            <a:pPr algn="l" indent="0" marL="0">
              <a:buNone/>
            </a:pPr>
            <a:r>
              <a:rPr lang="en-US" sz="800" b="1" spc="50" kern="0" dirty="0">
                <a:solidFill>
                  <a:srgbClr val="956509"/>
                </a:solidFill>
                <a:latin typeface="Aptos" pitchFamily="34" charset="0"/>
                <a:ea typeface="Aptos" pitchFamily="34" charset="-122"/>
                <a:cs typeface="Aptos" pitchFamily="34" charset="-120"/>
              </a:rPr>
              <a:t>QUALITY CAVEAT</a:t>
            </a:r>
            <a:endParaRPr lang="en-US" sz="800" dirty="0"/>
          </a:p>
        </p:txBody>
      </p:sp>
      <p:sp>
        <p:nvSpPr>
          <p:cNvPr id="43" name="Text 41"/>
          <p:cNvSpPr/>
          <p:nvPr/>
        </p:nvSpPr>
        <p:spPr>
          <a:xfrm>
            <a:off x="2286000" y="5779008"/>
            <a:ext cx="8887968" cy="201168"/>
          </a:xfrm>
          <a:prstGeom prst="rect">
            <a:avLst/>
          </a:prstGeom>
          <a:noFill/>
          <a:ln/>
        </p:spPr>
        <p:txBody>
          <a:bodyPr wrap="square" lIns="0" tIns="0" rIns="0" bIns="0" rtlCol="0" anchor="ctr">
            <a:normAutofit/>
          </a:bodyPr>
          <a:lstStyle/>
          <a:p>
            <a:pPr algn="l" indent="0" marL="0">
              <a:buNone/>
            </a:pPr>
            <a:r>
              <a:rPr lang="en-US" sz="900" dirty="0">
                <a:solidFill>
                  <a:srgbClr val="79570D"/>
                </a:solidFill>
                <a:latin typeface="Aptos" pitchFamily="34" charset="0"/>
                <a:ea typeface="Aptos" pitchFamily="34" charset="-122"/>
                <a:cs typeface="Aptos" pitchFamily="34" charset="-120"/>
              </a:rPr>
              <a:t>Citation-format checks do not prove claim-level truth. Latency is variable and requires repeated-run profiling.</a:t>
            </a:r>
            <a:endParaRPr lang="en-US" sz="900" dirty="0"/>
          </a:p>
        </p:txBody>
      </p:sp>
      <p:sp>
        <p:nvSpPr>
          <p:cNvPr id="25" name="Slide Number Placeholder 0"/>
          <p:cNvSpPr>
            <a:spLocks noGrp="1"/>
          </p:cNvSpPr>
          <p:nvPr>
            <p:ph type="sldNum" sz="quarter" idx="4294967295"/>
          </p:nvPr>
        </p:nvSpPr>
        <p:spPr>
          <a:xfrm>
            <a:off x="11777472" y="654710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C8999"/>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621792" y="411480"/>
            <a:ext cx="3657600" cy="201168"/>
          </a:xfrm>
          <a:prstGeom prst="rect">
            <a:avLst/>
          </a:prstGeom>
          <a:noFill/>
          <a:ln/>
        </p:spPr>
        <p:txBody>
          <a:bodyPr wrap="square" lIns="0" tIns="0" rIns="0" bIns="0" rtlCol="0" anchor="ctr">
            <a:normAutofit/>
          </a:bodyPr>
          <a:lstStyle/>
          <a:p>
            <a:pPr algn="l" indent="0" marL="0">
              <a:buNone/>
            </a:pPr>
            <a:r>
              <a:rPr lang="en-US" sz="900" b="1" spc="150" kern="0" dirty="0">
                <a:solidFill>
                  <a:srgbClr val="05BFA8"/>
                </a:solidFill>
                <a:latin typeface="Aptos" pitchFamily="34" charset="0"/>
                <a:ea typeface="Aptos" pitchFamily="34" charset="-122"/>
                <a:cs typeface="Aptos" pitchFamily="34" charset="-120"/>
              </a:rPr>
              <a:t>11 / DELIVERY ROADMAP</a:t>
            </a:r>
            <a:endParaRPr lang="en-US" sz="900" dirty="0"/>
          </a:p>
        </p:txBody>
      </p:sp>
      <p:sp>
        <p:nvSpPr>
          <p:cNvPr id="3" name="Text 1"/>
          <p:cNvSpPr/>
          <p:nvPr/>
        </p:nvSpPr>
        <p:spPr>
          <a:xfrm>
            <a:off x="621792" y="749808"/>
            <a:ext cx="9875520" cy="969264"/>
          </a:xfrm>
          <a:prstGeom prst="rect">
            <a:avLst/>
          </a:prstGeom>
          <a:noFill/>
          <a:ln/>
        </p:spPr>
        <p:txBody>
          <a:bodyPr wrap="square" lIns="0" tIns="0" rIns="0" bIns="0" rtlCol="0" anchor="t">
            <a:normAutofit/>
          </a:bodyPr>
          <a:lstStyle/>
          <a:p>
            <a:pPr algn="l" indent="0" marL="0">
              <a:buNone/>
            </a:pPr>
            <a:r>
              <a:rPr lang="en-US" sz="2700" b="1" dirty="0">
                <a:solidFill>
                  <a:srgbClr val="FFFFFF"/>
                </a:solidFill>
                <a:latin typeface="Aptos Display" pitchFamily="34" charset="0"/>
                <a:ea typeface="Aptos Display" pitchFamily="34" charset="-122"/>
                <a:cs typeface="Aptos Display" pitchFamily="34" charset="-120"/>
              </a:rPr>
              <a:t>Working prototype today.</a:t>
            </a:r>
            <a:endParaRPr lang="en-US" sz="2700" dirty="0"/>
          </a:p>
          <a:p>
            <a:pPr algn="l" indent="0" marL="0">
              <a:buNone/>
            </a:pPr>
            <a:r>
              <a:rPr lang="en-US" sz="2700" b="1" dirty="0">
                <a:solidFill>
                  <a:srgbClr val="FFFFFF"/>
                </a:solidFill>
                <a:latin typeface="Aptos Display" pitchFamily="34" charset="0"/>
                <a:ea typeface="Aptos Display" pitchFamily="34" charset="-122"/>
                <a:cs typeface="Aptos Display" pitchFamily="34" charset="-120"/>
              </a:rPr>
              <a:t>Governed enterprise service next.</a:t>
            </a:r>
            <a:endParaRPr lang="en-US" sz="2700" dirty="0"/>
          </a:p>
        </p:txBody>
      </p:sp>
      <p:sp>
        <p:nvSpPr>
          <p:cNvPr id="4" name="Text 2"/>
          <p:cNvSpPr/>
          <p:nvPr/>
        </p:nvSpPr>
        <p:spPr>
          <a:xfrm>
            <a:off x="658368" y="1874520"/>
            <a:ext cx="9875520" cy="320040"/>
          </a:xfrm>
          <a:prstGeom prst="rect">
            <a:avLst/>
          </a:prstGeom>
          <a:noFill/>
          <a:ln/>
        </p:spPr>
        <p:txBody>
          <a:bodyPr wrap="square" lIns="0" tIns="0" rIns="0" bIns="0" rtlCol="0" anchor="ctr">
            <a:normAutofit/>
          </a:bodyPr>
          <a:lstStyle/>
          <a:p>
            <a:pPr algn="l" indent="0" marL="0">
              <a:buNone/>
            </a:pPr>
            <a:r>
              <a:rPr lang="en-US" sz="1200" dirty="0">
                <a:solidFill>
                  <a:srgbClr val="BAC7D9"/>
                </a:solidFill>
                <a:latin typeface="Aptos" pitchFamily="34" charset="0"/>
                <a:ea typeface="Aptos" pitchFamily="34" charset="-122"/>
                <a:cs typeface="Aptos" pitchFamily="34" charset="-120"/>
              </a:rPr>
              <a:t>A staged approach keeps the demo valuable while making the production gates explicit.</a:t>
            </a:r>
            <a:endParaRPr lang="en-US" sz="1200" dirty="0"/>
          </a:p>
        </p:txBody>
      </p:sp>
      <p:sp>
        <p:nvSpPr>
          <p:cNvPr id="5" name="Shape 3"/>
          <p:cNvSpPr/>
          <p:nvPr/>
        </p:nvSpPr>
        <p:spPr>
          <a:xfrm>
            <a:off x="658368" y="2606040"/>
            <a:ext cx="3063240" cy="2578608"/>
          </a:xfrm>
          <a:prstGeom prst="roundRect">
            <a:avLst>
              <a:gd name="adj" fmla="val 4255"/>
            </a:avLst>
          </a:prstGeom>
          <a:solidFill>
            <a:srgbClr val="14243B"/>
          </a:solidFill>
          <a:ln w="11430">
            <a:solidFill>
              <a:srgbClr val="2B405B"/>
            </a:solidFill>
            <a:prstDash val="solid"/>
          </a:ln>
        </p:spPr>
      </p:sp>
      <p:sp>
        <p:nvSpPr>
          <p:cNvPr id="6" name="Shape 4"/>
          <p:cNvSpPr/>
          <p:nvPr/>
        </p:nvSpPr>
        <p:spPr>
          <a:xfrm>
            <a:off x="877824" y="2834640"/>
            <a:ext cx="731520" cy="256032"/>
          </a:xfrm>
          <a:prstGeom prst="roundRect">
            <a:avLst>
              <a:gd name="adj" fmla="val 42857"/>
            </a:avLst>
          </a:prstGeom>
          <a:solidFill>
            <a:srgbClr val="05BFA8"/>
          </a:solidFill>
          <a:ln w="3810">
            <a:solidFill>
              <a:srgbClr val="05BFA8"/>
            </a:solidFill>
            <a:prstDash val="solid"/>
          </a:ln>
        </p:spPr>
      </p:sp>
      <p:sp>
        <p:nvSpPr>
          <p:cNvPr id="7" name="Text 5"/>
          <p:cNvSpPr/>
          <p:nvPr/>
        </p:nvSpPr>
        <p:spPr>
          <a:xfrm>
            <a:off x="932688" y="2848356"/>
            <a:ext cx="621792"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0B1220"/>
                </a:solidFill>
                <a:latin typeface="Aptos" pitchFamily="34" charset="0"/>
                <a:ea typeface="Aptos" pitchFamily="34" charset="-122"/>
                <a:cs typeface="Aptos" pitchFamily="34" charset="-120"/>
              </a:rPr>
              <a:t>NOW</a:t>
            </a:r>
            <a:endParaRPr lang="en-US" sz="850" dirty="0"/>
          </a:p>
        </p:txBody>
      </p:sp>
      <p:sp>
        <p:nvSpPr>
          <p:cNvPr id="8" name="Text 6"/>
          <p:cNvSpPr/>
          <p:nvPr/>
        </p:nvSpPr>
        <p:spPr>
          <a:xfrm>
            <a:off x="877824" y="3310128"/>
            <a:ext cx="2651760" cy="32004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Display" pitchFamily="34" charset="0"/>
                <a:ea typeface="Aptos Display" pitchFamily="34" charset="-122"/>
                <a:cs typeface="Aptos Display" pitchFamily="34" charset="-120"/>
              </a:rPr>
              <a:t>Demonstrate</a:t>
            </a:r>
            <a:endParaRPr lang="en-US" sz="1600" dirty="0"/>
          </a:p>
        </p:txBody>
      </p:sp>
      <p:sp>
        <p:nvSpPr>
          <p:cNvPr id="9" name="Shape 7"/>
          <p:cNvSpPr/>
          <p:nvPr/>
        </p:nvSpPr>
        <p:spPr>
          <a:xfrm>
            <a:off x="914400" y="3913632"/>
            <a:ext cx="73152" cy="73152"/>
          </a:xfrm>
          <a:prstGeom prst="ellipse">
            <a:avLst/>
          </a:prstGeom>
          <a:solidFill>
            <a:srgbClr val="05BFA8"/>
          </a:solidFill>
          <a:ln w="10160">
            <a:solidFill>
              <a:srgbClr val="05BFA8"/>
            </a:solidFill>
            <a:prstDash val="solid"/>
          </a:ln>
        </p:spPr>
      </p:sp>
      <p:sp>
        <p:nvSpPr>
          <p:cNvPr id="10" name="Text 8"/>
          <p:cNvSpPr/>
          <p:nvPr/>
        </p:nvSpPr>
        <p:spPr>
          <a:xfrm>
            <a:off x="1088136" y="3840480"/>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Clean the demo corpus</a:t>
            </a:r>
            <a:endParaRPr lang="en-US" sz="900" dirty="0"/>
          </a:p>
        </p:txBody>
      </p:sp>
      <p:sp>
        <p:nvSpPr>
          <p:cNvPr id="11" name="Shape 9"/>
          <p:cNvSpPr/>
          <p:nvPr/>
        </p:nvSpPr>
        <p:spPr>
          <a:xfrm>
            <a:off x="914400" y="4297680"/>
            <a:ext cx="73152" cy="73152"/>
          </a:xfrm>
          <a:prstGeom prst="ellipse">
            <a:avLst/>
          </a:prstGeom>
          <a:solidFill>
            <a:srgbClr val="05BFA8"/>
          </a:solidFill>
          <a:ln w="10160">
            <a:solidFill>
              <a:srgbClr val="05BFA8"/>
            </a:solidFill>
            <a:prstDash val="solid"/>
          </a:ln>
        </p:spPr>
      </p:sp>
      <p:sp>
        <p:nvSpPr>
          <p:cNvPr id="12" name="Text 10"/>
          <p:cNvSpPr/>
          <p:nvPr/>
        </p:nvSpPr>
        <p:spPr>
          <a:xfrm>
            <a:off x="1088136" y="4224528"/>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Show evidence + abstention</a:t>
            </a:r>
            <a:endParaRPr lang="en-US" sz="900" dirty="0"/>
          </a:p>
        </p:txBody>
      </p:sp>
      <p:sp>
        <p:nvSpPr>
          <p:cNvPr id="13" name="Shape 11"/>
          <p:cNvSpPr/>
          <p:nvPr/>
        </p:nvSpPr>
        <p:spPr>
          <a:xfrm>
            <a:off x="914400" y="4681728"/>
            <a:ext cx="73152" cy="73152"/>
          </a:xfrm>
          <a:prstGeom prst="ellipse">
            <a:avLst/>
          </a:prstGeom>
          <a:solidFill>
            <a:srgbClr val="05BFA8"/>
          </a:solidFill>
          <a:ln w="10160">
            <a:solidFill>
              <a:srgbClr val="05BFA8"/>
            </a:solidFill>
            <a:prstDash val="solid"/>
          </a:ln>
        </p:spPr>
      </p:sp>
      <p:sp>
        <p:nvSpPr>
          <p:cNvPr id="14" name="Text 12"/>
          <p:cNvSpPr/>
          <p:nvPr/>
        </p:nvSpPr>
        <p:spPr>
          <a:xfrm>
            <a:off x="1088136" y="4608576"/>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Keep tests and trace logs ready</a:t>
            </a:r>
            <a:endParaRPr lang="en-US" sz="900" dirty="0"/>
          </a:p>
        </p:txBody>
      </p:sp>
      <p:sp>
        <p:nvSpPr>
          <p:cNvPr id="15" name="Shape 13"/>
          <p:cNvSpPr/>
          <p:nvPr/>
        </p:nvSpPr>
        <p:spPr>
          <a:xfrm>
            <a:off x="4133088" y="2606040"/>
            <a:ext cx="3063240" cy="2578608"/>
          </a:xfrm>
          <a:prstGeom prst="roundRect">
            <a:avLst>
              <a:gd name="adj" fmla="val 4255"/>
            </a:avLst>
          </a:prstGeom>
          <a:solidFill>
            <a:srgbClr val="14243B"/>
          </a:solidFill>
          <a:ln w="11430">
            <a:solidFill>
              <a:srgbClr val="2B405B"/>
            </a:solidFill>
            <a:prstDash val="solid"/>
          </a:ln>
        </p:spPr>
      </p:sp>
      <p:sp>
        <p:nvSpPr>
          <p:cNvPr id="16" name="Shape 14"/>
          <p:cNvSpPr/>
          <p:nvPr/>
        </p:nvSpPr>
        <p:spPr>
          <a:xfrm>
            <a:off x="4352544" y="2834640"/>
            <a:ext cx="731520" cy="256032"/>
          </a:xfrm>
          <a:prstGeom prst="roundRect">
            <a:avLst>
              <a:gd name="adj" fmla="val 42857"/>
            </a:avLst>
          </a:prstGeom>
          <a:solidFill>
            <a:srgbClr val="3ABFF8"/>
          </a:solidFill>
          <a:ln w="3810">
            <a:solidFill>
              <a:srgbClr val="3ABFF8"/>
            </a:solidFill>
            <a:prstDash val="solid"/>
          </a:ln>
        </p:spPr>
      </p:sp>
      <p:sp>
        <p:nvSpPr>
          <p:cNvPr id="17" name="Text 15"/>
          <p:cNvSpPr/>
          <p:nvPr/>
        </p:nvSpPr>
        <p:spPr>
          <a:xfrm>
            <a:off x="4407408" y="2848356"/>
            <a:ext cx="621792"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0B1220"/>
                </a:solidFill>
                <a:latin typeface="Aptos" pitchFamily="34" charset="0"/>
                <a:ea typeface="Aptos" pitchFamily="34" charset="-122"/>
                <a:cs typeface="Aptos" pitchFamily="34" charset="-120"/>
              </a:rPr>
              <a:t>NEXT</a:t>
            </a:r>
            <a:endParaRPr lang="en-US" sz="850" dirty="0"/>
          </a:p>
        </p:txBody>
      </p:sp>
      <p:sp>
        <p:nvSpPr>
          <p:cNvPr id="18" name="Text 16"/>
          <p:cNvSpPr/>
          <p:nvPr/>
        </p:nvSpPr>
        <p:spPr>
          <a:xfrm>
            <a:off x="4352544" y="3310128"/>
            <a:ext cx="2651760" cy="32004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Display" pitchFamily="34" charset="0"/>
                <a:ea typeface="Aptos Display" pitchFamily="34" charset="-122"/>
                <a:cs typeface="Aptos Display" pitchFamily="34" charset="-120"/>
              </a:rPr>
              <a:t>Pilot safely</a:t>
            </a:r>
            <a:endParaRPr lang="en-US" sz="1600" dirty="0"/>
          </a:p>
        </p:txBody>
      </p:sp>
      <p:sp>
        <p:nvSpPr>
          <p:cNvPr id="19" name="Shape 17"/>
          <p:cNvSpPr/>
          <p:nvPr/>
        </p:nvSpPr>
        <p:spPr>
          <a:xfrm>
            <a:off x="4389120" y="3913632"/>
            <a:ext cx="73152" cy="73152"/>
          </a:xfrm>
          <a:prstGeom prst="ellipse">
            <a:avLst/>
          </a:prstGeom>
          <a:solidFill>
            <a:srgbClr val="3ABFF8"/>
          </a:solidFill>
          <a:ln w="10160">
            <a:solidFill>
              <a:srgbClr val="3ABFF8"/>
            </a:solidFill>
            <a:prstDash val="solid"/>
          </a:ln>
        </p:spPr>
      </p:sp>
      <p:sp>
        <p:nvSpPr>
          <p:cNvPr id="20" name="Text 18"/>
          <p:cNvSpPr/>
          <p:nvPr/>
        </p:nvSpPr>
        <p:spPr>
          <a:xfrm>
            <a:off x="4562856" y="3840480"/>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Reviewed golden question set</a:t>
            </a:r>
            <a:endParaRPr lang="en-US" sz="900" dirty="0"/>
          </a:p>
        </p:txBody>
      </p:sp>
      <p:sp>
        <p:nvSpPr>
          <p:cNvPr id="21" name="Shape 19"/>
          <p:cNvSpPr/>
          <p:nvPr/>
        </p:nvSpPr>
        <p:spPr>
          <a:xfrm>
            <a:off x="4389120" y="4297680"/>
            <a:ext cx="73152" cy="73152"/>
          </a:xfrm>
          <a:prstGeom prst="ellipse">
            <a:avLst/>
          </a:prstGeom>
          <a:solidFill>
            <a:srgbClr val="3ABFF8"/>
          </a:solidFill>
          <a:ln w="10160">
            <a:solidFill>
              <a:srgbClr val="3ABFF8"/>
            </a:solidFill>
            <a:prstDash val="solid"/>
          </a:ln>
        </p:spPr>
      </p:sp>
      <p:sp>
        <p:nvSpPr>
          <p:cNvPr id="22" name="Text 20"/>
          <p:cNvSpPr/>
          <p:nvPr/>
        </p:nvSpPr>
        <p:spPr>
          <a:xfrm>
            <a:off x="4562856" y="4224528"/>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Semantic groundedness checks</a:t>
            </a:r>
            <a:endParaRPr lang="en-US" sz="900" dirty="0"/>
          </a:p>
        </p:txBody>
      </p:sp>
      <p:sp>
        <p:nvSpPr>
          <p:cNvPr id="23" name="Shape 21"/>
          <p:cNvSpPr/>
          <p:nvPr/>
        </p:nvSpPr>
        <p:spPr>
          <a:xfrm>
            <a:off x="4389120" y="4681728"/>
            <a:ext cx="73152" cy="73152"/>
          </a:xfrm>
          <a:prstGeom prst="ellipse">
            <a:avLst/>
          </a:prstGeom>
          <a:solidFill>
            <a:srgbClr val="3ABFF8"/>
          </a:solidFill>
          <a:ln w="10160">
            <a:solidFill>
              <a:srgbClr val="3ABFF8"/>
            </a:solidFill>
            <a:prstDash val="solid"/>
          </a:ln>
        </p:spPr>
      </p:sp>
      <p:sp>
        <p:nvSpPr>
          <p:cNvPr id="24" name="Text 22"/>
          <p:cNvSpPr/>
          <p:nvPr/>
        </p:nvSpPr>
        <p:spPr>
          <a:xfrm>
            <a:off x="4562856" y="4608576"/>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Latency / error monitoring</a:t>
            </a:r>
            <a:endParaRPr lang="en-US" sz="900" dirty="0"/>
          </a:p>
        </p:txBody>
      </p:sp>
      <p:sp>
        <p:nvSpPr>
          <p:cNvPr id="25" name="Shape 23"/>
          <p:cNvSpPr/>
          <p:nvPr/>
        </p:nvSpPr>
        <p:spPr>
          <a:xfrm>
            <a:off x="7607808" y="2606040"/>
            <a:ext cx="3063240" cy="2578608"/>
          </a:xfrm>
          <a:prstGeom prst="roundRect">
            <a:avLst>
              <a:gd name="adj" fmla="val 4255"/>
            </a:avLst>
          </a:prstGeom>
          <a:solidFill>
            <a:srgbClr val="14243B"/>
          </a:solidFill>
          <a:ln w="11430">
            <a:solidFill>
              <a:srgbClr val="2B405B"/>
            </a:solidFill>
            <a:prstDash val="solid"/>
          </a:ln>
        </p:spPr>
      </p:sp>
      <p:sp>
        <p:nvSpPr>
          <p:cNvPr id="26" name="Shape 24"/>
          <p:cNvSpPr/>
          <p:nvPr/>
        </p:nvSpPr>
        <p:spPr>
          <a:xfrm>
            <a:off x="7827264" y="2834640"/>
            <a:ext cx="1490472" cy="256032"/>
          </a:xfrm>
          <a:prstGeom prst="roundRect">
            <a:avLst>
              <a:gd name="adj" fmla="val 42857"/>
            </a:avLst>
          </a:prstGeom>
          <a:solidFill>
            <a:srgbClr val="F4B942"/>
          </a:solidFill>
          <a:ln w="3810">
            <a:solidFill>
              <a:srgbClr val="F4B942"/>
            </a:solidFill>
            <a:prstDash val="solid"/>
          </a:ln>
        </p:spPr>
      </p:sp>
      <p:sp>
        <p:nvSpPr>
          <p:cNvPr id="27" name="Text 25"/>
          <p:cNvSpPr/>
          <p:nvPr/>
        </p:nvSpPr>
        <p:spPr>
          <a:xfrm>
            <a:off x="7882128" y="2848356"/>
            <a:ext cx="1380744" cy="219456"/>
          </a:xfrm>
          <a:prstGeom prst="rect">
            <a:avLst/>
          </a:prstGeom>
          <a:noFill/>
          <a:ln/>
        </p:spPr>
        <p:txBody>
          <a:bodyPr wrap="square" lIns="0" tIns="0" rIns="0" bIns="0" rtlCol="0" anchor="ctr">
            <a:normAutofit/>
          </a:bodyPr>
          <a:lstStyle/>
          <a:p>
            <a:pPr algn="ctr" indent="0" marL="0">
              <a:buNone/>
            </a:pPr>
            <a:r>
              <a:rPr lang="en-US" sz="850" b="1" spc="35" kern="0" dirty="0">
                <a:solidFill>
                  <a:srgbClr val="0B1220"/>
                </a:solidFill>
                <a:latin typeface="Aptos" pitchFamily="34" charset="0"/>
                <a:ea typeface="Aptos" pitchFamily="34" charset="-122"/>
                <a:cs typeface="Aptos" pitchFamily="34" charset="-120"/>
              </a:rPr>
              <a:t>PRODUCTION GATE</a:t>
            </a:r>
            <a:endParaRPr lang="en-US" sz="850" dirty="0"/>
          </a:p>
        </p:txBody>
      </p:sp>
      <p:sp>
        <p:nvSpPr>
          <p:cNvPr id="28" name="Text 26"/>
          <p:cNvSpPr/>
          <p:nvPr/>
        </p:nvSpPr>
        <p:spPr>
          <a:xfrm>
            <a:off x="7827264" y="3310128"/>
            <a:ext cx="2651760" cy="320040"/>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Display" pitchFamily="34" charset="0"/>
                <a:ea typeface="Aptos Display" pitchFamily="34" charset="-122"/>
                <a:cs typeface="Aptos Display" pitchFamily="34" charset="-120"/>
              </a:rPr>
              <a:t>Scale with controls</a:t>
            </a:r>
            <a:endParaRPr lang="en-US" sz="1600" dirty="0"/>
          </a:p>
        </p:txBody>
      </p:sp>
      <p:sp>
        <p:nvSpPr>
          <p:cNvPr id="29" name="Shape 27"/>
          <p:cNvSpPr/>
          <p:nvPr/>
        </p:nvSpPr>
        <p:spPr>
          <a:xfrm>
            <a:off x="7863840" y="3913632"/>
            <a:ext cx="73152" cy="73152"/>
          </a:xfrm>
          <a:prstGeom prst="ellipse">
            <a:avLst/>
          </a:prstGeom>
          <a:solidFill>
            <a:srgbClr val="F4B942"/>
          </a:solidFill>
          <a:ln w="10160">
            <a:solidFill>
              <a:srgbClr val="F4B942"/>
            </a:solidFill>
            <a:prstDash val="solid"/>
          </a:ln>
        </p:spPr>
      </p:sp>
      <p:sp>
        <p:nvSpPr>
          <p:cNvPr id="30" name="Text 28"/>
          <p:cNvSpPr/>
          <p:nvPr/>
        </p:nvSpPr>
        <p:spPr>
          <a:xfrm>
            <a:off x="8037576" y="3840480"/>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SSO / RBAC + document ACLs</a:t>
            </a:r>
            <a:endParaRPr lang="en-US" sz="900" dirty="0"/>
          </a:p>
        </p:txBody>
      </p:sp>
      <p:sp>
        <p:nvSpPr>
          <p:cNvPr id="31" name="Shape 29"/>
          <p:cNvSpPr/>
          <p:nvPr/>
        </p:nvSpPr>
        <p:spPr>
          <a:xfrm>
            <a:off x="7863840" y="4297680"/>
            <a:ext cx="73152" cy="73152"/>
          </a:xfrm>
          <a:prstGeom prst="ellipse">
            <a:avLst/>
          </a:prstGeom>
          <a:solidFill>
            <a:srgbClr val="F4B942"/>
          </a:solidFill>
          <a:ln w="10160">
            <a:solidFill>
              <a:srgbClr val="F4B942"/>
            </a:solidFill>
            <a:prstDash val="solid"/>
          </a:ln>
        </p:spPr>
      </p:sp>
      <p:sp>
        <p:nvSpPr>
          <p:cNvPr id="32" name="Text 30"/>
          <p:cNvSpPr/>
          <p:nvPr/>
        </p:nvSpPr>
        <p:spPr>
          <a:xfrm>
            <a:off x="8037576" y="4224528"/>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Approved hosting, secrets, retention</a:t>
            </a:r>
            <a:endParaRPr lang="en-US" sz="900" dirty="0"/>
          </a:p>
        </p:txBody>
      </p:sp>
      <p:sp>
        <p:nvSpPr>
          <p:cNvPr id="33" name="Shape 31"/>
          <p:cNvSpPr/>
          <p:nvPr/>
        </p:nvSpPr>
        <p:spPr>
          <a:xfrm>
            <a:off x="7863840" y="4681728"/>
            <a:ext cx="73152" cy="73152"/>
          </a:xfrm>
          <a:prstGeom prst="ellipse">
            <a:avLst/>
          </a:prstGeom>
          <a:solidFill>
            <a:srgbClr val="F4B942"/>
          </a:solidFill>
          <a:ln w="10160">
            <a:solidFill>
              <a:srgbClr val="F4B942"/>
            </a:solidFill>
            <a:prstDash val="solid"/>
          </a:ln>
        </p:spPr>
      </p:sp>
      <p:sp>
        <p:nvSpPr>
          <p:cNvPr id="34" name="Text 32"/>
          <p:cNvSpPr/>
          <p:nvPr/>
        </p:nvSpPr>
        <p:spPr>
          <a:xfrm>
            <a:off x="8037576" y="4608576"/>
            <a:ext cx="2432304" cy="329184"/>
          </a:xfrm>
          <a:prstGeom prst="rect">
            <a:avLst/>
          </a:prstGeom>
          <a:noFill/>
          <a:ln/>
        </p:spPr>
        <p:txBody>
          <a:bodyPr wrap="square" lIns="0" tIns="0" rIns="0" bIns="0" rtlCol="0" anchor="t">
            <a:normAutofit/>
          </a:bodyPr>
          <a:lstStyle/>
          <a:p>
            <a:pPr algn="l" indent="0" marL="0">
              <a:buNone/>
            </a:pPr>
            <a:r>
              <a:rPr lang="en-US" sz="900" dirty="0">
                <a:solidFill>
                  <a:srgbClr val="D2DDEB"/>
                </a:solidFill>
                <a:latin typeface="Aptos" pitchFamily="34" charset="0"/>
                <a:ea typeface="Aptos" pitchFamily="34" charset="-122"/>
                <a:cs typeface="Aptos" pitchFamily="34" charset="-120"/>
              </a:rPr>
              <a:t>Security sign-off + rollback plan</a:t>
            </a:r>
            <a:endParaRPr lang="en-US" sz="900" dirty="0"/>
          </a:p>
        </p:txBody>
      </p:sp>
      <p:sp>
        <p:nvSpPr>
          <p:cNvPr id="35" name="Shape 33"/>
          <p:cNvSpPr/>
          <p:nvPr/>
        </p:nvSpPr>
        <p:spPr>
          <a:xfrm>
            <a:off x="3749040" y="3886200"/>
            <a:ext cx="301752" cy="0"/>
          </a:xfrm>
          <a:prstGeom prst="line">
            <a:avLst/>
          </a:prstGeom>
          <a:noFill/>
          <a:ln w="19050">
            <a:solidFill>
              <a:srgbClr val="516984"/>
            </a:solidFill>
            <a:prstDash val="solid"/>
            <a:tailEnd type="triangle"/>
          </a:ln>
        </p:spPr>
      </p:sp>
      <p:sp>
        <p:nvSpPr>
          <p:cNvPr id="36" name="Shape 34"/>
          <p:cNvSpPr/>
          <p:nvPr/>
        </p:nvSpPr>
        <p:spPr>
          <a:xfrm>
            <a:off x="7223760" y="3886200"/>
            <a:ext cx="301752" cy="0"/>
          </a:xfrm>
          <a:prstGeom prst="line">
            <a:avLst/>
          </a:prstGeom>
          <a:noFill/>
          <a:ln w="19050">
            <a:solidFill>
              <a:srgbClr val="516984"/>
            </a:solidFill>
            <a:prstDash val="solid"/>
            <a:tailEnd type="triangle"/>
          </a:ln>
        </p:spPr>
      </p:sp>
      <p:sp>
        <p:nvSpPr>
          <p:cNvPr id="37" name="Shape 35"/>
          <p:cNvSpPr/>
          <p:nvPr/>
        </p:nvSpPr>
        <p:spPr>
          <a:xfrm>
            <a:off x="658368" y="5559552"/>
            <a:ext cx="10844784" cy="0"/>
          </a:xfrm>
          <a:prstGeom prst="line">
            <a:avLst/>
          </a:prstGeom>
          <a:noFill/>
          <a:ln w="11430">
            <a:solidFill>
              <a:srgbClr val="263B54"/>
            </a:solidFill>
            <a:prstDash val="solid"/>
          </a:ln>
        </p:spPr>
      </p:sp>
      <p:sp>
        <p:nvSpPr>
          <p:cNvPr id="38" name="Text 36"/>
          <p:cNvSpPr/>
          <p:nvPr/>
        </p:nvSpPr>
        <p:spPr>
          <a:xfrm>
            <a:off x="667512" y="5797296"/>
            <a:ext cx="1234440" cy="182880"/>
          </a:xfrm>
          <a:prstGeom prst="rect">
            <a:avLst/>
          </a:prstGeom>
          <a:noFill/>
          <a:ln/>
        </p:spPr>
        <p:txBody>
          <a:bodyPr wrap="square" lIns="0" tIns="0" rIns="0" bIns="0" rtlCol="0" anchor="ctr">
            <a:normAutofit/>
          </a:bodyPr>
          <a:lstStyle/>
          <a:p>
            <a:pPr algn="l" indent="0" marL="0">
              <a:buNone/>
            </a:pPr>
            <a:r>
              <a:rPr lang="en-US" sz="900" b="1" spc="110" kern="0" dirty="0">
                <a:solidFill>
                  <a:srgbClr val="3ABFF8"/>
                </a:solidFill>
                <a:latin typeface="Aptos" pitchFamily="34" charset="0"/>
                <a:ea typeface="Aptos" pitchFamily="34" charset="-122"/>
                <a:cs typeface="Aptos" pitchFamily="34" charset="-120"/>
              </a:rPr>
              <a:t>KEY TAKEAWAY</a:t>
            </a:r>
            <a:endParaRPr lang="en-US" sz="900" dirty="0"/>
          </a:p>
        </p:txBody>
      </p:sp>
      <p:sp>
        <p:nvSpPr>
          <p:cNvPr id="39" name="Text 37"/>
          <p:cNvSpPr/>
          <p:nvPr/>
        </p:nvSpPr>
        <p:spPr>
          <a:xfrm>
            <a:off x="2084832" y="5724144"/>
            <a:ext cx="9052560" cy="347472"/>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Useful enterprise answers need retrieval, evidence, validation, review—and enforceable access control.</a:t>
            </a:r>
            <a:endParaRPr lang="en-US" sz="1300" dirty="0"/>
          </a:p>
        </p:txBody>
      </p:sp>
      <p:sp>
        <p:nvSpPr>
          <p:cNvPr id="40" name="Shape 38"/>
          <p:cNvSpPr/>
          <p:nvPr/>
        </p:nvSpPr>
        <p:spPr>
          <a:xfrm>
            <a:off x="502920" y="6492240"/>
            <a:ext cx="11183112" cy="0"/>
          </a:xfrm>
          <a:prstGeom prst="line">
            <a:avLst/>
          </a:prstGeom>
          <a:noFill/>
          <a:ln w="8890">
            <a:solidFill>
              <a:srgbClr val="26354C"/>
            </a:solidFill>
            <a:prstDash val="solid"/>
          </a:ln>
        </p:spPr>
      </p:sp>
      <p:sp>
        <p:nvSpPr>
          <p:cNvPr id="41" name="Text 39"/>
          <p:cNvSpPr/>
          <p:nvPr/>
        </p:nvSpPr>
        <p:spPr>
          <a:xfrm>
            <a:off x="548640" y="6556248"/>
            <a:ext cx="4754880" cy="137160"/>
          </a:xfrm>
          <a:prstGeom prst="rect">
            <a:avLst/>
          </a:prstGeom>
          <a:noFill/>
          <a:ln/>
        </p:spPr>
        <p:txBody>
          <a:bodyPr wrap="square" lIns="0" tIns="0" rIns="0" bIns="0" rtlCol="0" anchor="ctr">
            <a:normAutofit/>
          </a:bodyPr>
          <a:lstStyle/>
          <a:p>
            <a:pPr algn="l" indent="0" marL="0">
              <a:buNone/>
            </a:pPr>
            <a:r>
              <a:rPr lang="en-US" sz="750" spc="100" kern="0" dirty="0">
                <a:solidFill>
                  <a:srgbClr val="9AAAC0"/>
                </a:solidFill>
                <a:latin typeface="Aptos" pitchFamily="34" charset="0"/>
                <a:ea typeface="Aptos" pitchFamily="34" charset="-122"/>
                <a:cs typeface="Aptos" pitchFamily="34" charset="-120"/>
              </a:rPr>
              <a:t>ENTERPRISE KNOWLEDGE RESEARCH AGENT</a:t>
            </a:r>
            <a:endParaRPr lang="en-US" sz="750" dirty="0"/>
          </a:p>
        </p:txBody>
      </p:sp>
      <p:sp>
        <p:nvSpPr>
          <p:cNvPr id="42" name="Text 40"/>
          <p:cNvSpPr/>
          <p:nvPr/>
        </p:nvSpPr>
        <p:spPr>
          <a:xfrm>
            <a:off x="11064240" y="6547104"/>
            <a:ext cx="548640" cy="146304"/>
          </a:xfrm>
          <a:prstGeom prst="rect">
            <a:avLst/>
          </a:prstGeom>
          <a:noFill/>
          <a:ln/>
        </p:spPr>
        <p:txBody>
          <a:bodyPr wrap="square" lIns="0" tIns="0" rIns="0" bIns="0" rtlCol="0" anchor="ctr">
            <a:normAutofit/>
          </a:bodyPr>
          <a:lstStyle/>
          <a:p>
            <a:pPr algn="r" indent="0" marL="0">
              <a:buNone/>
            </a:pPr>
            <a:r>
              <a:rPr lang="en-US" sz="800" dirty="0">
                <a:solidFill>
                  <a:srgbClr val="9AAAC0"/>
                </a:solidFill>
                <a:latin typeface="Aptos" pitchFamily="34" charset="0"/>
                <a:ea typeface="Aptos" pitchFamily="34" charset="-122"/>
                <a:cs typeface="Aptos" pitchFamily="34" charset="-120"/>
              </a:rPr>
              <a:t>12 /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Solution Blueprint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Knowledge Research Agent | Solution Overview</dc:title>
  <dc:subject>Enterprise Knowledge Research Agent use-case solution</dc:subject>
  <dc:creator>OpenAI</dc:creator>
  <cp:lastModifiedBy>OpenAI</cp:lastModifiedBy>
  <cp:revision>1</cp:revision>
  <dcterms:created xsi:type="dcterms:W3CDTF">2026-10-19T14:28:28Z</dcterms:created>
  <dcterms:modified xsi:type="dcterms:W3CDTF">2026-10-19T14:28:28Z</dcterms:modified>
</cp:coreProperties>
</file>